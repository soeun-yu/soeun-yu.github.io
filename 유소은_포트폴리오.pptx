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5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6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7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담당 산출물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&quot;개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E9EBF2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Spring REST API</c:v>
                  </c:pt>
                  <c:pt idx="1">
                    <c:v>React 화면</c:v>
                  </c:pt>
                  <c:pt idx="2">
                    <c:v>공통 팝업·차트</c:v>
                  </c:pt>
                  <c:pt idx="3">
                    <c:v>데이터 훅</c:v>
                  </c:pt>
                  <c:pt idx="4">
                    <c:v>FastAPI ML 모델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9</c:v>
                </c:pt>
                <c:pt idx="2">
                  <c:v>6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</c:ser>
        <c:dLbls>
          <c:numFmt formatCode="0&quot;개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E9EBF2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B8C8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51E"/>
        </a:solidFill>
        <a:ln>
          <a:noFill/>
        </a:ln>
        <a:effectLst/>
      </c:spPr>
    </c:plotArea>
    <c:plotVisOnly val="1"/>
    <c:dispBlanksAs val="span"/>
  </c:chart>
  <c:spPr>
    <a:solidFill>
      <a:srgbClr val="13151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구축한 벡터 인덱스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&quot;건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E9EBF2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작품 벡터 (WikiArt)</c:v>
                  </c:pt>
                  <c:pt idx="1">
                    <c:v>RAG 문서 (MMCA·SeMA)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42500</c:v>
                </c:pt>
                <c:pt idx="1">
                  <c:v>6299</c:v>
                </c:pt>
              </c:numCache>
            </c:numRef>
          </c:val>
        </c:ser>
        <c:dLbls>
          <c:numFmt formatCode="#,##0&quot;건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E9EBF2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B8C8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51E"/>
        </a:solidFill>
        <a:ln>
          <a:noFill/>
        </a:ln>
        <a:effectLst/>
      </c:spPr>
    </c:plotArea>
    <c:plotVisOnly val="1"/>
    <c:dispBlanksAs val="span"/>
  </c:chart>
  <c:spPr>
    <a:solidFill>
      <a:srgbClr val="13151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모델별 Validation Accuracy</c:v>
                </c:pt>
              </c:strCache>
            </c:strRef>
          </c:tx>
          <c:spPr>
            <a:solidFill>
              <a:srgbClr val="5147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E9EBF2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Custom CNN</c:v>
                  </c:pt>
                  <c:pt idx="1">
                    <c:v>EfficientNetB0</c:v>
                  </c:pt>
                  <c:pt idx="2">
                    <c:v>ResNet50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</c:v>
                </c:pt>
                <c:pt idx="1">
                  <c:v>83.5</c:v>
                </c:pt>
                <c:pt idx="2">
                  <c:v>84.5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E9EBF2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B8C8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51E"/>
        </a:solidFill>
        <a:ln>
          <a:noFill/>
        </a:ln>
        <a:effectLst/>
      </c:spPr>
    </c:plotArea>
    <c:plotVisOnly val="1"/>
    <c:dispBlanksAs val="span"/>
  </c:chart>
  <c:spPr>
    <a:solidFill>
      <a:srgbClr val="13151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5-fold 교차검증 Accuracy</c:v>
                </c:pt>
              </c:strCache>
            </c:strRef>
          </c:tx>
          <c:spPr>
            <a:solidFill>
              <a:srgbClr val="5147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E9EBF2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</c:v>
                </c:pt>
                <c:pt idx="1">
                  <c:v>83.5</c:v>
                </c:pt>
                <c:pt idx="2">
                  <c:v>87.5</c:v>
                </c:pt>
                <c:pt idx="3">
                  <c:v>85</c:v>
                </c:pt>
                <c:pt idx="4">
                  <c:v>85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E9EBF2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B8C8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51E"/>
        </a:solidFill>
        <a:ln>
          <a:noFill/>
        </a:ln>
        <a:effectLst/>
      </c:spPr>
    </c:plotArea>
    <c:plotVisOnly val="1"/>
    <c:dispBlanksAs val="span"/>
  </c:chart>
  <c:spPr>
    <a:solidFill>
      <a:srgbClr val="13151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모델별 R² (높을수록 좋음)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E9EBF2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다중선형회귀</c:v>
                  </c:pt>
                  <c:pt idx="1">
                    <c:v>랜덤포레스트</c:v>
                  </c:pt>
                  <c:pt idx="2">
                    <c:v>Elastic Net</c:v>
                  </c:pt>
                  <c:pt idx="3">
                    <c:v>XGBoost</c:v>
                  </c:pt>
                  <c:pt idx="4">
                    <c:v>결정트리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0.801</c:v>
                </c:pt>
                <c:pt idx="1">
                  <c:v>0.794</c:v>
                </c:pt>
                <c:pt idx="2">
                  <c:v>0.79</c:v>
                </c:pt>
                <c:pt idx="3">
                  <c:v>0.762</c:v>
                </c:pt>
                <c:pt idx="4">
                  <c:v>0.59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050" u="none">
                  <a:solidFill>
                    <a:srgbClr val="E9EBF2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B8C8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51E"/>
        </a:solidFill>
        <a:ln>
          <a:noFill/>
        </a:ln>
        <a:effectLst/>
      </c:spPr>
    </c:plotArea>
    <c:plotVisOnly val="1"/>
    <c:dispBlanksAs val="span"/>
  </c:chart>
  <c:spPr>
    <a:solidFill>
      <a:srgbClr val="13151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모델별 RMSE (낮을수록 좋음)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E9EBF2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1477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다중선형회귀</c:v>
                  </c:pt>
                  <c:pt idx="1">
                    <c:v>랜덤포레스트</c:v>
                  </c:pt>
                  <c:pt idx="2">
                    <c:v>Elastic Net</c:v>
                  </c:pt>
                  <c:pt idx="3">
                    <c:v>XGBoost</c:v>
                  </c:pt>
                  <c:pt idx="4">
                    <c:v>결정트리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0.961</c:v>
                </c:pt>
                <c:pt idx="1">
                  <c:v>0.979</c:v>
                </c:pt>
                <c:pt idx="2">
                  <c:v>0.986</c:v>
                </c:pt>
                <c:pt idx="3">
                  <c:v>1.051</c:v>
                </c:pt>
                <c:pt idx="4">
                  <c:v>1.379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050" u="none">
                  <a:solidFill>
                    <a:srgbClr val="E9EBF2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B8C8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51E"/>
        </a:solidFill>
        <a:ln>
          <a:noFill/>
        </a:ln>
        <a:effectLst/>
      </c:spPr>
    </c:plotArea>
    <c:plotVisOnly val="1"/>
    <c:dispBlanksAs val="span"/>
  </c:chart>
  <c:spPr>
    <a:solidFill>
      <a:srgbClr val="13151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담당 코드 — 최종 코드에 남은 줄 수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&quot;줄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E9EBF2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React (JS)</c:v>
                  </c:pt>
                  <c:pt idx="1">
                    <c:v>CSS</c:v>
                  </c:pt>
                  <c:pt idx="2">
                    <c:v>Java</c:v>
                  </c:pt>
                  <c:pt idx="3">
                    <c:v>테스트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2880</c:v>
                </c:pt>
                <c:pt idx="1">
                  <c:v>2230</c:v>
                </c:pt>
                <c:pt idx="2">
                  <c:v>1838</c:v>
                </c:pt>
                <c:pt idx="3">
                  <c:v>222</c:v>
                </c:pt>
              </c:numCache>
            </c:numRef>
          </c:val>
        </c:ser>
        <c:dLbls>
          <c:numFmt formatCode="#,##0&quot;줄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E9EBF2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3B8C8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51E"/>
        </a:solidFill>
        <a:ln>
          <a:noFill/>
        </a:ln>
        <a:effectLst/>
      </c:spPr>
    </c:plotArea>
    <c:plotVisOnly val="1"/>
    <c:dispBlanksAs val="span"/>
  </c:chart>
  <c:spPr>
    <a:solidFill>
      <a:srgbClr val="1315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eun-yu" TargetMode="External"/><Relationship Id="rId1" Type="http://schemas.openxmlformats.org/officeDocument/2006/relationships/image" Target="../media/Slide-1-image-1.png"/><Relationship Id="rId3" Type="http://schemas.openxmlformats.org/officeDocument/2006/relationships/image" Target="../media/image-1-2.png"/><Relationship Id="rId4" Type="http://schemas.openxmlformats.org/officeDocument/2006/relationships/image" Target="../media/image-1-3.jpe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hyperlink" Target="https://github.com/rhantj/work-flow" TargetMode="External"/><Relationship Id="rId8" Type="http://schemas.openxmlformats.org/officeDocument/2006/relationships/hyperlink" Target="https://youtu.be/D5jy2qbKh7g" TargetMode="External"/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7" Type="http://schemas.openxmlformats.org/officeDocument/2006/relationships/image" Target="../media/image-9-6.png"/><Relationship Id="rId9" Type="http://schemas.openxmlformats.org/officeDocument/2006/relationships/image" Target="../media/image-9-7.jpeg"/><Relationship Id="rId10" Type="http://schemas.openxmlformats.org/officeDocument/2006/relationships/image" Target="../media/image-9-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chart" Target="/ppt/charts/chart1.xml"/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jpeg"/><Relationship Id="rId4" Type="http://schemas.openxmlformats.org/officeDocument/2006/relationships/image" Target="../media/image-12-4.png"/><Relationship Id="rId5" Type="http://schemas.openxmlformats.org/officeDocument/2006/relationships/image" Target="../media/image-12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jpeg"/><Relationship Id="rId6" Type="http://schemas.openxmlformats.org/officeDocument/2006/relationships/image" Target="../media/image-21-6.jpe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6" Type="http://schemas.openxmlformats.org/officeDocument/2006/relationships/chart" Target="/ppt/charts/chart2.xml"/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image" Target="../media/image-22-15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1" Type="http://schemas.openxmlformats.org/officeDocument/2006/relationships/image" Target="../media/Slide-25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5.xml"/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6" Type="http://schemas.openxmlformats.org/officeDocument/2006/relationships/image" Target="../media/image-28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.xml"/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jpeg"/><Relationship Id="rId4" Type="http://schemas.openxmlformats.org/officeDocument/2006/relationships/image" Target="../media/image-30-4.jpeg"/><Relationship Id="rId5" Type="http://schemas.openxmlformats.org/officeDocument/2006/relationships/image" Target="../media/image-30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hyperlink" Target="https://github.com/alphaengneering02-dev/3H_Furniture" TargetMode="External"/><Relationship Id="rId8" Type="http://schemas.openxmlformats.org/officeDocument/2006/relationships/hyperlink" Target="https://cheerful-gecko-a85d13.netlify.app" TargetMode="External"/><Relationship Id="rId1" Type="http://schemas.openxmlformats.org/officeDocument/2006/relationships/image" Target="../media/Slide-31-image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7" Type="http://schemas.openxmlformats.org/officeDocument/2006/relationships/image" Target="../media/image-31-6.png"/><Relationship Id="rId9" Type="http://schemas.openxmlformats.org/officeDocument/2006/relationships/image" Target="../media/image-31-7.jpeg"/><Relationship Id="rId10" Type="http://schemas.openxmlformats.org/officeDocument/2006/relationships/image" Target="../media/image-31-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chart" Target="/ppt/charts/chart7.xml"/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jpeg"/><Relationship Id="rId4" Type="http://schemas.openxmlformats.org/officeDocument/2006/relationships/image" Target="../media/image-35-4.jpeg"/><Relationship Id="rId5" Type="http://schemas.openxmlformats.org/officeDocument/2006/relationships/image" Target="../media/image-35-5.jpeg"/><Relationship Id="rId6" Type="http://schemas.openxmlformats.org/officeDocument/2006/relationships/image" Target="../media/image-35-6.jpeg"/><Relationship Id="rId7" Type="http://schemas.openxmlformats.org/officeDocument/2006/relationships/image" Target="../media/image-3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hyperlink" Target="https://github.com/Polalise/Advanced_project" TargetMode="External"/><Relationship Id="rId1" Type="http://schemas.openxmlformats.org/officeDocument/2006/relationships/image" Target="../media/Slide-38-image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7" Type="http://schemas.openxmlformats.org/officeDocument/2006/relationships/image" Target="../media/image-38-6.jpeg"/><Relationship Id="rId8" Type="http://schemas.openxmlformats.org/officeDocument/2006/relationships/image" Target="../media/image-38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jpeg"/><Relationship Id="rId6" Type="http://schemas.openxmlformats.org/officeDocument/2006/relationships/image" Target="../media/image-4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image" Target="../media/image-4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image" Target="../media/image-42-2.jpeg"/><Relationship Id="rId3" Type="http://schemas.openxmlformats.org/officeDocument/2006/relationships/image" Target="../media/image-42-3.jpeg"/><Relationship Id="rId4" Type="http://schemas.openxmlformats.org/officeDocument/2006/relationships/image" Target="../media/image-42-4.jpeg"/><Relationship Id="rId5" Type="http://schemas.openxmlformats.org/officeDocument/2006/relationships/image" Target="../media/image-42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jpeg"/><Relationship Id="rId4" Type="http://schemas.openxmlformats.org/officeDocument/2006/relationships/image" Target="../media/image-4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hyperlink" Target="https://plainaube.dothome.co.kr/hollys/index.html" TargetMode="External"/><Relationship Id="rId8" Type="http://schemas.openxmlformats.org/officeDocument/2006/relationships/hyperlink" Target="https://soeun-yu.github.io/assets/webdesign/HTML%20%EA%B8%B0%EB%B0%98_%ED%95%A0%EB%A6%AC%EC%8A%A4%EC%BB%A4%ED%94%BC%20%ED%99%88%ED%8E%98%EC%9D%B4%EC%A7%80%20%EB%A6%AC%EB%89%B4%EC%96%BC.pdf" TargetMode="External"/><Relationship Id="rId1" Type="http://schemas.openxmlformats.org/officeDocument/2006/relationships/image" Target="../media/Slide-44-image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7" Type="http://schemas.openxmlformats.org/officeDocument/2006/relationships/image" Target="../media/image-44-6.png"/><Relationship Id="rId9" Type="http://schemas.openxmlformats.org/officeDocument/2006/relationships/image" Target="../media/image-44-7.jpeg"/><Relationship Id="rId10" Type="http://schemas.openxmlformats.org/officeDocument/2006/relationships/image" Target="../media/image-44-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image" Target="../media/image-46-2.jpeg"/><Relationship Id="rId3" Type="http://schemas.openxmlformats.org/officeDocument/2006/relationships/image" Target="../media/image-46-3.jpeg"/><Relationship Id="rId4" Type="http://schemas.openxmlformats.org/officeDocument/2006/relationships/image" Target="../media/image-4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hyperlink" Target="https://plainaube.dothome.co.kr/ohouse/index.html" TargetMode="External"/><Relationship Id="rId8" Type="http://schemas.openxmlformats.org/officeDocument/2006/relationships/hyperlink" Target="https://soeun-yu.github.io/assets/webdesign/HTML%20%EA%B8%B0%EB%B0%98_%EC%98%A4%EB%8A%98%EC%9D%98%EC%A7%91%20%ED%99%88%ED%8E%98%EC%9D%B4%EC%A7%80%20%EB%A6%AC%EB%89%B4%EC%96%BC.pdf" TargetMode="External"/><Relationship Id="rId1" Type="http://schemas.openxmlformats.org/officeDocument/2006/relationships/image" Target="../media/Slide-47-image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7" Type="http://schemas.openxmlformats.org/officeDocument/2006/relationships/image" Target="../media/image-47-6.png"/><Relationship Id="rId9" Type="http://schemas.openxmlformats.org/officeDocument/2006/relationships/image" Target="../media/image-47-7.jpeg"/><Relationship Id="rId10" Type="http://schemas.openxmlformats.org/officeDocument/2006/relationships/image" Target="../media/image-47-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jpeg"/><Relationship Id="rId6" Type="http://schemas.openxmlformats.org/officeDocument/2006/relationships/image" Target="../media/image-48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eun-yu" TargetMode="External"/><Relationship Id="rId1" Type="http://schemas.openxmlformats.org/officeDocument/2006/relationships/image" Target="../media/Slide-50-image-1.png"/><Relationship Id="rId2" Type="http://schemas.openxmlformats.org/officeDocument/2006/relationships/image" Target="../media/image-5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77240"/>
            <a:ext cx="2921889" cy="329184"/>
          </a:xfrm>
          <a:prstGeom prst="roundRect">
            <a:avLst>
              <a:gd name="adj" fmla="val 5000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" y="900684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77824" y="777240"/>
            <a:ext cx="25561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휴먼AI교육센터 · 2025.06 ~ 2026.08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52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</a:t>
            </a:r>
            <a:pPr indent="0" marL="0">
              <a:lnSpc>
                <a:spcPct val="112000"/>
              </a:lnSpc>
              <a:buNone/>
            </a:pPr>
            <a:r>
              <a:rPr lang="ko-KR" altLang="en-US" sz="52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Portfolio</a:t>
            </a:r>
            <a:endParaRPr lang="ko-KR" alt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풀스택 개발자 · AI 활용</a:t>
            </a:r>
            <a:endParaRPr lang="ko-KR" alt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24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Spring Boot로 서비스를 만들고,</a:t>
            </a:r>
            <a:endParaRPr lang="ko-KR" alt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ko-KR" altLang="en-US" sz="24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기능에 ML 모델을 붙입니다</a:t>
            </a:r>
            <a:endParaRPr lang="ko-KR" alt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서비스 개발 심화 과정</a:t>
            </a:r>
            <a:endParaRPr lang="ko-KR" alt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43434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2026.06 ~ 2026.08</a:t>
            </a:r>
            <a:endParaRPr lang="ko-KR" alt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837176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74573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기반 풀스택 웹 개발자 과정</a:t>
            </a:r>
            <a:endParaRPr lang="ko-KR" alt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474573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2025.12 ~ 2026.06</a:t>
            </a:r>
            <a:endParaRPr lang="ko-KR" alt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239512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14807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디자이너 과정</a:t>
            </a:r>
            <a:endParaRPr lang="ko-KR" alt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514807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2025.06 ~ 2025.08</a:t>
            </a:r>
            <a:endParaRPr lang="ko-KR" alt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806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u="sng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github.com/soeun-yu</a:t>
            </a:r>
            <a:endParaRPr lang="ko-KR" alt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856732"/>
            <a:ext cx="173736" cy="173736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629400" y="1463040"/>
            <a:ext cx="5010912" cy="3108960"/>
          </a:xfrm>
          <a:prstGeom prst="roundRect">
            <a:avLst>
              <a:gd name="adj" fmla="val 2941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75704" y="15590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1" name="Shape 18"/>
          <p:cNvSpPr/>
          <p:nvPr/>
        </p:nvSpPr>
        <p:spPr>
          <a:xfrm>
            <a:off x="6922008" y="15590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Shape 19"/>
          <p:cNvSpPr/>
          <p:nvPr/>
        </p:nvSpPr>
        <p:spPr>
          <a:xfrm>
            <a:off x="7068312" y="15590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3" name="Shape 20"/>
          <p:cNvSpPr/>
          <p:nvPr/>
        </p:nvSpPr>
        <p:spPr>
          <a:xfrm>
            <a:off x="7269480" y="1522476"/>
            <a:ext cx="1454912" cy="155448"/>
          </a:xfrm>
          <a:prstGeom prst="roundRect">
            <a:avLst>
              <a:gd name="adj" fmla="val 29412"/>
            </a:avLst>
          </a:prstGeom>
          <a:solidFill>
            <a:srgbClr val="0A0B10"/>
          </a:solidFill>
          <a:ln w="9525">
            <a:solidFill>
              <a:srgbClr val="1C1F2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69480" y="1522476"/>
            <a:ext cx="1454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0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workflow-ai · /dashboard</a:t>
            </a:r>
            <a:endParaRPr lang="ko-KR" altLang="en-US" sz="8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04" y="1737360"/>
            <a:ext cx="4946904" cy="2802636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0012680" y="1097280"/>
            <a:ext cx="1377061" cy="420624"/>
          </a:xfrm>
          <a:prstGeom prst="roundRect">
            <a:avLst>
              <a:gd name="adj" fmla="val 2608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0696" y="1216152"/>
            <a:ext cx="182880" cy="18288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396728" y="1097280"/>
            <a:ext cx="95643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화면  </a:t>
            </a:r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ko-KR" alt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263640" y="3931920"/>
            <a:ext cx="2049018" cy="420624"/>
          </a:xfrm>
          <a:prstGeom prst="roundRect">
            <a:avLst>
              <a:gd name="adj" fmla="val 2608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4050792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647688" y="3931920"/>
            <a:ext cx="16283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 </a:t>
            </a:r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21</a:t>
            </a:r>
            <a:endParaRPr lang="ko-KR" alt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829800" y="4370832"/>
            <a:ext cx="1555877" cy="420624"/>
          </a:xfrm>
          <a:prstGeom prst="roundRect">
            <a:avLst>
              <a:gd name="adj" fmla="val 2608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816" y="4489704"/>
            <a:ext cx="182880" cy="18288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213848" y="4370832"/>
            <a:ext cx="113525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 </a:t>
            </a:r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ko-KR" alt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ko-KR" alt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00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</a:t>
            </a:r>
            <a:endParaRPr lang="ko-KR" alt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03704"/>
            <a:ext cx="4206240" cy="0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402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ko-KR" alt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402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주로 맡은 역할</a:t>
            </a:r>
            <a:endParaRPr lang="ko-KR" alt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43784"/>
            <a:ext cx="4206240" cy="0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803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ko-KR" alt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803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진행 순서</a:t>
            </a:r>
            <a:endParaRPr lang="ko-KR" alt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4206240" cy="0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204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ko-KR" alt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0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ko-KR" alt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ko-KR" alt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3434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방식</a:t>
            </a:r>
            <a:endParaRPr lang="ko-KR" alt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4960" y="1600200"/>
            <a:ext cx="6248095" cy="1417320"/>
          </a:xfrm>
          <a:prstGeom prst="roundRect">
            <a:avLst>
              <a:gd name="adj" fmla="val 1032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18379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ko-KR" alt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355080" y="1929384"/>
            <a:ext cx="637794" cy="246888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929384"/>
            <a:ext cx="63779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ko-KR" alt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1837944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서비스 개발 심화 과정</a:t>
            </a:r>
            <a:endParaRPr lang="ko-KR" alt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5080" y="2441448"/>
            <a:ext cx="997204" cy="274320"/>
          </a:xfrm>
          <a:prstGeom prst="roundRect">
            <a:avLst>
              <a:gd name="adj" fmla="val 50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2441448"/>
            <a:ext cx="997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25436" y="2441448"/>
            <a:ext cx="715264" cy="274320"/>
          </a:xfrm>
          <a:prstGeom prst="roundRect">
            <a:avLst>
              <a:gd name="adj" fmla="val 50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25436" y="2441448"/>
            <a:ext cx="71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Curatio</a:t>
            </a:r>
            <a:endParaRPr lang="ko-KR" alt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13852" y="2441448"/>
            <a:ext cx="1111504" cy="274320"/>
          </a:xfrm>
          <a:prstGeom prst="roundRect">
            <a:avLst>
              <a:gd name="adj" fmla="val 50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13852" y="2441448"/>
            <a:ext cx="111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artClassifier</a:t>
            </a:r>
            <a:endParaRPr lang="ko-KR" alt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398508" y="2441448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98508" y="2441448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게이머 고립도 예측</a:t>
            </a:r>
            <a:endParaRPr lang="ko-KR" alt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3200400"/>
            <a:ext cx="6248095" cy="1417320"/>
          </a:xfrm>
          <a:prstGeom prst="roundRect">
            <a:avLst>
              <a:gd name="adj" fmla="val 1032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0" y="34381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ko-KR" alt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355080" y="3529584"/>
            <a:ext cx="637794" cy="246888"/>
          </a:xfrm>
          <a:prstGeom prst="roundRect">
            <a:avLst>
              <a:gd name="adj" fmla="val 50000"/>
            </a:avLst>
          </a:prstGeom>
          <a:solidFill>
            <a:srgbClr val="173035"/>
          </a:solidFill>
          <a:ln w="9525">
            <a:solidFill>
              <a:srgbClr val="1D615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3529584"/>
            <a:ext cx="63779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ko-KR" alt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438144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기반 풀스택 웹 개발자 과정</a:t>
            </a:r>
            <a:endParaRPr lang="ko-KR" alt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5080" y="4041648"/>
            <a:ext cx="1048004" cy="274320"/>
          </a:xfrm>
          <a:prstGeom prst="roundRect">
            <a:avLst>
              <a:gd name="adj" fmla="val 50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55080" y="4041648"/>
            <a:ext cx="1048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Furniture</a:t>
            </a:r>
            <a:endParaRPr lang="ko-KR" alt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76236" y="4041648"/>
            <a:ext cx="562864" cy="274320"/>
          </a:xfrm>
          <a:prstGeom prst="roundRect">
            <a:avLst>
              <a:gd name="adj" fmla="val 50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76236" y="4041648"/>
            <a:ext cx="56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PPAP</a:t>
            </a:r>
            <a:endParaRPr lang="ko-KR" alt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12252" y="4041648"/>
            <a:ext cx="763524" cy="274320"/>
          </a:xfrm>
          <a:prstGeom prst="roundRect">
            <a:avLst>
              <a:gd name="adj" fmla="val 50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12252" y="4041648"/>
            <a:ext cx="76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너의 곁에</a:t>
            </a:r>
            <a:endParaRPr lang="ko-KR" alt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94960" y="4800600"/>
            <a:ext cx="6248095" cy="1417320"/>
          </a:xfrm>
          <a:prstGeom prst="roundRect">
            <a:avLst>
              <a:gd name="adj" fmla="val 1032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69280" y="50383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ko-KR" alt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6355080" y="5129784"/>
            <a:ext cx="637794" cy="246888"/>
          </a:xfrm>
          <a:prstGeom prst="roundRect">
            <a:avLst>
              <a:gd name="adj" fmla="val 50000"/>
            </a:avLst>
          </a:prstGeom>
          <a:solidFill>
            <a:srgbClr val="332D1F"/>
          </a:solidFill>
          <a:ln w="9525">
            <a:solidFill>
              <a:srgbClr val="70592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55080" y="5129784"/>
            <a:ext cx="63779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ko-KR" alt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178040" y="5038344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디자이너 과정</a:t>
            </a:r>
            <a:endParaRPr lang="ko-KR" alt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5080" y="5641848"/>
            <a:ext cx="847344" cy="274320"/>
          </a:xfrm>
          <a:prstGeom prst="roundRect">
            <a:avLst>
              <a:gd name="adj" fmla="val 50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55080" y="5641848"/>
            <a:ext cx="847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할리스커피</a:t>
            </a:r>
            <a:endParaRPr lang="ko-KR" alt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75576" y="5641848"/>
            <a:ext cx="725424" cy="274320"/>
          </a:xfrm>
          <a:prstGeom prst="roundRect">
            <a:avLst>
              <a:gd name="adj" fmla="val 50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275576" y="5641848"/>
            <a:ext cx="72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오늘의집</a:t>
            </a:r>
            <a:endParaRPr lang="ko-KR" alt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31C31"/>
          </a:solidFill>
          <a:ln w="9525">
            <a:solidFill>
              <a:srgbClr val="412F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00200"/>
            <a:ext cx="6172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5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화면과 Spring Boot · Node.js · FastAPI 서버를 함께 다루는 풀스택 개발자입니다.</a:t>
            </a:r>
            <a:endParaRPr lang="ko-KR" alt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90394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31C31"/>
          </a:solidFill>
          <a:ln w="9525">
            <a:solidFill>
              <a:srgbClr val="412F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903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2106"/>
            <a:ext cx="6172200" cy="745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3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풀스택 과정의 팀 프로젝트 3건에서 회원·인증 도메인의 화면과 서버를 맡았습니다. 3H Furniture에서는 로그인 요청 형식 충돌을 해결해, 멈춰 있던 팀 기능 4개의 개발을 2일 만에 재개시켰습니다.</a:t>
            </a:r>
            <a:endParaRPr lang="ko-KR" alt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5565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31C31"/>
          </a:solidFill>
          <a:ln w="9525">
            <a:solidFill>
              <a:srgbClr val="412F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556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337370"/>
            <a:ext cx="6172200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3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AI에서 대시보드를 맡아 화면 9개, REST API 13개, ML 모델 2종을 구현했고, N+1 조회를 배치 조회로 바꿔 로딩 시간을 2분에서 10초로 줄였습니다.</a:t>
            </a:r>
            <a:endParaRPr lang="ko-KR" alt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43800" y="1600200"/>
            <a:ext cx="4099255" cy="2331720"/>
          </a:xfrm>
          <a:prstGeom prst="roundRect">
            <a:avLst>
              <a:gd name="adj" fmla="val 6275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819656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0924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경로</a:t>
            </a:r>
            <a:endParaRPr lang="ko-KR" alt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99832" y="2194560"/>
            <a:ext cx="3587191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디자이너 과정에서 웹사이트 리뉴얼 2건으로 UI/UX와 퍼블리싱을 익힌 뒤, Java 기반 풀스택 웹 개발자 과정에서 팀 프로젝트 3건(JSP → React+Express → Spring Boot)으로 화면과 서버를 함께 담당했고, AI 기반 서비스 개발 심화 과정에서 ML·DL·LLM 개인 프로젝트 3건과 팀 프로젝트 1건을 진행했습니다.</a:t>
            </a:r>
            <a:endParaRPr lang="ko-KR" alt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206240"/>
            <a:ext cx="2602154" cy="2011680"/>
          </a:xfrm>
          <a:prstGeom prst="roundRect">
            <a:avLst>
              <a:gd name="adj" fmla="val 727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6227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22960" y="4864608"/>
            <a:ext cx="21449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E9EB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건</a:t>
            </a:r>
            <a:endParaRPr lang="ko-KR" alt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5504688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진행한 프로젝트</a:t>
            </a:r>
            <a:endParaRPr lang="ko-KR" alt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22960" y="5797296"/>
            <a:ext cx="2144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4 · 개인 5</a:t>
            </a:r>
            <a:endParaRPr lang="ko-KR" alt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379394" y="4206240"/>
            <a:ext cx="2602154" cy="2011680"/>
          </a:xfrm>
          <a:prstGeom prst="roundRect">
            <a:avLst>
              <a:gd name="adj" fmla="val 727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714" y="446227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653714" y="4864608"/>
            <a:ext cx="21449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E9EB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</a:t>
            </a:r>
            <a:endParaRPr lang="ko-KR" alt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3653714" y="5504688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담당 화면</a:t>
            </a:r>
            <a:endParaRPr lang="ko-KR" alt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3653714" y="5797296"/>
            <a:ext cx="2144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13개 · ML 모델 2종</a:t>
            </a:r>
            <a:endParaRPr lang="ko-KR" alt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210148" y="4206240"/>
            <a:ext cx="2602154" cy="2011680"/>
          </a:xfrm>
          <a:prstGeom prst="roundRect">
            <a:avLst>
              <a:gd name="adj" fmla="val 727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468" y="446227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484468" y="4864608"/>
            <a:ext cx="21449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E9EB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2분→10</a:t>
            </a:r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초</a:t>
            </a:r>
            <a:endParaRPr lang="ko-KR" alt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484468" y="5504688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로딩 시간</a:t>
            </a:r>
            <a:endParaRPr lang="ko-KR" alt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484468" y="5797296"/>
            <a:ext cx="2144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N+1 조회 개선</a:t>
            </a:r>
            <a:endParaRPr lang="ko-KR" alt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040901" y="4206240"/>
            <a:ext cx="2602154" cy="2011680"/>
          </a:xfrm>
          <a:prstGeom prst="roundRect">
            <a:avLst>
              <a:gd name="adj" fmla="val 727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5221" y="446227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315221" y="4864608"/>
            <a:ext cx="214495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E9EB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</a:t>
            </a:r>
            <a:endParaRPr lang="ko-KR" alt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315221" y="5504688"/>
            <a:ext cx="2144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멈췄던 팀 기능 개발 재개</a:t>
            </a:r>
            <a:endParaRPr lang="ko-KR" alt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9315221" y="5797296"/>
            <a:ext cx="2144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Furniture · 2일 만에 로그인 연동</a:t>
            </a:r>
            <a:endParaRPr lang="ko-KR" alt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EXPERIENCE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주로 맡은 역할</a:t>
            </a:r>
            <a:endParaRPr lang="ko-KR" alt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프로젝트를 진행하며 여러 번 맡았던 역할을 네 가지로 정리했습니다. 구체적인 구현 내용은 프로젝트별 슬라이드에 있습니다.</a:t>
            </a:r>
            <a:endParaRPr lang="ko-KR" alt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37480" cy="2144268"/>
          </a:xfrm>
          <a:prstGeom prst="roundRect">
            <a:avLst>
              <a:gd name="adj" fmla="val 682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97400" y="18928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28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ko-KR" alt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04672" y="202082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F2742"/>
          </a:solidFill>
          <a:ln w="9525">
            <a:solidFill>
              <a:srgbClr val="4E3B6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135124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08176" y="2020824"/>
            <a:ext cx="333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API · DB · ML 구현</a:t>
            </a:r>
            <a:endParaRPr lang="ko-KR" alt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642616"/>
            <a:ext cx="492541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AI(6인 기능 오너제)에서 대시보드를 맡아 React 화면 9개, Spring Boot API 13개, PostgreSQL 4개 테이블 집계, FastAPI ML 서버 2개를 설계하고 연동했습니다.</a:t>
            </a:r>
            <a:endParaRPr lang="ko-KR" alt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4672" y="3470148"/>
            <a:ext cx="582803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" y="3470148"/>
            <a:ext cx="58280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9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460627" y="3470148"/>
            <a:ext cx="660019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60627" y="3470148"/>
            <a:ext cx="66001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13</a:t>
            </a:r>
            <a:endParaRPr lang="ko-KR" alt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193798" y="3470148"/>
            <a:ext cx="698627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193798" y="3470148"/>
            <a:ext cx="69862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9</a:t>
            </a:r>
            <a:endParaRPr lang="ko-KR" alt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965577" y="3470148"/>
            <a:ext cx="773430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965577" y="3470148"/>
            <a:ext cx="7734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모델 2</a:t>
            </a:r>
            <a:endParaRPr lang="ko-KR" alt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05576" y="1783080"/>
            <a:ext cx="5437480" cy="2144268"/>
          </a:xfrm>
          <a:prstGeom prst="roundRect">
            <a:avLst>
              <a:gd name="adj" fmla="val 682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454335" y="18928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28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ko-KR" altLang="en-US" sz="3600" dirty="0"/>
          </a:p>
        </p:txBody>
      </p:sp>
      <p:sp>
        <p:nvSpPr>
          <p:cNvPr id="21" name="Shape 18"/>
          <p:cNvSpPr/>
          <p:nvPr/>
        </p:nvSpPr>
        <p:spPr>
          <a:xfrm>
            <a:off x="6461608" y="202082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F2742"/>
          </a:solidFill>
          <a:ln w="9525">
            <a:solidFill>
              <a:srgbClr val="4E3B69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135124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065112" y="2020824"/>
            <a:ext cx="333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인증을 세 가지 계층으로 구현</a:t>
            </a:r>
            <a:endParaRPr lang="ko-KR" alt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6461608" y="2642616"/>
            <a:ext cx="492541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3건에서 회원·인증 도메인을 연달아 맡았습니다. JSP·Servlet의 HttpSession 로그인, Node.js의 JWT 인증 미들웨어, Spring Security의 폼 로그인과 OAuth2 소셜 로그인 3종을 화면과 서버 양쪽에서 구현했습니다.</a:t>
            </a:r>
            <a:endParaRPr lang="ko-KR" alt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461608" y="3470148"/>
            <a:ext cx="956818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61608" y="3470148"/>
            <a:ext cx="9568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HttpSession</a:t>
            </a:r>
            <a:endParaRPr lang="ko-KR" alt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7491578" y="3470148"/>
            <a:ext cx="968883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491578" y="3470148"/>
            <a:ext cx="96888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미들웨어</a:t>
            </a:r>
            <a:endParaRPr lang="ko-KR" alt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8533613" y="3470148"/>
            <a:ext cx="1181227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533613" y="3470148"/>
            <a:ext cx="118122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</a:t>
            </a:r>
            <a:endParaRPr lang="ko-KR" alt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9787992" y="3470148"/>
            <a:ext cx="886841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787992" y="3470148"/>
            <a:ext cx="88684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OAuth2 3종</a:t>
            </a:r>
            <a:endParaRPr lang="ko-KR" alt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548640" y="4146804"/>
            <a:ext cx="5437480" cy="2144268"/>
          </a:xfrm>
          <a:prstGeom prst="roundRect">
            <a:avLst>
              <a:gd name="adj" fmla="val 682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797400" y="42565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28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ko-KR" altLang="en-US" sz="3600" dirty="0"/>
          </a:p>
        </p:txBody>
      </p:sp>
      <p:sp>
        <p:nvSpPr>
          <p:cNvPr id="35" name="Shape 31"/>
          <p:cNvSpPr/>
          <p:nvPr/>
        </p:nvSpPr>
        <p:spPr>
          <a:xfrm>
            <a:off x="804672" y="438454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F2742"/>
          </a:solidFill>
          <a:ln w="9525">
            <a:solidFill>
              <a:srgbClr val="4E3B69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4498848"/>
            <a:ext cx="228600" cy="22860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1408176" y="4384548"/>
            <a:ext cx="333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원인을 확인한 뒤 수정</a:t>
            </a:r>
            <a:endParaRPr lang="ko-KR" altLang="en-US" sz="1600" dirty="0"/>
          </a:p>
        </p:txBody>
      </p:sp>
      <p:sp>
        <p:nvSpPr>
          <p:cNvPr id="38" name="Text 33"/>
          <p:cNvSpPr txBox="1"/>
          <p:nvPr/>
        </p:nvSpPr>
        <p:spPr>
          <a:xfrm>
            <a:off x="804672" y="5006340"/>
            <a:ext cx="492541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Furniture에서 화면과 서버의 오류 메시지를 대조해 로그인 요청 형식 충돌을 해결했습니다. WorkFlow AI에서는 반복 조회로 늘어나던 DB 왕복을 한 번의 조회로 줄여 로딩 시간을 2분에서 10초로 단축했고, 소규모 팀에서 Isolation Forest가 과부하 팀원을 탐지하지 못하는 사례를 확인해 MAD 기반 방식으로 바꿨습니다.</a:t>
            </a:r>
            <a:endParaRPr lang="ko-KR" alt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804672" y="5833872"/>
            <a:ext cx="1041273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04672" y="5833872"/>
            <a:ext cx="104127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로딩 2분→10초</a:t>
            </a:r>
            <a:endParaRPr lang="ko-KR" alt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1919097" y="5833872"/>
            <a:ext cx="1005078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1919097" y="5833872"/>
            <a:ext cx="1005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415 오류 해결</a:t>
            </a:r>
            <a:endParaRPr lang="ko-KR" alt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2997327" y="5833872"/>
            <a:ext cx="732409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2997327" y="5833872"/>
            <a:ext cx="7324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N+1 제거</a:t>
            </a:r>
            <a:endParaRPr lang="ko-KR" alt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3802888" y="5833872"/>
            <a:ext cx="968883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802888" y="5833872"/>
            <a:ext cx="96888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교체</a:t>
            </a:r>
            <a:endParaRPr lang="ko-KR" alt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6205576" y="4146804"/>
            <a:ext cx="5437480" cy="2144268"/>
          </a:xfrm>
          <a:prstGeom prst="roundRect">
            <a:avLst>
              <a:gd name="adj" fmla="val 682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10454335" y="42565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28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ko-KR" altLang="en-US" sz="3600" dirty="0"/>
          </a:p>
        </p:txBody>
      </p:sp>
      <p:sp>
        <p:nvSpPr>
          <p:cNvPr id="49" name="Shape 44"/>
          <p:cNvSpPr/>
          <p:nvPr/>
        </p:nvSpPr>
        <p:spPr>
          <a:xfrm>
            <a:off x="6461608" y="438454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F2742"/>
          </a:solidFill>
          <a:ln w="9525">
            <a:solidFill>
              <a:srgbClr val="4E3B69"/>
            </a:solidFill>
            <a:prstDash val="solid"/>
          </a:ln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908" y="4498848"/>
            <a:ext cx="228600" cy="228600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7065112" y="4384548"/>
            <a:ext cx="333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공통 구조와 문서 작업</a:t>
            </a:r>
            <a:endParaRPr lang="ko-KR" altLang="en-US" sz="1600" dirty="0"/>
          </a:p>
        </p:txBody>
      </p:sp>
      <p:sp>
        <p:nvSpPr>
          <p:cNvPr id="52" name="Text 46"/>
          <p:cNvSpPr txBox="1"/>
          <p:nvPr/>
        </p:nvSpPr>
        <p:spPr>
          <a:xfrm>
            <a:off x="6461608" y="5006340"/>
            <a:ext cx="492541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초반에 프로젝트 폴더 구조 설계를 자원했습니다. React · Spring Boot · FastAPI 3계층 구조의 방향을 참고 자료와 함께 팀 채널에 먼저 공유하고, PL의 검토 의견을 반영한 구조도를 다시 공유했습니다. 이 구조는 팀장의 일부 수정을 거쳐 프로젝트에 반영되었습니다. 설계 · 개발 · 트러블슈팅 문서 14건과 착수보고서의 개발 수행 계획을 작성했습니다.</a:t>
            </a:r>
            <a:endParaRPr lang="ko-KR" altLang="en-US" sz="950" dirty="0"/>
          </a:p>
        </p:txBody>
      </p:sp>
      <p:sp>
        <p:nvSpPr>
          <p:cNvPr id="53" name="Shape 47"/>
          <p:cNvSpPr/>
          <p:nvPr/>
        </p:nvSpPr>
        <p:spPr>
          <a:xfrm>
            <a:off x="6461608" y="5833872"/>
            <a:ext cx="1082294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6461608" y="5833872"/>
            <a:ext cx="108229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3계층 폴더 구조</a:t>
            </a:r>
            <a:endParaRPr lang="ko-KR" altLang="en-US" sz="950" dirty="0"/>
          </a:p>
        </p:txBody>
      </p:sp>
      <p:sp>
        <p:nvSpPr>
          <p:cNvPr id="55" name="Shape 49"/>
          <p:cNvSpPr/>
          <p:nvPr/>
        </p:nvSpPr>
        <p:spPr>
          <a:xfrm>
            <a:off x="7617054" y="5833872"/>
            <a:ext cx="1005078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7617054" y="5833872"/>
            <a:ext cx="100507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먼저 공유</a:t>
            </a:r>
            <a:endParaRPr lang="ko-KR" altLang="en-US" sz="950" dirty="0"/>
          </a:p>
        </p:txBody>
      </p:sp>
      <p:sp>
        <p:nvSpPr>
          <p:cNvPr id="57" name="Shape 51"/>
          <p:cNvSpPr/>
          <p:nvPr/>
        </p:nvSpPr>
        <p:spPr>
          <a:xfrm>
            <a:off x="8695284" y="5833872"/>
            <a:ext cx="775843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8695284" y="5833872"/>
            <a:ext cx="7758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14건</a:t>
            </a:r>
            <a:endParaRPr lang="ko-KR" altLang="en-US" sz="950" dirty="0"/>
          </a:p>
        </p:txBody>
      </p:sp>
      <p:sp>
        <p:nvSpPr>
          <p:cNvPr id="59" name="Shape 53"/>
          <p:cNvSpPr/>
          <p:nvPr/>
        </p:nvSpPr>
        <p:spPr>
          <a:xfrm>
            <a:off x="9544279" y="5833872"/>
            <a:ext cx="1084707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9544279" y="5833872"/>
            <a:ext cx="108470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착수보고서 작성</a:t>
            </a:r>
            <a:endParaRPr lang="ko-KR" altLang="en-US" sz="950" dirty="0"/>
          </a:p>
        </p:txBody>
      </p:sp>
      <p:sp>
        <p:nvSpPr>
          <p:cNvPr id="61" name="Text 55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62" name="Text 56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Experience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GROWTH PATH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진행 순서</a:t>
            </a:r>
            <a:endParaRPr lang="ko-KR" alt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2025.06부터 2026.08까지 진행한 프로젝트 9건입니다. 웹 디자인에서 시작해 JSP, React + Express, Spring Boot, AI 서비스 순으로 사용 기술이 바뀌었습니다.</a:t>
            </a:r>
            <a:endParaRPr lang="ko-KR" alt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34440" y="3634740"/>
            <a:ext cx="2108778" cy="45720"/>
          </a:xfrm>
          <a:prstGeom prst="rect">
            <a:avLst/>
          </a:prstGeom>
          <a:solidFill>
            <a:srgbClr val="8F6E1B"/>
          </a:solidFill>
          <a:ln/>
        </p:spPr>
      </p:sp>
      <p:sp>
        <p:nvSpPr>
          <p:cNvPr id="6" name="Shape 4"/>
          <p:cNvSpPr/>
          <p:nvPr/>
        </p:nvSpPr>
        <p:spPr>
          <a:xfrm>
            <a:off x="3343218" y="3634740"/>
            <a:ext cx="3303156" cy="45720"/>
          </a:xfrm>
          <a:prstGeom prst="rect">
            <a:avLst/>
          </a:prstGeom>
          <a:solidFill>
            <a:srgbClr val="1D7A70"/>
          </a:solidFill>
          <a:ln/>
        </p:spPr>
      </p:sp>
      <p:sp>
        <p:nvSpPr>
          <p:cNvPr id="7" name="Shape 5"/>
          <p:cNvSpPr/>
          <p:nvPr/>
        </p:nvSpPr>
        <p:spPr>
          <a:xfrm>
            <a:off x="6646374" y="3634740"/>
            <a:ext cx="4310882" cy="45720"/>
          </a:xfrm>
          <a:prstGeom prst="rect">
            <a:avLst/>
          </a:prstGeom>
          <a:solidFill>
            <a:srgbClr val="605191"/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3291840"/>
            <a:ext cx="0" cy="219456"/>
          </a:xfrm>
          <a:prstGeom prst="line">
            <a:avLst/>
          </a:prstGeom>
          <a:noFill/>
          <a:ln w="12700">
            <a:solidFill>
              <a:srgbClr val="765C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945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2025.06</a:t>
            </a:r>
            <a:endParaRPr lang="ko-KR" alt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23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오늘의집 리뉴얼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523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SWOT · 페르소나 분석</a:t>
            </a:r>
            <a:endParaRPr lang="ko-KR" alt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· 커뮤니티 IA 재설계</a:t>
            </a:r>
            <a:endParaRPr lang="ko-KR" alt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54480" y="3520440"/>
            <a:ext cx="274320" cy="274320"/>
          </a:xfrm>
          <a:prstGeom prst="ellipse">
            <a:avLst/>
          </a:prstGeom>
          <a:solidFill>
            <a:srgbClr val="0A0B10"/>
          </a:solidFill>
          <a:ln w="22225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584448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2792692" y="3803904"/>
            <a:ext cx="0" cy="237744"/>
          </a:xfrm>
          <a:prstGeom prst="line">
            <a:avLst/>
          </a:prstGeom>
          <a:noFill/>
          <a:ln w="12700">
            <a:solidFill>
              <a:srgbClr val="765C1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41132" y="41148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2025.07</a:t>
            </a:r>
            <a:endParaRPr lang="ko-KR" alt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741132" y="4343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할리스커피 리뉴얼</a:t>
            </a:r>
            <a:endParaRPr lang="ko-KR" alt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741132" y="467258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아이덴티티 개편</a:t>
            </a:r>
            <a:endParaRPr lang="ko-KR" alt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jQuery 동적 인터랙션</a:t>
            </a:r>
            <a:endParaRPr lang="ko-KR" alt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5532" y="3520440"/>
            <a:ext cx="274320" cy="274320"/>
          </a:xfrm>
          <a:prstGeom prst="ellipse">
            <a:avLst/>
          </a:prstGeom>
          <a:solidFill>
            <a:srgbClr val="0A0B10"/>
          </a:solidFill>
          <a:ln w="22225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19540" y="3584448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hape 18"/>
          <p:cNvSpPr/>
          <p:nvPr/>
        </p:nvSpPr>
        <p:spPr>
          <a:xfrm>
            <a:off x="3893744" y="3291840"/>
            <a:ext cx="0" cy="219456"/>
          </a:xfrm>
          <a:prstGeom prst="line">
            <a:avLst/>
          </a:prstGeom>
          <a:noFill/>
          <a:ln w="12700">
            <a:solidFill>
              <a:srgbClr val="1A65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42184" y="21945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2026.02</a:t>
            </a:r>
            <a:endParaRPr lang="ko-KR" alt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842184" y="2423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너의 곁에</a:t>
            </a:r>
            <a:endParaRPr lang="ko-KR" alt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842184" y="27523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JSP · Servlet · JDBC</a:t>
            </a:r>
            <a:endParaRPr lang="ko-KR" alt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인증과 마이페이지 담당</a:t>
            </a:r>
            <a:endParaRPr lang="ko-KR" alt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56584" y="3520440"/>
            <a:ext cx="274320" cy="274320"/>
          </a:xfrm>
          <a:prstGeom prst="ellipse">
            <a:avLst/>
          </a:prstGeom>
          <a:solidFill>
            <a:srgbClr val="0A0B10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20592" y="358444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6" name="Shape 24"/>
          <p:cNvSpPr/>
          <p:nvPr/>
        </p:nvSpPr>
        <p:spPr>
          <a:xfrm>
            <a:off x="4994796" y="3803904"/>
            <a:ext cx="0" cy="237744"/>
          </a:xfrm>
          <a:prstGeom prst="line">
            <a:avLst/>
          </a:prstGeom>
          <a:noFill/>
          <a:ln w="12700">
            <a:solidFill>
              <a:srgbClr val="1A65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43236" y="41148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2026.03</a:t>
            </a:r>
            <a:endParaRPr lang="ko-KR" alt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943236" y="4343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PPAP</a:t>
            </a:r>
            <a:endParaRPr lang="ko-KR" alt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943236" y="467258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Express · MongoDB</a:t>
            </a:r>
            <a:endParaRPr lang="ko-KR" alt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인증과 회원 도메인 담당</a:t>
            </a:r>
            <a:endParaRPr lang="ko-KR" alt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57636" y="3520440"/>
            <a:ext cx="274320" cy="274320"/>
          </a:xfrm>
          <a:prstGeom prst="ellipse">
            <a:avLst/>
          </a:prstGeom>
          <a:solidFill>
            <a:srgbClr val="0A0B10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21644" y="358444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5848" y="3291840"/>
            <a:ext cx="0" cy="219456"/>
          </a:xfrm>
          <a:prstGeom prst="line">
            <a:avLst/>
          </a:prstGeom>
          <a:noFill/>
          <a:ln w="12700">
            <a:solidFill>
              <a:srgbClr val="1A65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44288" y="21945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2026.04</a:t>
            </a:r>
            <a:endParaRPr lang="ko-KR" alt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44288" y="2423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Furniture</a:t>
            </a:r>
            <a:endParaRPr lang="ko-KR" alt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044288" y="27523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· Security · JPA</a:t>
            </a:r>
            <a:endParaRPr lang="ko-KR" alt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회원·인증과 상품 검색 담당</a:t>
            </a:r>
            <a:endParaRPr lang="ko-KR" alt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58688" y="3520440"/>
            <a:ext cx="274320" cy="274320"/>
          </a:xfrm>
          <a:prstGeom prst="ellipse">
            <a:avLst/>
          </a:prstGeom>
          <a:solidFill>
            <a:srgbClr val="0A0B10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22696" y="358444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8" name="Shape 36"/>
          <p:cNvSpPr/>
          <p:nvPr/>
        </p:nvSpPr>
        <p:spPr>
          <a:xfrm>
            <a:off x="7196900" y="3803904"/>
            <a:ext cx="0" cy="237744"/>
          </a:xfrm>
          <a:prstGeom prst="line">
            <a:avLst/>
          </a:prstGeom>
          <a:noFill/>
          <a:ln w="12700">
            <a:solidFill>
              <a:srgbClr val="51457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45340" y="41148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2026.06</a:t>
            </a:r>
            <a:endParaRPr lang="ko-KR" alt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145340" y="4343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게이머 고립도 예측</a:t>
            </a:r>
            <a:endParaRPr lang="ko-KR" alt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145340" y="467258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모델 5종 비교</a:t>
            </a:r>
            <a:endParaRPr lang="ko-KR" alt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R² 0.801</a:t>
            </a:r>
            <a:endParaRPr lang="ko-KR" alt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59740" y="3520440"/>
            <a:ext cx="274320" cy="274320"/>
          </a:xfrm>
          <a:prstGeom prst="ellipse">
            <a:avLst/>
          </a:prstGeom>
          <a:solidFill>
            <a:srgbClr val="0A0B10"/>
          </a:solidFill>
          <a:ln w="22225">
            <a:solidFill>
              <a:srgbClr val="A78B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23748" y="3584448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4" name="Shape 42"/>
          <p:cNvSpPr/>
          <p:nvPr/>
        </p:nvSpPr>
        <p:spPr>
          <a:xfrm>
            <a:off x="8297951" y="3291840"/>
            <a:ext cx="0" cy="219456"/>
          </a:xfrm>
          <a:prstGeom prst="line">
            <a:avLst/>
          </a:prstGeom>
          <a:noFill/>
          <a:ln w="12700">
            <a:solidFill>
              <a:srgbClr val="51457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246391" y="21945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2026.06</a:t>
            </a:r>
            <a:endParaRPr lang="ko-KR" alt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246391" y="2423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artClassifier</a:t>
            </a:r>
            <a:endParaRPr lang="ko-KR" alt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7246391" y="27523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전이학습 3종 비교 · MLflow</a:t>
            </a:r>
            <a:endParaRPr lang="ko-KR" alt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정확도 94.5%</a:t>
            </a:r>
            <a:endParaRPr lang="ko-KR" alt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60791" y="3520440"/>
            <a:ext cx="274320" cy="274320"/>
          </a:xfrm>
          <a:prstGeom prst="ellipse">
            <a:avLst/>
          </a:prstGeom>
          <a:solidFill>
            <a:srgbClr val="0A0B10"/>
          </a:solidFill>
          <a:ln w="22225">
            <a:solidFill>
              <a:srgbClr val="A78B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4799" y="3584448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0" name="Shape 48"/>
          <p:cNvSpPr/>
          <p:nvPr/>
        </p:nvSpPr>
        <p:spPr>
          <a:xfrm>
            <a:off x="9399003" y="3803904"/>
            <a:ext cx="0" cy="237744"/>
          </a:xfrm>
          <a:prstGeom prst="line">
            <a:avLst/>
          </a:prstGeom>
          <a:noFill/>
          <a:ln w="12700">
            <a:solidFill>
              <a:srgbClr val="51457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347443" y="41148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2026.07</a:t>
            </a:r>
            <a:endParaRPr lang="ko-KR" alt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8347443" y="4343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Curatio</a:t>
            </a:r>
            <a:endParaRPr lang="ko-KR" alt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8347443" y="467258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 · ChromaDB · RAG</a:t>
            </a:r>
            <a:endParaRPr lang="ko-KR" alt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 벡터 42,500건 구축</a:t>
            </a:r>
            <a:endParaRPr lang="ko-KR" alt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261843" y="3520440"/>
            <a:ext cx="274320" cy="274320"/>
          </a:xfrm>
          <a:prstGeom prst="ellipse">
            <a:avLst/>
          </a:prstGeom>
          <a:solidFill>
            <a:srgbClr val="0A0B10"/>
          </a:solidFill>
          <a:ln w="22225">
            <a:solidFill>
              <a:srgbClr val="A78BF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25851" y="3584448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6" name="Shape 54"/>
          <p:cNvSpPr/>
          <p:nvPr/>
        </p:nvSpPr>
        <p:spPr>
          <a:xfrm>
            <a:off x="10500055" y="3291840"/>
            <a:ext cx="0" cy="219456"/>
          </a:xfrm>
          <a:prstGeom prst="line">
            <a:avLst/>
          </a:prstGeom>
          <a:noFill/>
          <a:ln w="12700">
            <a:solidFill>
              <a:srgbClr val="51457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448495" y="21945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2026.07</a:t>
            </a:r>
            <a:endParaRPr lang="ko-KR" alt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9448495" y="2423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9448495" y="27523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Spring Boot · FastAPI</a:t>
            </a:r>
            <a:endParaRPr lang="ko-KR" alt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9 · API 13 · ML 2종</a:t>
            </a:r>
            <a:endParaRPr lang="ko-KR" alt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362895" y="3520440"/>
            <a:ext cx="274320" cy="274320"/>
          </a:xfrm>
          <a:prstGeom prst="ellipse">
            <a:avLst/>
          </a:prstGeom>
          <a:solidFill>
            <a:srgbClr val="0A0B10"/>
          </a:solidFill>
          <a:ln w="22225">
            <a:solidFill>
              <a:srgbClr val="A78B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426903" y="3584448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2" name="Shape 60"/>
          <p:cNvSpPr/>
          <p:nvPr/>
        </p:nvSpPr>
        <p:spPr>
          <a:xfrm>
            <a:off x="705505" y="5760720"/>
            <a:ext cx="2731247" cy="329184"/>
          </a:xfrm>
          <a:prstGeom prst="roundRect">
            <a:avLst>
              <a:gd name="adj" fmla="val 5000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1809" y="5870448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034689" y="5760720"/>
            <a:ext cx="23654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디자이너 과정  </a:t>
            </a:r>
            <a:pPr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2025.06 ~ 08</a:t>
            </a:r>
            <a:endParaRPr lang="ko-KR" alt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619632" y="5760720"/>
            <a:ext cx="4085443" cy="329184"/>
          </a:xfrm>
          <a:prstGeom prst="roundRect">
            <a:avLst>
              <a:gd name="adj" fmla="val 5000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65936" y="5870448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3948816" y="5760720"/>
            <a:ext cx="37196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기반 풀스택 웹 개발자 과정  </a:t>
            </a:r>
            <a:pPr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2025.12 ~ 2026.06</a:t>
            </a:r>
            <a:endParaRPr lang="ko-KR" alt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887955" y="5760720"/>
            <a:ext cx="3598235" cy="329184"/>
          </a:xfrm>
          <a:prstGeom prst="roundRect">
            <a:avLst>
              <a:gd name="adj" fmla="val 5000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34259" y="5870448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217139" y="5760720"/>
            <a:ext cx="32324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서비스 개발 심화 과정  </a:t>
            </a:r>
            <a:pPr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2026.06 ~ 08</a:t>
            </a:r>
            <a:endParaRPr lang="ko-KR" alt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Growth Path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· Frontend / Backend</a:t>
            </a:r>
            <a:endParaRPr lang="ko-KR" alt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기술로 무엇을 만들었는지와, 어떤 프로젝트에서 썼는지를 함께 적었습니다.</a:t>
            </a:r>
            <a:endParaRPr lang="ko-KR" alt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37480" cy="4507992"/>
          </a:xfrm>
          <a:prstGeom prst="roundRect">
            <a:avLst>
              <a:gd name="adj" fmla="val 3245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965960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15333F"/>
          </a:solidFill>
          <a:ln w="9525">
            <a:solidFill>
              <a:srgbClr val="18566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0574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965960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spc="150" kern="0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ko-KR" alt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2478024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ko-KR" alt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203704" y="2478024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9화면 · 매물 탐색 · 가구몰 메인</a:t>
            </a:r>
            <a:endParaRPr lang="ko-KR" alt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398264" y="2478024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8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PPAP · 3H</a:t>
            </a:r>
            <a:endParaRPr lang="ko-KR" alt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86384" y="3004457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" y="3004457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</a:t>
            </a:r>
            <a:endParaRPr lang="ko-KR" alt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203704" y="3004457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응답 DTO 타입 정의</a:t>
            </a:r>
            <a:endParaRPr lang="ko-KR" alt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398264" y="3004457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86384" y="3530890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" y="3530890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</a:t>
            </a:r>
            <a:endParaRPr lang="ko-KR" alt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203704" y="3530890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개발 서버 · 빌드</a:t>
            </a:r>
            <a:endParaRPr lang="ko-KR" alt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398264" y="3530890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86384" y="4057323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" y="4057323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</a:t>
            </a:r>
            <a:endParaRPr lang="ko-KR" alt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2203704" y="4057323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카드·배지 반응형 레이아웃</a:t>
            </a:r>
            <a:endParaRPr lang="ko-KR" alt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398264" y="4057323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86384" y="4583757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6384" y="4583757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MUI · Bootstrap</a:t>
            </a:r>
            <a:endParaRPr lang="ko-KR" alt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203704" y="4583757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 입력 폼 · 가구몰 화면 컴포넌트</a:t>
            </a:r>
            <a:endParaRPr lang="ko-KR" alt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398264" y="4583757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PPAP · 3H</a:t>
            </a:r>
            <a:endParaRPr lang="ko-KR" alt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86384" y="5110190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6384" y="5110190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Recharts</a:t>
            </a:r>
            <a:endParaRPr lang="ko-KR" alt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2203704" y="5110190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진행률·업무량 차트</a:t>
            </a:r>
            <a:endParaRPr lang="ko-KR" alt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398264" y="5110190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86384" y="5636623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86384" y="5636623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JSP · JSTL</a:t>
            </a:r>
            <a:endParaRPr lang="ko-KR" alt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2203704" y="5636623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인증 · 마이페이지 화면</a:t>
            </a:r>
            <a:endParaRPr lang="ko-KR" alt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398264" y="5636623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너의 곁에</a:t>
            </a:r>
            <a:endParaRPr lang="ko-KR" alt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205576" y="1783080"/>
            <a:ext cx="5437480" cy="4507992"/>
          </a:xfrm>
          <a:prstGeom prst="roundRect">
            <a:avLst>
              <a:gd name="adj" fmla="val 3245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43320" y="1965960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760" y="2057400"/>
            <a:ext cx="182880" cy="18288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937096" y="1965960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spc="15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ko-KR" altLang="en-US" sz="1150" dirty="0"/>
          </a:p>
        </p:txBody>
      </p:sp>
      <p:sp>
        <p:nvSpPr>
          <p:cNvPr id="40" name="Text 36"/>
          <p:cNvSpPr txBox="1"/>
          <p:nvPr/>
        </p:nvSpPr>
        <p:spPr>
          <a:xfrm>
            <a:off x="6443320" y="2478024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</a:t>
            </a:r>
            <a:endParaRPr lang="ko-KR" alt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7860640" y="2478024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집계 로직 · 회원 도메인</a:t>
            </a:r>
            <a:endParaRPr lang="ko-KR" altLang="en-US" sz="1050" dirty="0"/>
          </a:p>
        </p:txBody>
      </p:sp>
      <p:sp>
        <p:nvSpPr>
          <p:cNvPr id="42" name="Text 38"/>
          <p:cNvSpPr txBox="1"/>
          <p:nvPr/>
        </p:nvSpPr>
        <p:spPr>
          <a:xfrm>
            <a:off x="10055200" y="2478024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3H</a:t>
            </a:r>
            <a:endParaRPr lang="ko-KR" alt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6443320" y="3004457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443320" y="3004457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ko-KR" alt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7860640" y="3004457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API 13개 · 상품 조회 API</a:t>
            </a:r>
            <a:endParaRPr lang="ko-KR" altLang="en-US" sz="1050" dirty="0"/>
          </a:p>
        </p:txBody>
      </p:sp>
      <p:sp>
        <p:nvSpPr>
          <p:cNvPr id="46" name="Text 42"/>
          <p:cNvSpPr txBox="1"/>
          <p:nvPr/>
        </p:nvSpPr>
        <p:spPr>
          <a:xfrm>
            <a:off x="10055200" y="3004457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3H</a:t>
            </a:r>
            <a:endParaRPr lang="ko-KR" alt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443320" y="3530890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443320" y="3530890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</a:t>
            </a:r>
            <a:endParaRPr lang="ko-KR" altLang="en-US" sz="1100" dirty="0"/>
          </a:p>
        </p:txBody>
      </p:sp>
      <p:sp>
        <p:nvSpPr>
          <p:cNvPr id="49" name="Text 45"/>
          <p:cNvSpPr txBox="1"/>
          <p:nvPr/>
        </p:nvSpPr>
        <p:spPr>
          <a:xfrm>
            <a:off x="7860640" y="3530890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 로그인 · OAuth2 소셜 로그인 · 권한 분리</a:t>
            </a:r>
            <a:endParaRPr lang="ko-KR" altLang="en-US" sz="1050" dirty="0"/>
          </a:p>
        </p:txBody>
      </p:sp>
      <p:sp>
        <p:nvSpPr>
          <p:cNvPr id="50" name="Text 46"/>
          <p:cNvSpPr txBox="1"/>
          <p:nvPr/>
        </p:nvSpPr>
        <p:spPr>
          <a:xfrm>
            <a:off x="10055200" y="3530890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Furniture</a:t>
            </a:r>
            <a:endParaRPr lang="ko-KR" alt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6443320" y="4057323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443320" y="4057323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Data JPA</a:t>
            </a:r>
            <a:endParaRPr lang="ko-KR" altLang="en-US" sz="1100" dirty="0"/>
          </a:p>
        </p:txBody>
      </p:sp>
      <p:sp>
        <p:nvSpPr>
          <p:cNvPr id="53" name="Text 49"/>
          <p:cNvSpPr txBox="1"/>
          <p:nvPr/>
        </p:nvSpPr>
        <p:spPr>
          <a:xfrm>
            <a:off x="7860640" y="4057323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업무·마일스톤·회원 테이블 접근</a:t>
            </a:r>
            <a:endParaRPr lang="ko-KR" altLang="en-US" sz="1050" dirty="0"/>
          </a:p>
        </p:txBody>
      </p:sp>
      <p:sp>
        <p:nvSpPr>
          <p:cNvPr id="54" name="Text 50"/>
          <p:cNvSpPr txBox="1"/>
          <p:nvPr/>
        </p:nvSpPr>
        <p:spPr>
          <a:xfrm>
            <a:off x="10055200" y="4057323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· WorkFlow AI</a:t>
            </a:r>
            <a:endParaRPr lang="ko-KR" alt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6443320" y="4583757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6443320" y="4583757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</a:t>
            </a:r>
            <a:endParaRPr lang="ko-KR" altLang="en-US" sz="1100" dirty="0"/>
          </a:p>
        </p:txBody>
      </p:sp>
      <p:sp>
        <p:nvSpPr>
          <p:cNvPr id="57" name="Text 53"/>
          <p:cNvSpPr txBox="1"/>
          <p:nvPr/>
        </p:nvSpPr>
        <p:spPr>
          <a:xfrm>
            <a:off x="7860640" y="4583757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인증 · 보호 라우트 검증</a:t>
            </a:r>
            <a:endParaRPr lang="ko-KR" altLang="en-US" sz="1050" dirty="0"/>
          </a:p>
        </p:txBody>
      </p:sp>
      <p:sp>
        <p:nvSpPr>
          <p:cNvPr id="58" name="Text 54"/>
          <p:cNvSpPr txBox="1"/>
          <p:nvPr/>
        </p:nvSpPr>
        <p:spPr>
          <a:xfrm>
            <a:off x="10055200" y="4583757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PPAP · WorkFlow AI</a:t>
            </a:r>
            <a:endParaRPr lang="ko-KR" altLang="en-US" sz="950" dirty="0"/>
          </a:p>
        </p:txBody>
      </p:sp>
      <p:sp>
        <p:nvSpPr>
          <p:cNvPr id="59" name="Shape 55"/>
          <p:cNvSpPr/>
          <p:nvPr/>
        </p:nvSpPr>
        <p:spPr>
          <a:xfrm>
            <a:off x="6443320" y="5110190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6443320" y="5110190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· Express</a:t>
            </a:r>
            <a:endParaRPr lang="ko-KR" altLang="en-US" sz="1100" dirty="0"/>
          </a:p>
        </p:txBody>
      </p:sp>
      <p:sp>
        <p:nvSpPr>
          <p:cNvPr id="61" name="Text 57"/>
          <p:cNvSpPr txBox="1"/>
          <p:nvPr/>
        </p:nvSpPr>
        <p:spPr>
          <a:xfrm>
            <a:off x="7860640" y="5110190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매물·회원·상담 예약 REST API</a:t>
            </a:r>
            <a:endParaRPr lang="ko-KR" altLang="en-US" sz="1050" dirty="0"/>
          </a:p>
        </p:txBody>
      </p:sp>
      <p:sp>
        <p:nvSpPr>
          <p:cNvPr id="62" name="Text 58"/>
          <p:cNvSpPr txBox="1"/>
          <p:nvPr/>
        </p:nvSpPr>
        <p:spPr>
          <a:xfrm>
            <a:off x="10055200" y="5110190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PPAP</a:t>
            </a:r>
            <a:endParaRPr lang="ko-KR" altLang="en-US" sz="950" dirty="0"/>
          </a:p>
        </p:txBody>
      </p:sp>
      <p:sp>
        <p:nvSpPr>
          <p:cNvPr id="63" name="Shape 59"/>
          <p:cNvSpPr/>
          <p:nvPr/>
        </p:nvSpPr>
        <p:spPr>
          <a:xfrm>
            <a:off x="6443320" y="5636623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6443320" y="5636623"/>
            <a:ext cx="141732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Servlet · JDBC</a:t>
            </a:r>
            <a:endParaRPr lang="ko-KR" altLang="en-US" sz="1100" dirty="0"/>
          </a:p>
        </p:txBody>
      </p:sp>
      <p:sp>
        <p:nvSpPr>
          <p:cNvPr id="65" name="Text 61"/>
          <p:cNvSpPr txBox="1"/>
          <p:nvPr/>
        </p:nvSpPr>
        <p:spPr>
          <a:xfrm>
            <a:off x="7860640" y="5636623"/>
            <a:ext cx="2194560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로그인 · DTO/DAO 계층</a:t>
            </a:r>
            <a:endParaRPr lang="ko-KR" altLang="en-US" sz="1050" dirty="0"/>
          </a:p>
        </p:txBody>
      </p:sp>
      <p:sp>
        <p:nvSpPr>
          <p:cNvPr id="66" name="Text 62"/>
          <p:cNvSpPr txBox="1"/>
          <p:nvPr/>
        </p:nvSpPr>
        <p:spPr>
          <a:xfrm>
            <a:off x="10055200" y="5636623"/>
            <a:ext cx="1350112" cy="526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너의 곁에</a:t>
            </a:r>
            <a:endParaRPr lang="ko-KR" altLang="en-US" sz="950" dirty="0"/>
          </a:p>
        </p:txBody>
      </p:sp>
      <p:sp>
        <p:nvSpPr>
          <p:cNvPr id="67" name="Text 63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68" name="Text 64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· AI/ML · Database · 협업</a:t>
            </a:r>
            <a:endParaRPr lang="ko-KR" alt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프로젝트에서 사용한 AI/ML · 데이터베이스 · 테스트 · 협업 도구입니다.</a:t>
            </a:r>
            <a:endParaRPr lang="ko-KR" alt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37480" cy="4507992"/>
          </a:xfrm>
          <a:prstGeom prst="roundRect">
            <a:avLst>
              <a:gd name="adj" fmla="val 3245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965960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0574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965960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spc="1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/ ML</a:t>
            </a:r>
            <a:endParaRPr lang="ko-KR" alt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2478024"/>
            <a:ext cx="15544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ko-KR" alt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340864" y="2478024"/>
            <a:ext cx="22402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모델 학습 · FastAPI 서빙</a:t>
            </a:r>
            <a:endParaRPr lang="ko-KR" alt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81144" y="2478024"/>
            <a:ext cx="1167232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AI 프로젝트</a:t>
            </a:r>
            <a:endParaRPr lang="ko-KR" alt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86384" y="2887472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" y="2887472"/>
            <a:ext cx="15544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ko-KR" alt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340864" y="2887472"/>
            <a:ext cx="22402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위험도·업무 편중 예측 서버</a:t>
            </a:r>
            <a:endParaRPr lang="ko-KR" alt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81144" y="2887472"/>
            <a:ext cx="1167232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86384" y="3296920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" y="3296920"/>
            <a:ext cx="15544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TensorFlow · Keras</a:t>
            </a:r>
            <a:endParaRPr lang="ko-KR" alt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340864" y="3296920"/>
            <a:ext cx="22402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회화 사조 분류 모델 학습</a:t>
            </a:r>
            <a:endParaRPr lang="ko-KR" alt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81144" y="3296920"/>
            <a:ext cx="1167232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artClassifier</a:t>
            </a:r>
            <a:endParaRPr lang="ko-KR" alt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86384" y="3706368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" y="3706368"/>
            <a:ext cx="15544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scikit-learn</a:t>
            </a:r>
            <a:endParaRPr lang="ko-KR" alt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2340864" y="3706368"/>
            <a:ext cx="22402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모델 비교 · MAD 이상치 탐지</a:t>
            </a:r>
            <a:endParaRPr lang="ko-KR" alt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581144" y="3706368"/>
            <a:ext cx="1167232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8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개인 · WorkFlow AI</a:t>
            </a:r>
            <a:endParaRPr lang="ko-KR" alt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86384" y="4115816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86384" y="4115816"/>
            <a:ext cx="15544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MLflow</a:t>
            </a:r>
            <a:endParaRPr lang="ko-KR" alt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340864" y="4115816"/>
            <a:ext cx="22402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전이학습 8개 trial 기록·비교</a:t>
            </a:r>
            <a:endParaRPr lang="ko-KR" alt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581144" y="4115816"/>
            <a:ext cx="1167232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artClassifier</a:t>
            </a:r>
            <a:endParaRPr lang="ko-KR" alt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86384" y="4525264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6384" y="4525264"/>
            <a:ext cx="15544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 · ChromaDB</a:t>
            </a:r>
            <a:endParaRPr lang="ko-KR" alt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2340864" y="4525264"/>
            <a:ext cx="22402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 벡터 42,500건 유사도 검색</a:t>
            </a:r>
            <a:endParaRPr lang="ko-KR" alt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581144" y="4525264"/>
            <a:ext cx="1167232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Curatio</a:t>
            </a:r>
            <a:endParaRPr lang="ko-KR" alt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86384" y="4934712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86384" y="4934712"/>
            <a:ext cx="15544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· Gemma</a:t>
            </a:r>
            <a:endParaRPr lang="ko-KR" alt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2340864" y="4934712"/>
            <a:ext cx="22402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근거 기반 도슨트 해설 생성</a:t>
            </a:r>
            <a:endParaRPr lang="ko-KR" alt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81144" y="4934712"/>
            <a:ext cx="1167232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Curatio</a:t>
            </a:r>
            <a:endParaRPr lang="ko-KR" alt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86384" y="5344160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86384" y="5344160"/>
            <a:ext cx="15544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LangSmith</a:t>
            </a:r>
            <a:endParaRPr lang="ko-KR" alt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340864" y="5344160"/>
            <a:ext cx="22402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편중 계산 흐름 트레이싱</a:t>
            </a:r>
            <a:endParaRPr lang="ko-KR" alt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4581144" y="5344160"/>
            <a:ext cx="1167232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786384" y="5753608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86384" y="5753608"/>
            <a:ext cx="15544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endParaRPr lang="ko-KR" alt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2340864" y="5753608"/>
            <a:ext cx="22402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사조 예측·작품 추천 프로토타입</a:t>
            </a:r>
            <a:endParaRPr lang="ko-KR" alt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4581144" y="5753608"/>
            <a:ext cx="1167232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artClassifier · Curatio</a:t>
            </a:r>
            <a:endParaRPr lang="ko-KR" alt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6205576" y="1783080"/>
            <a:ext cx="5437480" cy="1901952"/>
          </a:xfrm>
          <a:prstGeom prst="roundRect">
            <a:avLst>
              <a:gd name="adj" fmla="val 769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43320" y="1901952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38301F"/>
          </a:solidFill>
          <a:ln w="9525">
            <a:solidFill>
              <a:srgbClr val="624F20"/>
            </a:solidFill>
            <a:prstDash val="solid"/>
          </a:ln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760" y="1993392"/>
            <a:ext cx="182880" cy="182880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6937096" y="1901952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spc="15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ko-KR" altLang="en-US" sz="1150" dirty="0"/>
          </a:p>
        </p:txBody>
      </p:sp>
      <p:sp>
        <p:nvSpPr>
          <p:cNvPr id="48" name="Text 44"/>
          <p:cNvSpPr txBox="1"/>
          <p:nvPr/>
        </p:nvSpPr>
        <p:spPr>
          <a:xfrm>
            <a:off x="6443320" y="235000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Supabase</a:t>
            </a:r>
            <a:endParaRPr lang="ko-KR" alt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8089240" y="235000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업무·활동·ML 예측 이력 저장</a:t>
            </a:r>
            <a:endParaRPr lang="ko-KR" alt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10283800" y="2350008"/>
            <a:ext cx="1121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6443320" y="2651760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443320" y="26517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</a:t>
            </a:r>
            <a:endParaRPr lang="ko-KR" altLang="en-US" sz="1050" dirty="0"/>
          </a:p>
        </p:txBody>
      </p:sp>
      <p:sp>
        <p:nvSpPr>
          <p:cNvPr id="53" name="Text 49"/>
          <p:cNvSpPr txBox="1"/>
          <p:nvPr/>
        </p:nvSpPr>
        <p:spPr>
          <a:xfrm>
            <a:off x="8089240" y="265176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상품·회원·게시판 테이블</a:t>
            </a:r>
            <a:endParaRPr lang="ko-KR" alt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10283800" y="2651760"/>
            <a:ext cx="1121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3H(Cloud ADB) · 너의 곁에</a:t>
            </a:r>
            <a:endParaRPr lang="ko-KR" alt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6443320" y="2953512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6443320" y="295351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· Mongoose</a:t>
            </a:r>
            <a:endParaRPr lang="ko-KR" altLang="en-US" sz="1050" dirty="0"/>
          </a:p>
        </p:txBody>
      </p:sp>
      <p:sp>
        <p:nvSpPr>
          <p:cNvPr id="57" name="Text 53"/>
          <p:cNvSpPr txBox="1"/>
          <p:nvPr/>
        </p:nvSpPr>
        <p:spPr>
          <a:xfrm>
            <a:off x="8089240" y="295351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매물·이미지·상담 예약 스키마</a:t>
            </a:r>
            <a:endParaRPr lang="ko-KR" altLang="en-US" sz="1000" dirty="0"/>
          </a:p>
        </p:txBody>
      </p:sp>
      <p:sp>
        <p:nvSpPr>
          <p:cNvPr id="58" name="Text 54"/>
          <p:cNvSpPr txBox="1"/>
          <p:nvPr/>
        </p:nvSpPr>
        <p:spPr>
          <a:xfrm>
            <a:off x="10283800" y="2953512"/>
            <a:ext cx="1121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PPAP</a:t>
            </a:r>
            <a:endParaRPr lang="ko-KR" alt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6443320" y="3255264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6443320" y="325526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pgvector</a:t>
            </a:r>
            <a:endParaRPr lang="ko-KR" altLang="en-US" sz="1050" dirty="0"/>
          </a:p>
        </p:txBody>
      </p:sp>
      <p:sp>
        <p:nvSpPr>
          <p:cNvPr id="61" name="Text 57"/>
          <p:cNvSpPr txBox="1"/>
          <p:nvPr/>
        </p:nvSpPr>
        <p:spPr>
          <a:xfrm>
            <a:off x="8089240" y="325526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임베딩 저장 · 유사도 검색</a:t>
            </a:r>
            <a:endParaRPr lang="ko-KR" altLang="en-US" sz="1000" dirty="0"/>
          </a:p>
        </p:txBody>
      </p:sp>
      <p:sp>
        <p:nvSpPr>
          <p:cNvPr id="62" name="Text 58"/>
          <p:cNvSpPr txBox="1"/>
          <p:nvPr/>
        </p:nvSpPr>
        <p:spPr>
          <a:xfrm>
            <a:off x="10283800" y="3255264"/>
            <a:ext cx="1121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6205576" y="3867912"/>
            <a:ext cx="5437480" cy="2423160"/>
          </a:xfrm>
          <a:prstGeom prst="roundRect">
            <a:avLst>
              <a:gd name="adj" fmla="val 6038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443320" y="3986784"/>
            <a:ext cx="365760" cy="365760"/>
          </a:xfrm>
          <a:prstGeom prst="roundRect">
            <a:avLst>
              <a:gd name="adj" fmla="val 26000"/>
            </a:avLst>
          </a:prstGeom>
          <a:solidFill>
            <a:srgbClr val="2F2742"/>
          </a:solidFill>
          <a:ln w="9525">
            <a:solidFill>
              <a:srgbClr val="4E3B69"/>
            </a:solidFill>
            <a:prstDash val="solid"/>
          </a:ln>
        </p:spPr>
      </p:sp>
      <p:pic>
        <p:nvPicPr>
          <p:cNvPr id="6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760" y="4078224"/>
            <a:ext cx="182880" cy="182880"/>
          </a:xfrm>
          <a:prstGeom prst="rect">
            <a:avLst/>
          </a:prstGeom>
        </p:spPr>
      </p:pic>
      <p:sp>
        <p:nvSpPr>
          <p:cNvPr id="66" name="Text 61"/>
          <p:cNvSpPr txBox="1"/>
          <p:nvPr/>
        </p:nvSpPr>
        <p:spPr>
          <a:xfrm>
            <a:off x="6937096" y="3986784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spc="150" kern="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· 품질</a:t>
            </a:r>
            <a:endParaRPr lang="ko-KR" altLang="en-US" sz="1150" dirty="0"/>
          </a:p>
        </p:txBody>
      </p:sp>
      <p:sp>
        <p:nvSpPr>
          <p:cNvPr id="67" name="Text 62"/>
          <p:cNvSpPr txBox="1"/>
          <p:nvPr/>
        </p:nvSpPr>
        <p:spPr>
          <a:xfrm>
            <a:off x="6443320" y="4434840"/>
            <a:ext cx="16459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· GitHub</a:t>
            </a:r>
            <a:endParaRPr lang="ko-KR" altLang="en-US" sz="1050" dirty="0"/>
          </a:p>
        </p:txBody>
      </p:sp>
      <p:sp>
        <p:nvSpPr>
          <p:cNvPr id="68" name="Text 63"/>
          <p:cNvSpPr txBox="1"/>
          <p:nvPr/>
        </p:nvSpPr>
        <p:spPr>
          <a:xfrm>
            <a:off x="8089240" y="4434840"/>
            <a:ext cx="21945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브랜치 전략 · PR 리뷰</a:t>
            </a:r>
            <a:endParaRPr lang="ko-KR" alt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10283800" y="4434840"/>
            <a:ext cx="11215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프로젝트</a:t>
            </a:r>
            <a:endParaRPr lang="ko-KR" alt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6443320" y="4722876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6443320" y="4722876"/>
            <a:ext cx="16459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</a:t>
            </a:r>
            <a:endParaRPr lang="ko-KR" altLang="en-US" sz="1050" dirty="0"/>
          </a:p>
        </p:txBody>
      </p:sp>
      <p:sp>
        <p:nvSpPr>
          <p:cNvPr id="72" name="Text 67"/>
          <p:cNvSpPr txBox="1"/>
          <p:nvPr/>
        </p:nvSpPr>
        <p:spPr>
          <a:xfrm>
            <a:off x="8089240" y="4722876"/>
            <a:ext cx="21945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자동 점검 · 팀 알림</a:t>
            </a:r>
            <a:endParaRPr lang="ko-KR" alt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10283800" y="4722876"/>
            <a:ext cx="11215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6443320" y="5010912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6443320" y="5010912"/>
            <a:ext cx="16459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Vitest</a:t>
            </a:r>
            <a:endParaRPr lang="ko-KR" altLang="en-US" sz="1050" dirty="0"/>
          </a:p>
        </p:txBody>
      </p:sp>
      <p:sp>
        <p:nvSpPr>
          <p:cNvPr id="76" name="Text 71"/>
          <p:cNvSpPr txBox="1"/>
          <p:nvPr/>
        </p:nvSpPr>
        <p:spPr>
          <a:xfrm>
            <a:off x="8089240" y="5010912"/>
            <a:ext cx="21945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훅·유틸 회귀 테스트</a:t>
            </a:r>
            <a:endParaRPr lang="ko-KR" altLang="en-US" sz="1000" dirty="0"/>
          </a:p>
        </p:txBody>
      </p:sp>
      <p:sp>
        <p:nvSpPr>
          <p:cNvPr id="77" name="Text 72"/>
          <p:cNvSpPr txBox="1"/>
          <p:nvPr/>
        </p:nvSpPr>
        <p:spPr>
          <a:xfrm>
            <a:off x="10283800" y="5010912"/>
            <a:ext cx="11215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900" dirty="0"/>
          </a:p>
        </p:txBody>
      </p:sp>
      <p:sp>
        <p:nvSpPr>
          <p:cNvPr id="78" name="Shape 73"/>
          <p:cNvSpPr/>
          <p:nvPr/>
        </p:nvSpPr>
        <p:spPr>
          <a:xfrm>
            <a:off x="6443320" y="5298948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6443320" y="5298948"/>
            <a:ext cx="16459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JUnit · MockMvc</a:t>
            </a:r>
            <a:endParaRPr lang="ko-KR" altLang="en-US" sz="1050" dirty="0"/>
          </a:p>
        </p:txBody>
      </p:sp>
      <p:sp>
        <p:nvSpPr>
          <p:cNvPr id="80" name="Text 75"/>
          <p:cNvSpPr txBox="1"/>
          <p:nvPr/>
        </p:nvSpPr>
        <p:spPr>
          <a:xfrm>
            <a:off x="8089240" y="5298948"/>
            <a:ext cx="21945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API · 권한 검증 테스트</a:t>
            </a:r>
            <a:endParaRPr lang="ko-KR" altLang="en-US" sz="1000" dirty="0"/>
          </a:p>
        </p:txBody>
      </p:sp>
      <p:sp>
        <p:nvSpPr>
          <p:cNvPr id="81" name="Text 76"/>
          <p:cNvSpPr txBox="1"/>
          <p:nvPr/>
        </p:nvSpPr>
        <p:spPr>
          <a:xfrm>
            <a:off x="10283800" y="5298948"/>
            <a:ext cx="11215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900" dirty="0"/>
          </a:p>
        </p:txBody>
      </p:sp>
      <p:sp>
        <p:nvSpPr>
          <p:cNvPr id="82" name="Shape 77"/>
          <p:cNvSpPr/>
          <p:nvPr/>
        </p:nvSpPr>
        <p:spPr>
          <a:xfrm>
            <a:off x="6443320" y="5586984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83" name="Text 78"/>
          <p:cNvSpPr txBox="1"/>
          <p:nvPr/>
        </p:nvSpPr>
        <p:spPr>
          <a:xfrm>
            <a:off x="6443320" y="5586984"/>
            <a:ext cx="16459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</a:t>
            </a:r>
            <a:endParaRPr lang="ko-KR" altLang="en-US" sz="1050" dirty="0"/>
          </a:p>
        </p:txBody>
      </p:sp>
      <p:sp>
        <p:nvSpPr>
          <p:cNvPr id="84" name="Text 79"/>
          <p:cNvSpPr txBox="1"/>
          <p:nvPr/>
        </p:nvSpPr>
        <p:spPr>
          <a:xfrm>
            <a:off x="8089240" y="5586984"/>
            <a:ext cx="21945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예측 로직 테스트</a:t>
            </a:r>
            <a:endParaRPr lang="ko-KR" altLang="en-US" sz="1000" dirty="0"/>
          </a:p>
        </p:txBody>
      </p:sp>
      <p:sp>
        <p:nvSpPr>
          <p:cNvPr id="85" name="Text 80"/>
          <p:cNvSpPr txBox="1"/>
          <p:nvPr/>
        </p:nvSpPr>
        <p:spPr>
          <a:xfrm>
            <a:off x="10283800" y="5586984"/>
            <a:ext cx="11215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900" dirty="0"/>
          </a:p>
        </p:txBody>
      </p:sp>
      <p:sp>
        <p:nvSpPr>
          <p:cNvPr id="86" name="Shape 81"/>
          <p:cNvSpPr/>
          <p:nvPr/>
        </p:nvSpPr>
        <p:spPr>
          <a:xfrm>
            <a:off x="6443320" y="5875020"/>
            <a:ext cx="4961992" cy="0"/>
          </a:xfrm>
          <a:prstGeom prst="line">
            <a:avLst/>
          </a:prstGeom>
          <a:noFill/>
          <a:ln w="9525">
            <a:solidFill>
              <a:srgbClr val="1C1F2A"/>
            </a:solidFill>
            <a:prstDash val="solid"/>
          </a:ln>
        </p:spPr>
      </p:sp>
      <p:sp>
        <p:nvSpPr>
          <p:cNvPr id="87" name="Text 82"/>
          <p:cNvSpPr txBox="1"/>
          <p:nvPr/>
        </p:nvSpPr>
        <p:spPr>
          <a:xfrm>
            <a:off x="6443320" y="5875020"/>
            <a:ext cx="16459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Jira · Discord · Slack</a:t>
            </a:r>
            <a:endParaRPr lang="ko-KR" altLang="en-US" sz="1000" dirty="0"/>
          </a:p>
        </p:txBody>
      </p:sp>
      <p:sp>
        <p:nvSpPr>
          <p:cNvPr id="88" name="Text 83"/>
          <p:cNvSpPr txBox="1"/>
          <p:nvPr/>
        </p:nvSpPr>
        <p:spPr>
          <a:xfrm>
            <a:off x="8089240" y="5875020"/>
            <a:ext cx="21945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추적 · PR 알림봇 연동</a:t>
            </a:r>
            <a:endParaRPr lang="ko-KR" altLang="en-US" sz="1000" dirty="0"/>
          </a:p>
        </p:txBody>
      </p:sp>
      <p:sp>
        <p:nvSpPr>
          <p:cNvPr id="89" name="Text 84"/>
          <p:cNvSpPr txBox="1"/>
          <p:nvPr/>
        </p:nvSpPr>
        <p:spPr>
          <a:xfrm>
            <a:off x="10283800" y="5875020"/>
            <a:ext cx="11215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900" dirty="0"/>
          </a:p>
        </p:txBody>
      </p:sp>
      <p:sp>
        <p:nvSpPr>
          <p:cNvPr id="90" name="Text 85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91" name="Text 86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726694" cy="310896"/>
          </a:xfrm>
          <a:prstGeom prst="roundRect">
            <a:avLst>
              <a:gd name="adj" fmla="val 50000"/>
            </a:avLst>
          </a:prstGeom>
          <a:solidFill>
            <a:srgbClr val="231F35"/>
          </a:solidFill>
          <a:ln w="9525">
            <a:solidFill>
              <a:srgbClr val="5145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868680"/>
            <a:ext cx="7266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ko-KR" alt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4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서비스 개발 심화 과정</a:t>
            </a:r>
            <a:endParaRPr lang="ko-KR" alt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96012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4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· DL · LLM 개인 프로젝트 3건과, 이를 서비스 기능으로 구현한 팀 프로젝트 1건입니다.</a:t>
            </a:r>
            <a:endParaRPr lang="ko-KR" alt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80640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5257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 ~ 2026.08 · 프로젝트 4건</a:t>
            </a:r>
            <a:endParaRPr lang="ko-KR" alt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2609012" cy="2834640"/>
          </a:xfrm>
          <a:prstGeom prst="roundRect">
            <a:avLst>
              <a:gd name="adj" fmla="val 490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38728"/>
            <a:ext cx="2389556" cy="1188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8096" y="4873752"/>
            <a:ext cx="891921" cy="219456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8096" y="4873752"/>
            <a:ext cx="8919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프로젝트</a:t>
            </a:r>
            <a:endParaRPr lang="ko-KR" alt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714881" y="4873752"/>
            <a:ext cx="341376" cy="219456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714881" y="4873752"/>
            <a:ext cx="34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ko-KR" alt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768096" y="5166360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5532120"/>
            <a:ext cx="21701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회의·업무·기록·평가를 AI가 하나의 흐름으로 잇는 협업 플랫폼</a:t>
            </a:r>
            <a:endParaRPr lang="ko-KR" alt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377108" y="3429000"/>
            <a:ext cx="2609012" cy="2834640"/>
          </a:xfrm>
          <a:prstGeom prst="roundRect">
            <a:avLst>
              <a:gd name="adj" fmla="val 490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836" y="3538728"/>
            <a:ext cx="2389556" cy="11887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596564" y="4873752"/>
            <a:ext cx="445008" cy="219456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596564" y="4873752"/>
            <a:ext cx="44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ko-KR" alt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096436" y="4873752"/>
            <a:ext cx="980440" cy="219456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096436" y="4873752"/>
            <a:ext cx="98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+ DL + LLM</a:t>
            </a:r>
            <a:endParaRPr lang="ko-KR" alt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3596564" y="5166360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Curatio</a:t>
            </a:r>
            <a:endParaRPr lang="ko-KR" alt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3596564" y="5532120"/>
            <a:ext cx="21701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회화 이미지를 벡터로 검색하고, LLM이 도슨트처럼 해설해 주는 미술 감상 서비스</a:t>
            </a:r>
            <a:endParaRPr lang="ko-KR" alt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05576" y="3429000"/>
            <a:ext cx="2609012" cy="2834640"/>
          </a:xfrm>
          <a:prstGeom prst="roundRect">
            <a:avLst>
              <a:gd name="adj" fmla="val 490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304" y="3538728"/>
            <a:ext cx="2389556" cy="118872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425032" y="4873752"/>
            <a:ext cx="445008" cy="219456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425032" y="4873752"/>
            <a:ext cx="44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ko-KR" alt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6924904" y="4873752"/>
            <a:ext cx="375920" cy="219456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924904" y="4873752"/>
            <a:ext cx="37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</a:t>
            </a:r>
            <a:endParaRPr lang="ko-KR" alt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6425032" y="5166360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artClassifier</a:t>
            </a:r>
            <a:endParaRPr lang="ko-KR" alt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425032" y="5532120"/>
            <a:ext cx="21701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회화 이미지를 5개 미술 사조로 분류하는 딥러닝 모델</a:t>
            </a:r>
            <a:endParaRPr lang="ko-KR" alt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034043" y="3429000"/>
            <a:ext cx="2609012" cy="2834640"/>
          </a:xfrm>
          <a:prstGeom prst="roundRect">
            <a:avLst>
              <a:gd name="adj" fmla="val 490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143771" y="3538728"/>
            <a:ext cx="2389556" cy="1188720"/>
          </a:xfrm>
          <a:prstGeom prst="roundRect">
            <a:avLst>
              <a:gd name="adj" fmla="val 4615"/>
            </a:avLst>
          </a:prstGeom>
          <a:solidFill>
            <a:srgbClr val="222134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4229" y="3858768"/>
            <a:ext cx="548640" cy="54864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9253499" y="4873752"/>
            <a:ext cx="445008" cy="219456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9253499" y="4873752"/>
            <a:ext cx="44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ko-KR" alt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9753371" y="4873752"/>
            <a:ext cx="375920" cy="219456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753371" y="4873752"/>
            <a:ext cx="37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</a:t>
            </a:r>
            <a:endParaRPr lang="ko-KR" altLang="en-US" sz="850" dirty="0"/>
          </a:p>
        </p:txBody>
      </p:sp>
      <p:sp>
        <p:nvSpPr>
          <p:cNvPr id="39" name="Text 32"/>
          <p:cNvSpPr txBox="1"/>
          <p:nvPr/>
        </p:nvSpPr>
        <p:spPr>
          <a:xfrm>
            <a:off x="9253499" y="5166360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게이머 사회적 고립도 예측</a:t>
            </a:r>
            <a:endParaRPr lang="ko-KR" alt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9253499" y="5532120"/>
            <a:ext cx="21701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행동·수면·정서 데이터로 사회적 고립 수준을 예측하는 회귀 모델</a:t>
            </a:r>
            <a:endParaRPr lang="ko-KR" altLang="en-US" sz="1050" dirty="0"/>
          </a:p>
        </p:txBody>
      </p:sp>
      <p:sp>
        <p:nvSpPr>
          <p:cNvPr id="41" name="Text 34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303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1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68883" cy="246888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96888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프로젝트</a:t>
            </a:r>
            <a:endParaRPr lang="ko-KR" alt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590675" y="868680"/>
            <a:ext cx="353568" cy="246888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90675" y="868680"/>
            <a:ext cx="353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ko-KR" alt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43584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557784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프로젝트의 회의·업무·기록·평가를 AI가 하나의 흐름으로 잇는 협업 플랫폼</a:t>
            </a:r>
            <a:endParaRPr lang="ko-KR" alt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7469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1248" y="271068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2026.07.06 ~ 08.05 (4주)</a:t>
            </a:r>
            <a:endParaRPr lang="ko-KR" alt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38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" y="3039872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3팀 · 6인 기능 오너제</a:t>
            </a:r>
            <a:endParaRPr lang="ko-KR" alt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330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" y="336905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FS-3 대시보드 담당 — 화면 · API · DB · ML</a:t>
            </a:r>
            <a:endParaRPr lang="ko-KR" alt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789680"/>
            <a:ext cx="938784" cy="274320"/>
          </a:xfrm>
          <a:prstGeom prst="roundRect">
            <a:avLst>
              <a:gd name="adj" fmla="val 26667"/>
            </a:avLst>
          </a:prstGeom>
          <a:solidFill>
            <a:srgbClr val="222134"/>
          </a:solidFill>
          <a:ln w="9525">
            <a:solidFill>
              <a:srgbClr val="4E447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53688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9536" y="3789680"/>
            <a:ext cx="57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u="sng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https://github.com/rhantj/work-flo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ko-KR" alt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578864" y="3789680"/>
            <a:ext cx="1037844" cy="274320"/>
          </a:xfrm>
          <a:prstGeom prst="roundRect">
            <a:avLst>
              <a:gd name="adj" fmla="val 26667"/>
            </a:avLst>
          </a:prstGeom>
          <a:solidFill>
            <a:srgbClr val="222134"/>
          </a:solidFill>
          <a:ln w="9525">
            <a:solidFill>
              <a:srgbClr val="4E447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8592" y="3853688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89760" y="3789680"/>
            <a:ext cx="672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u="sng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invalidUrl="" action="" tgtFrame="" tooltip="https://youtu.be/D5jy2qbKh7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시연 영상</a:t>
            </a:r>
            <a:endParaRPr lang="ko-KR" alt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400800" y="548640"/>
            <a:ext cx="5242255" cy="3840480"/>
          </a:xfrm>
          <a:prstGeom prst="roundRect">
            <a:avLst>
              <a:gd name="adj" fmla="val 2381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547104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3" name="Shape 16"/>
          <p:cNvSpPr/>
          <p:nvPr/>
        </p:nvSpPr>
        <p:spPr>
          <a:xfrm>
            <a:off x="6693408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17"/>
          <p:cNvSpPr/>
          <p:nvPr/>
        </p:nvSpPr>
        <p:spPr>
          <a:xfrm>
            <a:off x="6839712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5" name="Shape 18"/>
          <p:cNvSpPr/>
          <p:nvPr/>
        </p:nvSpPr>
        <p:spPr>
          <a:xfrm>
            <a:off x="7040880" y="608076"/>
            <a:ext cx="1454912" cy="155448"/>
          </a:xfrm>
          <a:prstGeom prst="roundRect">
            <a:avLst>
              <a:gd name="adj" fmla="val 29412"/>
            </a:avLst>
          </a:prstGeom>
          <a:solidFill>
            <a:srgbClr val="0A0B10"/>
          </a:solidFill>
          <a:ln w="9525">
            <a:solidFill>
              <a:srgbClr val="1C1F2A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7040880" y="608076"/>
            <a:ext cx="1454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0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workflow-ai · /dashboard</a:t>
            </a:r>
            <a:endParaRPr lang="ko-KR" altLang="en-US" sz="8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2804" y="822960"/>
            <a:ext cx="5178247" cy="353415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48640" y="4663440"/>
            <a:ext cx="5577840" cy="1572768"/>
          </a:xfrm>
          <a:prstGeom prst="roundRect">
            <a:avLst>
              <a:gd name="adj" fmla="val 814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54864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ko-KR" altLang="en-US" sz="2600" dirty="0"/>
          </a:p>
        </p:txBody>
      </p:sp>
      <p:sp>
        <p:nvSpPr>
          <p:cNvPr id="30" name="Text 22"/>
          <p:cNvSpPr txBox="1"/>
          <p:nvPr/>
        </p:nvSpPr>
        <p:spPr>
          <a:xfrm>
            <a:off x="59436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화면</a:t>
            </a:r>
            <a:endParaRPr lang="ko-KR" alt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194310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194310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ko-KR" altLang="en-US" sz="2600" dirty="0"/>
          </a:p>
        </p:txBody>
      </p:sp>
      <p:sp>
        <p:nvSpPr>
          <p:cNvPr id="33" name="Text 25"/>
          <p:cNvSpPr txBox="1"/>
          <p:nvPr/>
        </p:nvSpPr>
        <p:spPr>
          <a:xfrm>
            <a:off x="198882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</a:t>
            </a:r>
            <a:endParaRPr lang="ko-KR" alt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333756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333756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ko-KR" altLang="en-US" sz="2600" dirty="0"/>
          </a:p>
        </p:txBody>
      </p:sp>
      <p:sp>
        <p:nvSpPr>
          <p:cNvPr id="36" name="Text 28"/>
          <p:cNvSpPr txBox="1"/>
          <p:nvPr/>
        </p:nvSpPr>
        <p:spPr>
          <a:xfrm>
            <a:off x="338328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모델</a:t>
            </a:r>
            <a:endParaRPr lang="ko-KR" alt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473202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473202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ko-KR" altLang="en-US" sz="2600" dirty="0"/>
          </a:p>
        </p:txBody>
      </p:sp>
      <p:sp>
        <p:nvSpPr>
          <p:cNvPr id="39" name="Text 31"/>
          <p:cNvSpPr txBox="1"/>
          <p:nvPr/>
        </p:nvSpPr>
        <p:spPr>
          <a:xfrm>
            <a:off x="477774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훅</a:t>
            </a:r>
            <a:endParaRPr lang="ko-KR" alt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400800" y="4663440"/>
            <a:ext cx="5242255" cy="1572768"/>
          </a:xfrm>
          <a:prstGeom prst="roundRect">
            <a:avLst>
              <a:gd name="adj" fmla="val 8140"/>
            </a:avLst>
          </a:prstGeom>
          <a:solidFill>
            <a:srgbClr val="242538"/>
          </a:solidFill>
          <a:ln w="9525">
            <a:solidFill>
              <a:srgbClr val="443D66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544" y="4882896"/>
            <a:ext cx="182880" cy="18288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912864" y="4846320"/>
            <a:ext cx="451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내 위치</a:t>
            </a:r>
            <a:endParaRPr lang="ko-KR" altLang="en-US" sz="1150" dirty="0"/>
          </a:p>
        </p:txBody>
      </p:sp>
      <p:sp>
        <p:nvSpPr>
          <p:cNvPr id="43" name="Text 34"/>
          <p:cNvSpPr txBox="1"/>
          <p:nvPr/>
        </p:nvSpPr>
        <p:spPr>
          <a:xfrm>
            <a:off x="6638544" y="5175504"/>
            <a:ext cx="476676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AI가 만든 To-Do가 업무보드에 반영되면, 대시보드는 그 업무·활동 데이터로 지연 위험도와 업무 편중도를 계산해 보여줍니다. 다른 기능에서 쌓인 데이터를 조회·분석하는 부분입니다.</a:t>
            </a:r>
            <a:endParaRPr lang="ko-KR" altLang="en-US" sz="1150" dirty="0"/>
          </a:p>
        </p:txBody>
      </p:sp>
      <p:sp>
        <p:nvSpPr>
          <p:cNvPr id="44" name="Text 35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담당 기능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담당 기능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6624" cy="1466088"/>
          </a:xfrm>
          <a:prstGeom prst="roundRect">
            <a:avLst>
              <a:gd name="adj" fmla="val 87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1787652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64208"/>
            <a:ext cx="440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홈 + 상세 8화면</a:t>
            </a:r>
            <a:endParaRPr lang="ko-KR" alt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029968"/>
            <a:ext cx="440420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진행률 분석 · 블로커 관리 · 마감 임박 · 팀원별 업무량 · 최근 활동 · 전체 업무 관리를 역할(팀장/팀원)에 따라 다르게 노출</a:t>
            </a:r>
            <a:endParaRPr lang="ko-KR" alt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6432" y="1463040"/>
            <a:ext cx="5446624" cy="1466088"/>
          </a:xfrm>
          <a:prstGeom prst="roundRect">
            <a:avLst>
              <a:gd name="adj" fmla="val 87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15888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044" y="178765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19392" y="1664208"/>
            <a:ext cx="440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API 13개</a:t>
            </a:r>
            <a:endParaRPr lang="ko-KR" alt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019392" y="2029968"/>
            <a:ext cx="440420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6 · 마일스톤 3 · 재분석 작업 4. tasks · milestones · activities · ml_predictions 4개 테이블을 집계하고, @PreAuthorize로 팀장 전용(마일스톤 CRUD)과 멤버 권한을 분리</a:t>
            </a:r>
            <a:endParaRPr lang="ko-KR" alt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130296"/>
            <a:ext cx="5446624" cy="1466088"/>
          </a:xfrm>
          <a:prstGeom prst="roundRect">
            <a:avLst>
              <a:gd name="adj" fmla="val 87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68096" y="3349752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3454908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331464"/>
            <a:ext cx="440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지연 위험도 예측</a:t>
            </a:r>
            <a:endParaRPr lang="ko-KR" alt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3697224"/>
            <a:ext cx="440420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업무별 피처 약 35개를 생성해 정상/주의/위험 3분류. 체크리스트 진행률과 경과 시간의 차이(imbalance index)로 경과 시간 대비 진행이 더딘 업무를 탐지</a:t>
            </a:r>
            <a:endParaRPr lang="ko-KR" alt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96432" y="3130296"/>
            <a:ext cx="5446624" cy="1466088"/>
          </a:xfrm>
          <a:prstGeom prst="roundRect">
            <a:avLst>
              <a:gd name="adj" fmla="val 87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15888" y="3349752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044" y="3454908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19392" y="3331464"/>
            <a:ext cx="440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업무 편중 점수</a:t>
            </a:r>
            <a:endParaRPr lang="ko-KR" alt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019392" y="3697224"/>
            <a:ext cx="440420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규모에 따라 MAD 기반 Modified Z-score와 Isolation Forest를 자동 전환. 0~100 점수와 함께 과부하 의심 / 배정량 불균형을 구분해 판정</a:t>
            </a:r>
            <a:endParaRPr lang="ko-KR" alt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797552"/>
            <a:ext cx="5446624" cy="1466088"/>
          </a:xfrm>
          <a:prstGeom prst="roundRect">
            <a:avLst>
              <a:gd name="adj" fmla="val 87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68096" y="501700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" y="5122164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71600" y="4998720"/>
            <a:ext cx="440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갱신 처리</a:t>
            </a:r>
            <a:endParaRPr lang="ko-KR" alt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371600" y="5364480"/>
            <a:ext cx="440420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15초마다 시그니처만 비교해 실제 변경이 있을 때만 갱신하므로 스크롤·선택 상태가 유지됨. 요청 세대 번호로 프로젝트 전환 시 도착한 이전 응답(stale)을 폐기</a:t>
            </a:r>
            <a:endParaRPr lang="ko-KR" alt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96432" y="4797552"/>
            <a:ext cx="5446624" cy="1466088"/>
          </a:xfrm>
          <a:prstGeom prst="roundRect">
            <a:avLst>
              <a:gd name="adj" fmla="val 87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15888" y="501700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1044" y="5122164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019392" y="4998720"/>
            <a:ext cx="440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폴더 구조 · 문서화</a:t>
            </a:r>
            <a:endParaRPr lang="ko-KR" alt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7019392" y="5364480"/>
            <a:ext cx="4404208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구조 설계를 자원해 Frontend(React) / Backend(Spring Boot) / AI Backend(FastAPI) 3계층 구조를 참고 자료와 함께 팀 채널에 공유했고, PL 검토 의견을 반영한 구조도를 다시 공유. 설계 · 개발 · 트러블슈팅 문서 14건과 착수보고서 「개발 수행 계획」 작성</a:t>
            </a:r>
            <a:endParaRPr lang="ko-KR" altLang="en-US" sz="9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수치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흐름과 담당 산출물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26716" cy="1417320"/>
          </a:xfrm>
          <a:prstGeom prst="roundRect">
            <a:avLst>
              <a:gd name="adj" fmla="val 90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3398" y="168249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698" y="1796796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231136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대시보드</a:t>
            </a:r>
            <a:endParaRPr lang="ko-KR" alt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523744"/>
            <a:ext cx="238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화면 · 훅 5개</a:t>
            </a:r>
            <a:endParaRPr lang="ko-KR" alt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220" y="206197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4540" y="1463040"/>
            <a:ext cx="2526716" cy="1417320"/>
          </a:xfrm>
          <a:prstGeom prst="roundRect">
            <a:avLst>
              <a:gd name="adj" fmla="val 90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439298" y="168249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598" y="179679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77692" y="2231136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ko-KR" alt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3477692" y="2523744"/>
            <a:ext cx="238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· 권한 검증</a:t>
            </a:r>
            <a:endParaRPr lang="ko-KR" alt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120" y="2061972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60440" y="1463040"/>
            <a:ext cx="2526716" cy="1417320"/>
          </a:xfrm>
          <a:prstGeom prst="roundRect">
            <a:avLst>
              <a:gd name="adj" fmla="val 90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295198" y="168249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9498" y="1796796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333592" y="2231136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ko-KR" alt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6333592" y="2523744"/>
            <a:ext cx="238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테이블</a:t>
            </a:r>
            <a:endParaRPr lang="ko-KR" alt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2019" y="2061972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16339" y="1463040"/>
            <a:ext cx="2526716" cy="1417320"/>
          </a:xfrm>
          <a:prstGeom prst="roundRect">
            <a:avLst>
              <a:gd name="adj" fmla="val 90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10151097" y="168249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5397" y="1796796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189491" y="2231136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× 2</a:t>
            </a:r>
            <a:endParaRPr lang="ko-KR" alt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9189491" y="2523744"/>
            <a:ext cx="238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위험 · 업무 편중</a:t>
            </a:r>
            <a:endParaRPr lang="ko-KR" alt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548640" y="3118104"/>
            <a:ext cx="6309360" cy="3145536"/>
          </a:xfrm>
          <a:prstGeom prst="roundRect">
            <a:avLst>
              <a:gd name="adj" fmla="val 407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786384" y="3300984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산출물</a:t>
            </a:r>
            <a:endParaRPr lang="ko-KR" altLang="en-US" sz="12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40080" y="3621024"/>
          <a:ext cx="6080760" cy="25054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30" name="Shape 20"/>
          <p:cNvSpPr/>
          <p:nvPr/>
        </p:nvSpPr>
        <p:spPr>
          <a:xfrm>
            <a:off x="7077456" y="3118104"/>
            <a:ext cx="4565599" cy="3145536"/>
          </a:xfrm>
          <a:prstGeom prst="roundRect">
            <a:avLst>
              <a:gd name="adj" fmla="val 407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1" name="Text 21"/>
          <p:cNvSpPr txBox="1"/>
          <p:nvPr/>
        </p:nvSpPr>
        <p:spPr>
          <a:xfrm>
            <a:off x="7315200" y="3300984"/>
            <a:ext cx="4090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기술</a:t>
            </a:r>
            <a:endParaRPr lang="ko-KR" altLang="en-US" sz="1250" dirty="0"/>
          </a:p>
        </p:txBody>
      </p:sp>
      <p:sp>
        <p:nvSpPr>
          <p:cNvPr id="32" name="Shape 22"/>
          <p:cNvSpPr/>
          <p:nvPr/>
        </p:nvSpPr>
        <p:spPr>
          <a:xfrm>
            <a:off x="7315200" y="3721608"/>
            <a:ext cx="811149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7315200" y="3721608"/>
            <a:ext cx="811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</a:t>
            </a:r>
            <a:endParaRPr lang="ko-KR" alt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8217789" y="3721608"/>
            <a:ext cx="963168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8217789" y="3721608"/>
            <a:ext cx="96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</a:t>
            </a:r>
            <a:endParaRPr lang="ko-KR" alt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9272397" y="3721608"/>
            <a:ext cx="531114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9272397" y="3721608"/>
            <a:ext cx="531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</a:t>
            </a:r>
            <a:endParaRPr lang="ko-KR" alt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9894951" y="3721608"/>
            <a:ext cx="1229868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9894951" y="3721608"/>
            <a:ext cx="1229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CSS 4</a:t>
            </a:r>
            <a:endParaRPr lang="ko-KR" alt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7315200" y="4105656"/>
            <a:ext cx="808482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7315200" y="4105656"/>
            <a:ext cx="8084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Recharts</a:t>
            </a:r>
            <a:endParaRPr lang="ko-KR" alt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8215122" y="4105656"/>
            <a:ext cx="1264539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8215122" y="4105656"/>
            <a:ext cx="12645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3.5</a:t>
            </a:r>
            <a:endParaRPr lang="ko-KR" alt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9571101" y="4105656"/>
            <a:ext cx="741807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9571101" y="4105656"/>
            <a:ext cx="7418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</a:t>
            </a:r>
            <a:endParaRPr lang="ko-KR" alt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7315200" y="4489704"/>
            <a:ext cx="1299210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7315200" y="4489704"/>
            <a:ext cx="1299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Data JPA</a:t>
            </a:r>
            <a:endParaRPr lang="ko-KR" altLang="en-US" sz="1050" dirty="0"/>
          </a:p>
        </p:txBody>
      </p:sp>
      <p:sp>
        <p:nvSpPr>
          <p:cNvPr id="48" name="Shape 38"/>
          <p:cNvSpPr/>
          <p:nvPr/>
        </p:nvSpPr>
        <p:spPr>
          <a:xfrm>
            <a:off x="8705850" y="4489704"/>
            <a:ext cx="787146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8705850" y="4489704"/>
            <a:ext cx="787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ko-KR" altLang="en-US" sz="1050" dirty="0"/>
          </a:p>
        </p:txBody>
      </p:sp>
      <p:sp>
        <p:nvSpPr>
          <p:cNvPr id="50" name="Shape 40"/>
          <p:cNvSpPr/>
          <p:nvPr/>
        </p:nvSpPr>
        <p:spPr>
          <a:xfrm>
            <a:off x="9584436" y="4489704"/>
            <a:ext cx="1051179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9584436" y="4489704"/>
            <a:ext cx="10511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scikit-learn</a:t>
            </a:r>
            <a:endParaRPr lang="ko-KR" altLang="en-US" sz="1050" dirty="0"/>
          </a:p>
        </p:txBody>
      </p:sp>
      <p:sp>
        <p:nvSpPr>
          <p:cNvPr id="52" name="Shape 42"/>
          <p:cNvSpPr/>
          <p:nvPr/>
        </p:nvSpPr>
        <p:spPr>
          <a:xfrm>
            <a:off x="7315200" y="4873752"/>
            <a:ext cx="1696593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7315200" y="4873752"/>
            <a:ext cx="16965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Supabase</a:t>
            </a:r>
            <a:endParaRPr lang="ko-KR" altLang="en-US" sz="1050" dirty="0"/>
          </a:p>
        </p:txBody>
      </p:sp>
      <p:sp>
        <p:nvSpPr>
          <p:cNvPr id="54" name="Shape 44"/>
          <p:cNvSpPr/>
          <p:nvPr/>
        </p:nvSpPr>
        <p:spPr>
          <a:xfrm>
            <a:off x="9103233" y="4873752"/>
            <a:ext cx="893826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9103233" y="4873752"/>
            <a:ext cx="8938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LangSmith</a:t>
            </a:r>
            <a:endParaRPr lang="ko-KR" altLang="en-US" sz="1050" dirty="0"/>
          </a:p>
        </p:txBody>
      </p:sp>
      <p:sp>
        <p:nvSpPr>
          <p:cNvPr id="56" name="Shape 46"/>
          <p:cNvSpPr/>
          <p:nvPr/>
        </p:nvSpPr>
        <p:spPr>
          <a:xfrm>
            <a:off x="10088499" y="4873752"/>
            <a:ext cx="1227201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10088499" y="4873752"/>
            <a:ext cx="12272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</a:t>
            </a:r>
            <a:endParaRPr lang="ko-KR" altLang="en-US" sz="1050" dirty="0"/>
          </a:p>
        </p:txBody>
      </p:sp>
      <p:sp>
        <p:nvSpPr>
          <p:cNvPr id="58" name="Shape 48"/>
          <p:cNvSpPr/>
          <p:nvPr/>
        </p:nvSpPr>
        <p:spPr>
          <a:xfrm>
            <a:off x="7315200" y="5257800"/>
            <a:ext cx="1656588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7315200" y="5257800"/>
            <a:ext cx="1656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Jira · Slack · Discord</a:t>
            </a:r>
            <a:endParaRPr lang="ko-KR" altLang="en-US" sz="1050" dirty="0"/>
          </a:p>
        </p:txBody>
      </p:sp>
      <p:sp>
        <p:nvSpPr>
          <p:cNvPr id="60" name="Text 50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61" name="Text 51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2788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2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화면</a:t>
            </a:r>
            <a:endParaRPr lang="ko-KR" alt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00302"/>
            <a:ext cx="278892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역할(팀장/팀원)에 따라 다르게 보이는 대시보드 상세 화면입니다. 카드 데이터는 Spring Boot 집계 API와 FastAPI 예측 결과를 사용합니다.</a:t>
            </a:r>
            <a:endParaRPr lang="ko-KR" alt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749040" y="548640"/>
            <a:ext cx="3828136" cy="2395728"/>
          </a:xfrm>
          <a:prstGeom prst="roundRect">
            <a:avLst>
              <a:gd name="adj" fmla="val 3817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95344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7" name="Shape 5"/>
          <p:cNvSpPr/>
          <p:nvPr/>
        </p:nvSpPr>
        <p:spPr>
          <a:xfrm>
            <a:off x="4041648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87952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4" y="822960"/>
            <a:ext cx="3764128" cy="20894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749040" y="3008376"/>
            <a:ext cx="382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팀원별 업무량 — ML 업무 편중 점수와 과부하 판정</a:t>
            </a:r>
            <a:endParaRPr lang="ko-KR" alt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14920" y="548640"/>
            <a:ext cx="3828136" cy="2395728"/>
          </a:xfrm>
          <a:prstGeom prst="roundRect">
            <a:avLst>
              <a:gd name="adj" fmla="val 3817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961224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3" name="Shape 10"/>
          <p:cNvSpPr/>
          <p:nvPr/>
        </p:nvSpPr>
        <p:spPr>
          <a:xfrm>
            <a:off x="8107528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1"/>
          <p:cNvSpPr/>
          <p:nvPr/>
        </p:nvSpPr>
        <p:spPr>
          <a:xfrm>
            <a:off x="8253832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924" y="822960"/>
            <a:ext cx="3764128" cy="208940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814920" y="3008376"/>
            <a:ext cx="382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블로커 관리 — 심각도·지속시간·지연 위험 분석</a:t>
            </a:r>
            <a:endParaRPr lang="ko-KR" alt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749040" y="3493008"/>
            <a:ext cx="3828136" cy="2395728"/>
          </a:xfrm>
          <a:prstGeom prst="roundRect">
            <a:avLst>
              <a:gd name="adj" fmla="val 3817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95344" y="3589020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9" name="Shape 15"/>
          <p:cNvSpPr/>
          <p:nvPr/>
        </p:nvSpPr>
        <p:spPr>
          <a:xfrm>
            <a:off x="4041648" y="3589020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hape 16"/>
          <p:cNvSpPr/>
          <p:nvPr/>
        </p:nvSpPr>
        <p:spPr>
          <a:xfrm>
            <a:off x="4187952" y="3589020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3767328"/>
            <a:ext cx="3764128" cy="208940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749040" y="5952744"/>
            <a:ext cx="382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진행률 — 일정 대비 진행률과 마일스톤 관리</a:t>
            </a:r>
            <a:endParaRPr lang="ko-KR" alt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814920" y="3493008"/>
            <a:ext cx="3828136" cy="2395728"/>
          </a:xfrm>
          <a:prstGeom prst="roundRect">
            <a:avLst>
              <a:gd name="adj" fmla="val 3817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961224" y="3589020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5" name="Shape 20"/>
          <p:cNvSpPr/>
          <p:nvPr/>
        </p:nvSpPr>
        <p:spPr>
          <a:xfrm>
            <a:off x="8107528" y="3589020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1"/>
          <p:cNvSpPr/>
          <p:nvPr/>
        </p:nvSpPr>
        <p:spPr>
          <a:xfrm>
            <a:off x="8253832" y="3589020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6924" y="3767328"/>
            <a:ext cx="3764128" cy="208940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814920" y="5952744"/>
            <a:ext cx="382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업무 관리 — 검색·필터·인라인 상태 변경</a:t>
            </a:r>
            <a:endParaRPr lang="ko-KR" alt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구조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구성도</a:t>
            </a:r>
            <a:endParaRPr lang="ko-KR" alt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범위: 대시보드 API(Backend API), 지연 위험도 · 업무 편중 모델(AI/ML Backend)</a:t>
            </a:r>
            <a:endParaRPr lang="ko-KR" alt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760720" cy="4151376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360490"/>
            <a:ext cx="5504688" cy="29965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시스템 구성도 — OCI Ubuntu 24.04 VM 한 대에서 컨테이너로 운영</a:t>
            </a:r>
            <a:endParaRPr lang="ko-KR" alt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47104" y="1783080"/>
            <a:ext cx="5095951" cy="4480560"/>
          </a:xfrm>
          <a:prstGeom prst="roundRect">
            <a:avLst>
              <a:gd name="adj" fmla="val 285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203911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14032" y="1993392"/>
            <a:ext cx="4272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ko-KR" alt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812280" y="2559177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004304" y="2514600"/>
            <a:ext cx="43827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ko-KR" alt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004304" y="2713482"/>
            <a:ext cx="4382719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9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 · React(TypeScript · Vite · Tailwind). /api/* 요청을 Backend로 리버스 프록시</a:t>
            </a:r>
            <a:endParaRPr lang="ko-KR" alt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812280" y="3254121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004304" y="3209544"/>
            <a:ext cx="43827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API</a:t>
            </a:r>
            <a:endParaRPr lang="ko-KR" alt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004304" y="3408426"/>
            <a:ext cx="4382719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9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3.5 · Java 21, JWT · RBAC. 인증 · 업무보드 · 회의록 · 대시보드 API, FastAPI 호출</a:t>
            </a:r>
            <a:endParaRPr lang="ko-KR" alt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812280" y="3949065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004304" y="3904488"/>
            <a:ext cx="43827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AI/ML Backend</a:t>
            </a:r>
            <a:endParaRPr lang="ko-KR" alt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7004304" y="4103370"/>
            <a:ext cx="4382719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9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Python 3.12. 회의록 분석 · To-Do 후보 추출, RAG Assistant, 지연 위험도 분석</a:t>
            </a:r>
            <a:endParaRPr lang="ko-KR" alt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812280" y="4644009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004304" y="4599432"/>
            <a:ext cx="43827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큐</a:t>
            </a:r>
            <a:endParaRPr lang="ko-KR" alt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004304" y="4798314"/>
            <a:ext cx="4382719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9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+ pgvector(업무 · 회의록 · RAG 벡터), Redis(회의록 분석 비동기 큐)</a:t>
            </a:r>
            <a:endParaRPr lang="ko-KR" alt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812280" y="5338953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004304" y="5294376"/>
            <a:ext cx="43827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연동 · 배포</a:t>
            </a:r>
            <a:endParaRPr lang="ko-KR" alt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7004304" y="5493258"/>
            <a:ext cx="4382719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9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Actions(main push → OCI 배포), Let's Encrypt, Google OAuth, Supabase Storage, Hugging Face</a:t>
            </a:r>
            <a:endParaRPr lang="ko-KR" alt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구조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계층 구조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366162" cy="3016568"/>
          </a:xfrm>
          <a:prstGeom prst="roundRect">
            <a:avLst>
              <a:gd name="adj" fmla="val 3092"/>
            </a:avLst>
          </a:prstGeom>
          <a:solidFill>
            <a:srgbClr val="FFFFFF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17904"/>
            <a:ext cx="2256434" cy="2906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552760"/>
            <a:ext cx="2366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(React)</a:t>
            </a:r>
            <a:endParaRPr lang="ko-KR" alt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079394" y="1463040"/>
            <a:ext cx="2366162" cy="2902020"/>
          </a:xfrm>
          <a:prstGeom prst="roundRect">
            <a:avLst>
              <a:gd name="adj" fmla="val 3092"/>
            </a:avLst>
          </a:prstGeom>
          <a:solidFill>
            <a:srgbClr val="FFFFFF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258" y="1517904"/>
            <a:ext cx="2256434" cy="27922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079394" y="4438212"/>
            <a:ext cx="2366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(Spring Boot)</a:t>
            </a:r>
            <a:endParaRPr lang="ko-KR" alt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610149" y="1463040"/>
            <a:ext cx="2366162" cy="182389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013" y="1517904"/>
            <a:ext cx="2256434" cy="171416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610149" y="3360082"/>
            <a:ext cx="2366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Backend (FastAPI)</a:t>
            </a:r>
            <a:endParaRPr lang="ko-KR" alt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8214055" y="1463040"/>
            <a:ext cx="3429000" cy="4800600"/>
          </a:xfrm>
          <a:prstGeom prst="roundRect">
            <a:avLst>
              <a:gd name="adj" fmla="val 373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087" y="171907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80983" y="167335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계층 구조</a:t>
            </a:r>
            <a:endParaRPr lang="ko-KR" alt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8470087" y="2194560"/>
            <a:ext cx="2916936" cy="1049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950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초반(당시 팀원 7명)에 같은 구조에서 작업할 수 있도록 3계층 구조의 방향을 참고 자료와 함께 먼저 공유했습니다. PL의 검토 의견을 반영한 구조도를 같은 날 다시 공유했고, 팀장이 일부를 수정해 프로젝트에 반영했습니다.</a:t>
            </a:r>
            <a:endParaRPr lang="ko-KR" alt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8479231" y="3489960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8671255" y="3445383"/>
            <a:ext cx="27157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(React)</a:t>
            </a:r>
            <a:endParaRPr lang="ko-KR" alt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8671255" y="3644265"/>
            <a:ext cx="2715768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9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폴더(components · hooks · libs · screen)와 공통 global 폴더(api · store · styles 등)로 구분</a:t>
            </a:r>
            <a:endParaRPr lang="ko-KR" alt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8479231" y="4350639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671255" y="4306062"/>
            <a:ext cx="27157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(Spring Boot)</a:t>
            </a:r>
            <a:endParaRPr lang="ko-KR" alt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8671255" y="4504944"/>
            <a:ext cx="2715768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9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폴더 안에 entity → repository → service → DTO → controller, 공통은 global(config · queue · client · error)</a:t>
            </a:r>
            <a:endParaRPr lang="ko-KR" alt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8479231" y="5211318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671255" y="5166741"/>
            <a:ext cx="27157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Backend (FastAPI)</a:t>
            </a:r>
            <a:endParaRPr lang="ko-KR" alt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671255" y="5365623"/>
            <a:ext cx="2715768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9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설정 core(config · logging · exceptions · middleware · queue)와 모델별 폴더(routers · schema · services)</a:t>
            </a:r>
            <a:endParaRPr lang="ko-KR" alt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14</a:t>
            </a:fld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PROBLEM SOLVING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 사례</a:t>
            </a:r>
            <a:endParaRPr lang="ko-KR" alt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개발 중 확인한 문제와 처리 과정입니다. 문제 · 분석 · 행동 · 결과 순으로 정리했습니다.</a:t>
            </a:r>
            <a:endParaRPr lang="ko-KR" alt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793699"/>
          </a:xfrm>
          <a:prstGeom prst="roundRect">
            <a:avLst>
              <a:gd name="adj" fmla="val 13825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783080"/>
            <a:ext cx="54864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ko-KR" alt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17320" y="196961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2074774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011680" y="189280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4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N+1 조회 개선으로 대시보드 로딩 2분 → 10초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2221992"/>
            <a:ext cx="7569657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</a:t>
            </a:r>
            <a:pPr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9개 화면의 로딩 시간이 2분에서 10초로 줄었습니다. 업무 140여 건 기준으로 업무 목록에서 약 140회 나가던 사용자 조회는 API당 1회로 고정됩니다.</a:t>
            </a:r>
            <a:endParaRPr lang="ko-KR" alt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855657" y="2056486"/>
            <a:ext cx="464566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55657" y="2056486"/>
            <a:ext cx="4645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N+1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0393375" y="2056486"/>
            <a:ext cx="46939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393375" y="2056486"/>
            <a:ext cx="46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</a:t>
            </a:r>
            <a:endParaRPr lang="ko-KR" alt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0935919" y="2056486"/>
            <a:ext cx="46939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35919" y="2056486"/>
            <a:ext cx="46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</a:t>
            </a:r>
            <a:endParaRPr lang="ko-KR" alt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2704795"/>
            <a:ext cx="11094415" cy="793699"/>
          </a:xfrm>
          <a:prstGeom prst="roundRect">
            <a:avLst>
              <a:gd name="adj" fmla="val 13825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" y="2704795"/>
            <a:ext cx="54864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ko-KR" alt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1417320" y="2891333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76" y="2996489"/>
            <a:ext cx="210312" cy="21031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011680" y="2814523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4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팀에서 Isolation Forest의 과부하 미탐지</a:t>
            </a:r>
            <a:endParaRPr lang="ko-KR" alt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2011680" y="3143707"/>
            <a:ext cx="7181164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</a:t>
            </a:r>
            <a:pPr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5~9명 규모에서도 과부하 팀원이 이상치로 탐지됩니다.</a:t>
            </a:r>
            <a:endParaRPr lang="ko-KR" alt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9467164" y="2978201"/>
            <a:ext cx="853059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467164" y="2978201"/>
            <a:ext cx="8530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탐지</a:t>
            </a:r>
            <a:endParaRPr lang="ko-KR" alt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10393375" y="2978201"/>
            <a:ext cx="46939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393375" y="2978201"/>
            <a:ext cx="46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ko-KR" alt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0935919" y="2978201"/>
            <a:ext cx="46939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935919" y="2978201"/>
            <a:ext cx="46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</a:t>
            </a:r>
            <a:endParaRPr lang="ko-KR" alt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48640" y="3626510"/>
            <a:ext cx="11094415" cy="793699"/>
          </a:xfrm>
          <a:prstGeom prst="roundRect">
            <a:avLst>
              <a:gd name="adj" fmla="val 13825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86384" y="3626510"/>
            <a:ext cx="54864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ko-KR" alt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1417320" y="381304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476" y="3918204"/>
            <a:ext cx="210312" cy="210312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2011680" y="373623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4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서버 장애 시 모델별 처리 방식</a:t>
            </a:r>
            <a:endParaRPr lang="ko-KR" alt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2011680" y="4065422"/>
            <a:ext cx="6763715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</a:t>
            </a:r>
            <a:pPr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서버가 응답하지 않아도 대시보드 화면은 표시되고, 값을 불러오지 못한 카드는 "0명" 대신 "…명"으로 표시됩니다.</a:t>
            </a:r>
            <a:endParaRPr lang="ko-KR" alt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9049715" y="3899916"/>
            <a:ext cx="737235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049715" y="3899916"/>
            <a:ext cx="7372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</a:t>
            </a:r>
            <a:endParaRPr lang="ko-KR" alt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9860102" y="3899916"/>
            <a:ext cx="737235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9860102" y="3899916"/>
            <a:ext cx="7372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설계</a:t>
            </a:r>
            <a:endParaRPr lang="ko-KR" alt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10670489" y="3899916"/>
            <a:ext cx="73482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10670489" y="3899916"/>
            <a:ext cx="73482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ko-KR" alt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548640" y="4548226"/>
            <a:ext cx="11094415" cy="793699"/>
          </a:xfrm>
          <a:prstGeom prst="roundRect">
            <a:avLst>
              <a:gd name="adj" fmla="val 13825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786384" y="4548226"/>
            <a:ext cx="54864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ko-KR" altLang="en-US" sz="2000" dirty="0"/>
          </a:p>
        </p:txBody>
      </p:sp>
      <p:sp>
        <p:nvSpPr>
          <p:cNvPr id="43" name="Shape 38"/>
          <p:cNvSpPr/>
          <p:nvPr/>
        </p:nvSpPr>
        <p:spPr>
          <a:xfrm>
            <a:off x="1417320" y="4734763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476" y="4839919"/>
            <a:ext cx="210312" cy="210312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2011680" y="465795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4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타임존에 따른 날짜 표시 차이</a:t>
            </a:r>
            <a:endParaRPr lang="ko-KR" altLang="en-US" sz="1400" dirty="0"/>
          </a:p>
        </p:txBody>
      </p:sp>
      <p:sp>
        <p:nvSpPr>
          <p:cNvPr id="46" name="Text 40"/>
          <p:cNvSpPr txBox="1"/>
          <p:nvPr/>
        </p:nvSpPr>
        <p:spPr>
          <a:xfrm>
            <a:off x="2011680" y="4987138"/>
            <a:ext cx="7181164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</a:t>
            </a:r>
            <a:pPr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타임존과 관계없이 모든 사용자에게 같은 날짜가 표시됩니다.</a:t>
            </a:r>
            <a:endParaRPr lang="ko-KR" alt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9467164" y="4821631"/>
            <a:ext cx="585216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9467164" y="4821631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타임존</a:t>
            </a:r>
            <a:endParaRPr lang="ko-KR" alt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10125532" y="4821631"/>
            <a:ext cx="46939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10125532" y="4821631"/>
            <a:ext cx="46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KST</a:t>
            </a:r>
            <a:endParaRPr lang="ko-KR" alt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10668076" y="4821631"/>
            <a:ext cx="737235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10668076" y="4821631"/>
            <a:ext cx="7372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처리</a:t>
            </a:r>
            <a:endParaRPr lang="ko-KR" altLang="en-US" sz="950" dirty="0"/>
          </a:p>
        </p:txBody>
      </p:sp>
      <p:sp>
        <p:nvSpPr>
          <p:cNvPr id="53" name="Shape 47"/>
          <p:cNvSpPr/>
          <p:nvPr/>
        </p:nvSpPr>
        <p:spPr>
          <a:xfrm>
            <a:off x="548640" y="5469941"/>
            <a:ext cx="11094415" cy="793699"/>
          </a:xfrm>
          <a:prstGeom prst="roundRect">
            <a:avLst>
              <a:gd name="adj" fmla="val 13825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786384" y="5469941"/>
            <a:ext cx="54864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ko-KR" altLang="en-US" sz="2000" dirty="0"/>
          </a:p>
        </p:txBody>
      </p:sp>
      <p:sp>
        <p:nvSpPr>
          <p:cNvPr id="55" name="Shape 49"/>
          <p:cNvSpPr/>
          <p:nvPr/>
        </p:nvSpPr>
        <p:spPr>
          <a:xfrm>
            <a:off x="1417320" y="565647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2476" y="5761634"/>
            <a:ext cx="210312" cy="210312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2011680" y="5579669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4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→ FastAPI 호출 실패</a:t>
            </a:r>
            <a:endParaRPr lang="ko-KR" altLang="en-US" sz="1400" dirty="0"/>
          </a:p>
        </p:txBody>
      </p:sp>
      <p:sp>
        <p:nvSpPr>
          <p:cNvPr id="58" name="Text 51"/>
          <p:cNvSpPr txBox="1"/>
          <p:nvPr/>
        </p:nvSpPr>
        <p:spPr>
          <a:xfrm>
            <a:off x="2011680" y="5908853"/>
            <a:ext cx="6749237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</a:t>
            </a:r>
            <a:pPr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ML 서버 호출이 정상적으로 응답을 받고, 장애 시 대기 시간은 최대 30초로 제한됩니다.</a:t>
            </a:r>
            <a:endParaRPr lang="ko-KR" alt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9035237" y="5743346"/>
            <a:ext cx="669671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9035237" y="5743346"/>
            <a:ext cx="66967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HTTP/2</a:t>
            </a:r>
            <a:endParaRPr lang="ko-KR" altLang="en-US" sz="950" dirty="0"/>
          </a:p>
        </p:txBody>
      </p:sp>
      <p:sp>
        <p:nvSpPr>
          <p:cNvPr id="61" name="Shape 54"/>
          <p:cNvSpPr/>
          <p:nvPr/>
        </p:nvSpPr>
        <p:spPr>
          <a:xfrm>
            <a:off x="9778060" y="5743346"/>
            <a:ext cx="701040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9778060" y="5743346"/>
            <a:ext cx="70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</a:t>
            </a:r>
            <a:endParaRPr lang="ko-KR" altLang="en-US" sz="950" dirty="0"/>
          </a:p>
        </p:txBody>
      </p:sp>
      <p:sp>
        <p:nvSpPr>
          <p:cNvPr id="63" name="Shape 56"/>
          <p:cNvSpPr/>
          <p:nvPr/>
        </p:nvSpPr>
        <p:spPr>
          <a:xfrm>
            <a:off x="10552252" y="5743346"/>
            <a:ext cx="853059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4" name="Text 57"/>
          <p:cNvSpPr txBox="1"/>
          <p:nvPr/>
        </p:nvSpPr>
        <p:spPr>
          <a:xfrm>
            <a:off x="10552252" y="5743346"/>
            <a:ext cx="85305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연동</a:t>
            </a:r>
            <a:endParaRPr lang="ko-KR" altLang="en-US" sz="950" dirty="0"/>
          </a:p>
        </p:txBody>
      </p:sp>
      <p:sp>
        <p:nvSpPr>
          <p:cNvPr id="65" name="Text 5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66" name="Text 59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15</a:t>
            </a:fld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문제 해결 01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N+1 조회 개선으로 대시보드 로딩 2분 → 10초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86600" cy="1459992"/>
          </a:xfrm>
          <a:prstGeom prst="roundRect">
            <a:avLst>
              <a:gd name="adj" fmla="val 8768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055876"/>
            <a:ext cx="457200" cy="457200"/>
          </a:xfrm>
          <a:prstGeom prst="ellipse">
            <a:avLst/>
          </a:prstGeom>
          <a:solidFill>
            <a:srgbClr val="3D2631"/>
          </a:solidFill>
          <a:ln w="12700">
            <a:solidFill>
              <a:srgbClr val="8743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558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ko-KR" alt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587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ko-KR" alt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700784"/>
            <a:ext cx="5852160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DB에 연결하자 대시보드 9개 화면의 로딩에 2분이 걸렸습니다. 조회 API가 업무·활동·팀원마다 UserRepository.findById를 반복 호출해, DB 왕복이 레코드 수만큼 늘어난 것이 원인이었습니다.</a:t>
            </a:r>
            <a:endParaRPr lang="ko-KR" alt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79064"/>
            <a:ext cx="7086600" cy="1459992"/>
          </a:xfrm>
          <a:prstGeom prst="roundRect">
            <a:avLst>
              <a:gd name="adj" fmla="val 8768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80460"/>
            <a:ext cx="457200" cy="457200"/>
          </a:xfrm>
          <a:prstGeom prst="ellipse">
            <a:avLst/>
          </a:prstGeom>
          <a:solidFill>
            <a:srgbClr val="3D341F"/>
          </a:solidFill>
          <a:ln w="12700">
            <a:solidFill>
              <a:srgbClr val="876A2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833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ko-KR" alt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325368"/>
            <a:ext cx="5852160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필요한 값은 담당자 이름뿐이라 연관관계 매핑을 새로 추가할 필요는 없다고 보았습니다. 조회할 id를 먼저 모아 한 번에 가져오면 기존 도메인 구조를 바꾸지 않고 왕복 횟수만 줄일 수 있다고 판단했습니다.</a:t>
            </a:r>
            <a:endParaRPr lang="ko-KR" alt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03648"/>
            <a:ext cx="7086600" cy="1459992"/>
          </a:xfrm>
          <a:prstGeom prst="roundRect">
            <a:avLst>
              <a:gd name="adj" fmla="val 8768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5305044"/>
            <a:ext cx="457200" cy="457200"/>
          </a:xfrm>
          <a:prstGeom prst="ellipse">
            <a:avLst/>
          </a:prstGeom>
          <a:solidFill>
            <a:srgbClr val="163743"/>
          </a:solidFill>
          <a:ln w="12700">
            <a:solidFill>
              <a:srgbClr val="1B74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5305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8079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ko-KR" alt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949952"/>
            <a:ext cx="5852160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업무·활동·팀원에서 필요한 user id를 Set으로 모아 findAllById 한 번으로 조회하고, 같은 방식을 조회 메서드 5곳에 적용했습니다. 읽기 메서드에는 @Transactional(readOnly = true)를 붙였습니다.</a:t>
            </a:r>
            <a:endParaRPr lang="ko-KR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54696" y="1554480"/>
            <a:ext cx="3788359" cy="4709160"/>
          </a:xfrm>
          <a:prstGeom prst="roundRect">
            <a:avLst>
              <a:gd name="adj" fmla="val 3862"/>
            </a:avLst>
          </a:prstGeom>
          <a:solidFill>
            <a:srgbClr val="172526"/>
          </a:solidFill>
          <a:ln w="9525">
            <a:solidFill>
              <a:srgbClr val="265B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9016" y="1828800"/>
            <a:ext cx="457200" cy="457200"/>
          </a:xfrm>
          <a:prstGeom prst="ellipse">
            <a:avLst/>
          </a:prstGeom>
          <a:solidFill>
            <a:srgbClr val="1E3D32"/>
          </a:solidFill>
          <a:ln w="12700">
            <a:solidFill>
              <a:srgbClr val="3184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290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ko-KR" alt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23376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ko-KR" alt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29016" y="2514600"/>
            <a:ext cx="323971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9개 화면의 로딩 시간이 2분에서 10초로 줄었습니다. 업무 140여 건 기준으로 업무 목록에서 약 140회 나가던 사용자 조회는 API당 1회로 고정됩니다.</a:t>
            </a:r>
            <a:endParaRPr lang="ko-KR" alt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389120"/>
            <a:ext cx="822960" cy="82296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129016" y="5715000"/>
            <a:ext cx="47650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29016" y="5715000"/>
            <a:ext cx="47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N+1</a:t>
            </a:r>
            <a:endParaRPr lang="ko-KR" alt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678672" y="5715000"/>
            <a:ext cx="48158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78672" y="5715000"/>
            <a:ext cx="481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</a:t>
            </a:r>
            <a:endParaRPr lang="ko-KR" alt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9233408" y="5715000"/>
            <a:ext cx="48158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33408" y="5715000"/>
            <a:ext cx="481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</a:t>
            </a:r>
            <a:endParaRPr lang="ko-KR" alt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16</a:t>
            </a:fld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문제 해결 02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팀에서 Isolation Forest의 과부하 미탐지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86600" cy="1383792"/>
          </a:xfrm>
          <a:prstGeom prst="roundRect">
            <a:avLst>
              <a:gd name="adj" fmla="val 9251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017776"/>
            <a:ext cx="457200" cy="457200"/>
          </a:xfrm>
          <a:prstGeom prst="ellipse">
            <a:avLst/>
          </a:prstGeom>
          <a:solidFill>
            <a:srgbClr val="3D2631"/>
          </a:solidFill>
          <a:ln w="12700">
            <a:solidFill>
              <a:srgbClr val="8743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17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ko-KR" alt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206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ko-KR" alt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700784"/>
            <a:ext cx="5852160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편중 이상치 탐지에서, 팀원이 5~9명일 때 과부하가 분명한 팀원을 이상치로 잡지 못하는 사례가 있었습니다.</a:t>
            </a:r>
            <a:endParaRPr lang="ko-KR" alt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02864"/>
            <a:ext cx="7086600" cy="1612392"/>
          </a:xfrm>
          <a:prstGeom prst="roundRect">
            <a:avLst>
              <a:gd name="adj" fmla="val 794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80460"/>
            <a:ext cx="457200" cy="457200"/>
          </a:xfrm>
          <a:prstGeom prst="ellipse">
            <a:avLst/>
          </a:prstGeom>
          <a:solidFill>
            <a:srgbClr val="3D341F"/>
          </a:solidFill>
          <a:ln w="12700">
            <a:solidFill>
              <a:srgbClr val="876A2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833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ko-KR" alt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249168"/>
            <a:ext cx="5852160" cy="131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Isolation Forest는 표본이 적으면 트리 분할이 불안정해집니다. 팀 규모는 바꿀 수 없으므로 표본 수에 맞는 방식이 필요하다고 보고, 소표본에서 안정적인 MAD 기반 Modified Z-score를 검토했습니다(임계값 3.5는 Iglewicz &amp; Hoaglin 권장치).</a:t>
            </a:r>
            <a:endParaRPr lang="ko-KR" alt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7086600" cy="1383792"/>
          </a:xfrm>
          <a:prstGeom prst="roundRect">
            <a:avLst>
              <a:gd name="adj" fmla="val 9251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5343144"/>
            <a:ext cx="457200" cy="457200"/>
          </a:xfrm>
          <a:prstGeom prst="ellipse">
            <a:avLst/>
          </a:prstGeom>
          <a:solidFill>
            <a:srgbClr val="163743"/>
          </a:solidFill>
          <a:ln w="12700">
            <a:solidFill>
              <a:srgbClr val="1B74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5343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8460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ko-KR" alt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026152"/>
            <a:ext cx="5852160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수가 15명 미만이면 MAD 기반으로 전환하도록 분기했습니다. MAD가 0이면 표준편차로 대체하고, 표준편차도 0인 피처는 구분에 쓸 수 없어 판단에서 제외했습니다.</a:t>
            </a:r>
            <a:endParaRPr lang="ko-KR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54696" y="1554480"/>
            <a:ext cx="3788359" cy="4709160"/>
          </a:xfrm>
          <a:prstGeom prst="roundRect">
            <a:avLst>
              <a:gd name="adj" fmla="val 3862"/>
            </a:avLst>
          </a:prstGeom>
          <a:solidFill>
            <a:srgbClr val="172526"/>
          </a:solidFill>
          <a:ln w="9525">
            <a:solidFill>
              <a:srgbClr val="265B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9016" y="1828800"/>
            <a:ext cx="457200" cy="457200"/>
          </a:xfrm>
          <a:prstGeom prst="ellipse">
            <a:avLst/>
          </a:prstGeom>
          <a:solidFill>
            <a:srgbClr val="1E3D32"/>
          </a:solidFill>
          <a:ln w="12700">
            <a:solidFill>
              <a:srgbClr val="3184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290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ko-KR" alt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23376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ko-KR" alt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29016" y="2514600"/>
            <a:ext cx="323971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5~9명 규모에서도 과부하 팀원이 이상치로 탐지됩니다.</a:t>
            </a:r>
            <a:endParaRPr lang="ko-KR" alt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389120"/>
            <a:ext cx="822960" cy="82296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129016" y="5715000"/>
            <a:ext cx="88544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29016" y="5715000"/>
            <a:ext cx="885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탐지</a:t>
            </a:r>
            <a:endParaRPr lang="ko-KR" alt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087612" y="5715000"/>
            <a:ext cx="48158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087612" y="5715000"/>
            <a:ext cx="481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ko-KR" alt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9642348" y="5715000"/>
            <a:ext cx="48158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42348" y="5715000"/>
            <a:ext cx="481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</a:t>
            </a:r>
            <a:endParaRPr lang="ko-KR" alt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문제 해결 03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서버 장애 시 모델별 처리 방식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86600" cy="1307592"/>
          </a:xfrm>
          <a:prstGeom prst="roundRect">
            <a:avLst>
              <a:gd name="adj" fmla="val 979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79676"/>
            <a:ext cx="457200" cy="457200"/>
          </a:xfrm>
          <a:prstGeom prst="ellipse">
            <a:avLst/>
          </a:prstGeom>
          <a:solidFill>
            <a:srgbClr val="3D2631"/>
          </a:solidFill>
          <a:ln w="12700">
            <a:solidFill>
              <a:srgbClr val="8743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796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ko-KR" alt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825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ko-KR" alt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700784"/>
            <a:ext cx="58521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서버 두 대(지연 위험도·업무 편중)의 호출 실패를 같은 방식으로 처리하면, 한쪽은 화면 표시가 불필요하게 실패하고 다른 쪽은 잘못된 값을 보여주게 됩니다.</a:t>
            </a:r>
            <a:endParaRPr lang="ko-KR" alt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26664"/>
            <a:ext cx="7086600" cy="1536192"/>
          </a:xfrm>
          <a:prstGeom prst="roundRect">
            <a:avLst>
              <a:gd name="adj" fmla="val 833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566160"/>
            <a:ext cx="457200" cy="457200"/>
          </a:xfrm>
          <a:prstGeom prst="ellipse">
            <a:avLst/>
          </a:prstGeom>
          <a:solidFill>
            <a:srgbClr val="3D341F"/>
          </a:solidFill>
          <a:ln w="12700">
            <a:solidFill>
              <a:srgbClr val="876A2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0690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ko-KR" alt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172968"/>
            <a:ext cx="5852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모델은 저장 방식이 다릅니다. 지연 위험도는 ml_predictions에 이력이 남아 이전 값을 쓸 수 있고, 업무 편중은 호출 시점마다 계산하는 값이라 캐시가 없습니다. 그래서 실패 처리도 저장 방식에 맞춰 나누기로 했습니다.</a:t>
            </a:r>
            <a:endParaRPr lang="ko-KR" alt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27448"/>
            <a:ext cx="7086600" cy="1536192"/>
          </a:xfrm>
          <a:prstGeom prst="roundRect">
            <a:avLst>
              <a:gd name="adj" fmla="val 833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5266944"/>
            <a:ext cx="457200" cy="457200"/>
          </a:xfrm>
          <a:prstGeom prst="ellipse">
            <a:avLst/>
          </a:prstGeom>
          <a:solidFill>
            <a:srgbClr val="163743"/>
          </a:solidFill>
          <a:ln w="12700">
            <a:solidFill>
              <a:srgbClr val="1B74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7698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ko-KR" alt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73752"/>
            <a:ext cx="5852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위험도는 예외를 처리하고 마지막으로 저장된 예측을 응답하도록, 업무 편중은 503 WORKLOAD_SCORE_UNAVAILABLE을 반환하도록 나눴습니다. 연결 3초·읽기 30초 타임아웃도 설정했습니다.</a:t>
            </a:r>
            <a:endParaRPr lang="ko-KR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54696" y="1554480"/>
            <a:ext cx="3788359" cy="4709160"/>
          </a:xfrm>
          <a:prstGeom prst="roundRect">
            <a:avLst>
              <a:gd name="adj" fmla="val 3862"/>
            </a:avLst>
          </a:prstGeom>
          <a:solidFill>
            <a:srgbClr val="172526"/>
          </a:solidFill>
          <a:ln w="9525">
            <a:solidFill>
              <a:srgbClr val="265B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9016" y="1828800"/>
            <a:ext cx="457200" cy="457200"/>
          </a:xfrm>
          <a:prstGeom prst="ellipse">
            <a:avLst/>
          </a:prstGeom>
          <a:solidFill>
            <a:srgbClr val="1E3D32"/>
          </a:solidFill>
          <a:ln w="12700">
            <a:solidFill>
              <a:srgbClr val="3184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290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ko-KR" alt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23376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ko-KR" alt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29016" y="2514600"/>
            <a:ext cx="323971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서버가 응답하지 않아도 대시보드 화면은 표시되고, 값을 불러오지 못한 카드는 "0명" 대신 "…명"으로 표시됩니다.</a:t>
            </a:r>
            <a:endParaRPr lang="ko-KR" alt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389120"/>
            <a:ext cx="822960" cy="82296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129016" y="5715000"/>
            <a:ext cx="76352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29016" y="5715000"/>
            <a:ext cx="76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</a:t>
            </a:r>
            <a:endParaRPr lang="ko-KR" alt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965692" y="5715000"/>
            <a:ext cx="76352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965692" y="5715000"/>
            <a:ext cx="76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설계</a:t>
            </a:r>
            <a:endParaRPr lang="ko-KR" alt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9802368" y="5715000"/>
            <a:ext cx="76098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802368" y="5715000"/>
            <a:ext cx="76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ko-KR" alt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18</a:t>
            </a:fld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문제 해결 04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타임존에 따른 날짜 표시 차이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86600" cy="1231392"/>
          </a:xfrm>
          <a:prstGeom prst="roundRect">
            <a:avLst>
              <a:gd name="adj" fmla="val 10396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41576"/>
            <a:ext cx="457200" cy="457200"/>
          </a:xfrm>
          <a:prstGeom prst="ellipse">
            <a:avLst/>
          </a:prstGeom>
          <a:solidFill>
            <a:srgbClr val="3D2631"/>
          </a:solidFill>
          <a:ln w="12700">
            <a:solidFill>
              <a:srgbClr val="8743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41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ko-KR" alt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444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ko-KR" alt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700784"/>
            <a:ext cx="5852160" cy="93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완료일과 경과일이 사용자의 브라우저 타임존에 따라 하루씩 다르게 표시됐습니다.</a:t>
            </a:r>
            <a:endParaRPr lang="ko-KR" alt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50464"/>
            <a:ext cx="7086600" cy="1688592"/>
          </a:xfrm>
          <a:prstGeom prst="roundRect">
            <a:avLst>
              <a:gd name="adj" fmla="val 7581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566160"/>
            <a:ext cx="457200" cy="457200"/>
          </a:xfrm>
          <a:prstGeom prst="ellipse">
            <a:avLst/>
          </a:prstGeom>
          <a:solidFill>
            <a:srgbClr val="3D341F"/>
          </a:solidFill>
          <a:ln w="12700">
            <a:solidFill>
              <a:srgbClr val="876A2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0690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ko-KR" alt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096768"/>
            <a:ext cx="5852160" cy="139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JVM은 Asia/Seoul로 고정돼 있지만 LocalDateTime 문자열에는 오프셋이 없어, 브라우저가 로컬 타임존으로 해석한 것이 원인이었습니다. 응답 포맷을 바꾸면 다른 담당자의 API에도 영향이 있어 프론트엔드의 파싱 단계에서 보정하기로 했습니다.</a:t>
            </a:r>
            <a:endParaRPr lang="ko-KR" alt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03648"/>
            <a:ext cx="7086600" cy="1459992"/>
          </a:xfrm>
          <a:prstGeom prst="roundRect">
            <a:avLst>
              <a:gd name="adj" fmla="val 8768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5305044"/>
            <a:ext cx="457200" cy="457200"/>
          </a:xfrm>
          <a:prstGeom prst="ellipse">
            <a:avLst/>
          </a:prstGeom>
          <a:solidFill>
            <a:srgbClr val="163743"/>
          </a:solidFill>
          <a:ln w="12700">
            <a:solidFill>
              <a:srgbClr val="1B74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5305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8079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ko-KR" alt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949952"/>
            <a:ext cx="5852160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오프셋이 없는 문자열에 +09:00을 붙여 파싱하고, "3일 이상 미업데이트" 같은 임계값 판정용(경과 시간 기준)과 화면 라벨용(날짜 경계 기준)을 별도 함수로 나눴습니다.</a:t>
            </a:r>
            <a:endParaRPr lang="ko-KR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54696" y="1554480"/>
            <a:ext cx="3788359" cy="4709160"/>
          </a:xfrm>
          <a:prstGeom prst="roundRect">
            <a:avLst>
              <a:gd name="adj" fmla="val 3862"/>
            </a:avLst>
          </a:prstGeom>
          <a:solidFill>
            <a:srgbClr val="172526"/>
          </a:solidFill>
          <a:ln w="9525">
            <a:solidFill>
              <a:srgbClr val="265B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9016" y="1828800"/>
            <a:ext cx="457200" cy="457200"/>
          </a:xfrm>
          <a:prstGeom prst="ellipse">
            <a:avLst/>
          </a:prstGeom>
          <a:solidFill>
            <a:srgbClr val="1E3D32"/>
          </a:solidFill>
          <a:ln w="12700">
            <a:solidFill>
              <a:srgbClr val="3184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290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ko-KR" alt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23376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ko-KR" alt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29016" y="2514600"/>
            <a:ext cx="323971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타임존과 관계없이 모든 사용자에게 같은 날짜가 표시됩니다.</a:t>
            </a:r>
            <a:endParaRPr lang="ko-KR" alt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389120"/>
            <a:ext cx="822960" cy="82296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129016" y="5715000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29016" y="57150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타임존</a:t>
            </a:r>
            <a:endParaRPr lang="ko-KR" alt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805672" y="5715000"/>
            <a:ext cx="48158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805672" y="5715000"/>
            <a:ext cx="481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KST</a:t>
            </a:r>
            <a:endParaRPr lang="ko-KR" alt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9360408" y="5715000"/>
            <a:ext cx="76352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60408" y="5715000"/>
            <a:ext cx="76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처리</a:t>
            </a:r>
            <a:endParaRPr lang="ko-KR" alt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19</a:t>
            </a:fld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AI · 문제 해결 05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→ FastAPI 호출 실패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86600" cy="1307592"/>
          </a:xfrm>
          <a:prstGeom prst="roundRect">
            <a:avLst>
              <a:gd name="adj" fmla="val 979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79676"/>
            <a:ext cx="457200" cy="457200"/>
          </a:xfrm>
          <a:prstGeom prst="ellipse">
            <a:avLst/>
          </a:prstGeom>
          <a:solidFill>
            <a:srgbClr val="3D2631"/>
          </a:solidFill>
          <a:ln w="12700">
            <a:solidFill>
              <a:srgbClr val="8743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796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ko-KR" alt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825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ko-KR" alt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700784"/>
            <a:ext cx="58521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Boot에서 내부 ML 서버(FastAPI)로 보낸 요청이 응답을 받지 못하고 실패했습니다.</a:t>
            </a:r>
            <a:endParaRPr lang="ko-KR" alt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26664"/>
            <a:ext cx="7086600" cy="1764792"/>
          </a:xfrm>
          <a:prstGeom prst="roundRect">
            <a:avLst>
              <a:gd name="adj" fmla="val 7254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80460"/>
            <a:ext cx="457200" cy="457200"/>
          </a:xfrm>
          <a:prstGeom prst="ellipse">
            <a:avLst/>
          </a:prstGeom>
          <a:solidFill>
            <a:srgbClr val="3D341F"/>
          </a:solidFill>
          <a:ln w="12700">
            <a:solidFill>
              <a:srgbClr val="876A2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833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ko-KR" alt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172968"/>
            <a:ext cx="58521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JDK HttpClient가 plaintext(http://) 대상에도 기본적으로 HTTP/2(h2c) 업그레이드를 시도하는데, uvicorn이 이를 지원하지 않는 것이 원인이었습니다. 서버를 바꾸는 것보다 클라이언트에서 프로토콜을 지정하는 편이 영향 범위가 작다고 판단했습니다.</a:t>
            </a:r>
            <a:endParaRPr lang="ko-KR" alt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956048"/>
            <a:ext cx="7086600" cy="1307592"/>
          </a:xfrm>
          <a:prstGeom prst="roundRect">
            <a:avLst>
              <a:gd name="adj" fmla="val 979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5381244"/>
            <a:ext cx="457200" cy="457200"/>
          </a:xfrm>
          <a:prstGeom prst="ellipse">
            <a:avLst/>
          </a:prstGeom>
          <a:solidFill>
            <a:srgbClr val="163743"/>
          </a:solidFill>
          <a:ln w="12700">
            <a:solidFill>
              <a:srgbClr val="1B74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53812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8841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ko-KR" alt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102352"/>
            <a:ext cx="58521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HttpClient에 HTTP_1_1을 지정하고, 응답을 무한정 기다리지 않도록 연결 3초·읽기 30초 타임아웃을 설정했습니다.</a:t>
            </a:r>
            <a:endParaRPr lang="ko-KR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54696" y="1554480"/>
            <a:ext cx="3788359" cy="4709160"/>
          </a:xfrm>
          <a:prstGeom prst="roundRect">
            <a:avLst>
              <a:gd name="adj" fmla="val 3862"/>
            </a:avLst>
          </a:prstGeom>
          <a:solidFill>
            <a:srgbClr val="172526"/>
          </a:solidFill>
          <a:ln w="9525">
            <a:solidFill>
              <a:srgbClr val="265B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9016" y="1828800"/>
            <a:ext cx="457200" cy="457200"/>
          </a:xfrm>
          <a:prstGeom prst="ellipse">
            <a:avLst/>
          </a:prstGeom>
          <a:solidFill>
            <a:srgbClr val="1E3D32"/>
          </a:solidFill>
          <a:ln w="12700">
            <a:solidFill>
              <a:srgbClr val="3184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290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ko-KR" alt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23376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ko-KR" alt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29016" y="2514600"/>
            <a:ext cx="323971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ML 서버 호출이 정상적으로 응답을 받고, 장애 시 대기 시간은 최대 30초로 제한됩니다.</a:t>
            </a:r>
            <a:endParaRPr lang="ko-KR" alt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389120"/>
            <a:ext cx="822960" cy="82296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129016" y="5715000"/>
            <a:ext cx="69240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29016" y="5715000"/>
            <a:ext cx="692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HTTP/2</a:t>
            </a:r>
            <a:endParaRPr lang="ko-KR" alt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894572" y="5715000"/>
            <a:ext cx="72542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894572" y="5715000"/>
            <a:ext cx="72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</a:t>
            </a:r>
            <a:endParaRPr lang="ko-KR" alt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9693148" y="5715000"/>
            <a:ext cx="88544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93148" y="5715000"/>
            <a:ext cx="885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연동</a:t>
            </a:r>
            <a:endParaRPr lang="ko-KR" alt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20</a:t>
            </a:fld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303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1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469392" cy="246888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46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ko-KR" alt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1184" y="868680"/>
            <a:ext cx="1067816" cy="246888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1184" y="868680"/>
            <a:ext cx="1067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+ DL + LLM</a:t>
            </a:r>
            <a:endParaRPr lang="ko-KR" alt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43584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Curatio</a:t>
            </a:r>
            <a:endParaRPr lang="ko-KR" alt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557784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회화 이미지를 벡터로 검색하고, LLM이 도슨트처럼 해설해 주는 미술 감상 서비스</a:t>
            </a:r>
            <a:endParaRPr lang="ko-KR" alt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7469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1248" y="271068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2026.07.03 ~ 07.07 (5일)</a:t>
            </a:r>
            <a:endParaRPr lang="ko-KR" alt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38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" y="3039872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</a:t>
            </a:r>
            <a:endParaRPr lang="ko-KR" alt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330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" y="336905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데이터 구축 · 모델 · 앱 구현</a:t>
            </a:r>
            <a:endParaRPr lang="ko-KR" alt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844544"/>
            <a:ext cx="628650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3844544"/>
            <a:ext cx="6286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ko-KR" alt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1250442" y="3844544"/>
            <a:ext cx="1123315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250442" y="3844544"/>
            <a:ext cx="11233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 ViT-B/32</a:t>
            </a:r>
            <a:endParaRPr lang="ko-KR" alt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446909" y="3844544"/>
            <a:ext cx="78308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446909" y="3844544"/>
            <a:ext cx="78308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ko-KR" alt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303143" y="3844544"/>
            <a:ext cx="145872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303143" y="3844544"/>
            <a:ext cx="145872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SentenceTransformer</a:t>
            </a:r>
            <a:endParaRPr lang="ko-KR" alt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835017" y="3844544"/>
            <a:ext cx="1075055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835017" y="3844544"/>
            <a:ext cx="10750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· Gemma</a:t>
            </a:r>
            <a:endParaRPr lang="ko-KR" alt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48640" y="4164584"/>
            <a:ext cx="46939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48640" y="4164584"/>
            <a:ext cx="46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ko-KR" alt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1091184" y="4164584"/>
            <a:ext cx="816864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091184" y="4164584"/>
            <a:ext cx="816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endParaRPr lang="ko-KR" alt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1981200" y="4164584"/>
            <a:ext cx="1176401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981200" y="4164584"/>
            <a:ext cx="117640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DuckDuckGo API</a:t>
            </a:r>
            <a:endParaRPr lang="ko-KR" altLang="en-US" sz="9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548640"/>
            <a:ext cx="2843288" cy="3378625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6968" y="548640"/>
            <a:ext cx="2216088" cy="337862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400800" y="4000417"/>
            <a:ext cx="3209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대표 이미지 — 페르메이르, 회화의 기술</a:t>
            </a:r>
            <a:endParaRPr lang="ko-KR" alt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9426968" y="4000417"/>
            <a:ext cx="2216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도슨트 해설 컨셉</a:t>
            </a:r>
            <a:endParaRPr lang="ko-KR" alt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48640" y="4663440"/>
            <a:ext cx="5577840" cy="1572768"/>
          </a:xfrm>
          <a:prstGeom prst="roundRect">
            <a:avLst>
              <a:gd name="adj" fmla="val 814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4864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42,500</a:t>
            </a:r>
            <a:endParaRPr lang="ko-KR" altLang="en-US" sz="2600" dirty="0"/>
          </a:p>
        </p:txBody>
      </p:sp>
      <p:sp>
        <p:nvSpPr>
          <p:cNvPr id="37" name="Text 30"/>
          <p:cNvSpPr txBox="1"/>
          <p:nvPr/>
        </p:nvSpPr>
        <p:spPr>
          <a:xfrm>
            <a:off x="59436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 특징 벡터</a:t>
            </a:r>
            <a:endParaRPr lang="ko-KR" alt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194310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194310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6,299</a:t>
            </a:r>
            <a:endParaRPr lang="ko-KR" altLang="en-US" sz="2600" dirty="0"/>
          </a:p>
        </p:txBody>
      </p:sp>
      <p:sp>
        <p:nvSpPr>
          <p:cNvPr id="40" name="Text 33"/>
          <p:cNvSpPr txBox="1"/>
          <p:nvPr/>
        </p:nvSpPr>
        <p:spPr>
          <a:xfrm>
            <a:off x="198882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문서</a:t>
            </a:r>
            <a:endParaRPr lang="ko-KR" alt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333756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333756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ko-KR" altLang="en-US" sz="2600" dirty="0"/>
          </a:p>
        </p:txBody>
      </p:sp>
      <p:sp>
        <p:nvSpPr>
          <p:cNvPr id="43" name="Text 36"/>
          <p:cNvSpPr txBox="1"/>
          <p:nvPr/>
        </p:nvSpPr>
        <p:spPr>
          <a:xfrm>
            <a:off x="338328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미술 사조</a:t>
            </a:r>
            <a:endParaRPr lang="ko-KR" alt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473202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473202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ko-KR" altLang="en-US" sz="2600" dirty="0"/>
          </a:p>
        </p:txBody>
      </p:sp>
      <p:sp>
        <p:nvSpPr>
          <p:cNvPr id="46" name="Text 39"/>
          <p:cNvSpPr txBox="1"/>
          <p:nvPr/>
        </p:nvSpPr>
        <p:spPr>
          <a:xfrm>
            <a:off x="477774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차원</a:t>
            </a:r>
            <a:endParaRPr lang="ko-KR" alt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6400800" y="4663440"/>
            <a:ext cx="5242255" cy="1572768"/>
          </a:xfrm>
          <a:prstGeom prst="roundRect">
            <a:avLst>
              <a:gd name="adj" fmla="val 8140"/>
            </a:avLst>
          </a:prstGeom>
          <a:solidFill>
            <a:srgbClr val="242538"/>
          </a:solidFill>
          <a:ln w="9525">
            <a:solidFill>
              <a:srgbClr val="443D66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4882896"/>
            <a:ext cx="182880" cy="18288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6912864" y="4846320"/>
            <a:ext cx="451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내 위치</a:t>
            </a:r>
            <a:endParaRPr lang="ko-KR" altLang="en-US" sz="1150" dirty="0"/>
          </a:p>
        </p:txBody>
      </p:sp>
      <p:sp>
        <p:nvSpPr>
          <p:cNvPr id="50" name="Text 42"/>
          <p:cNvSpPr txBox="1"/>
          <p:nvPr/>
        </p:nvSpPr>
        <p:spPr>
          <a:xfrm>
            <a:off x="6638544" y="5175504"/>
            <a:ext cx="476676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분류 모델을 특징 추출기로 재활용하고, 검색 결과를 ML 추천과 LLM 해설에 연결했습니다. 한 사용자 흐름 안에서 ML·DL·LLM을 함께 사용합니다.</a:t>
            </a:r>
            <a:endParaRPr lang="ko-KR" altLang="en-US" sz="1150" dirty="0"/>
          </a:p>
        </p:txBody>
      </p:sp>
      <p:sp>
        <p:nvSpPr>
          <p:cNvPr id="51" name="Text 43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21</a:t>
            </a:fld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CURATIO · ML + DL + LLM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파이프라인과 구현 기능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55536" cy="1371600"/>
          </a:xfrm>
          <a:prstGeom prst="roundRect">
            <a:avLst>
              <a:gd name="adj" fmla="val 933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7808" y="168249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108" y="1796796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231136"/>
            <a:ext cx="180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/ 키워드</a:t>
            </a:r>
            <a:endParaRPr lang="ko-KR" alt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523744"/>
            <a:ext cx="180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입력</a:t>
            </a:r>
            <a:endParaRPr lang="ko-KR" alt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040" y="203911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33360" y="1463040"/>
            <a:ext cx="1955536" cy="1371600"/>
          </a:xfrm>
          <a:prstGeom prst="roundRect">
            <a:avLst>
              <a:gd name="adj" fmla="val 933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82528" y="168249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828" y="179679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06512" y="2231136"/>
            <a:ext cx="180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 · centroid</a:t>
            </a:r>
            <a:endParaRPr lang="ko-KR" alt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906512" y="2523744"/>
            <a:ext cx="180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· 대표 벡터</a:t>
            </a:r>
            <a:endParaRPr lang="ko-KR" alt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760" y="2039112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118080" y="1463040"/>
            <a:ext cx="1955536" cy="1371600"/>
          </a:xfrm>
          <a:prstGeom prst="roundRect">
            <a:avLst>
              <a:gd name="adj" fmla="val 933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867248" y="168249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548" y="1796796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191232" y="2231136"/>
            <a:ext cx="180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ko-KR" alt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191232" y="2523744"/>
            <a:ext cx="180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Top-K</a:t>
            </a:r>
            <a:endParaRPr lang="ko-KR" alt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8480" y="2039112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402800" y="1463040"/>
            <a:ext cx="1955536" cy="1371600"/>
          </a:xfrm>
          <a:prstGeom prst="roundRect">
            <a:avLst>
              <a:gd name="adj" fmla="val 933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8151967" y="168249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6267" y="1796796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475952" y="2231136"/>
            <a:ext cx="180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RAG</a:t>
            </a:r>
            <a:endParaRPr lang="ko-KR" alt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7475952" y="2523744"/>
            <a:ext cx="180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근거 검색</a:t>
            </a:r>
            <a:endParaRPr lang="ko-KR" alt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3199" y="2039112"/>
            <a:ext cx="219456" cy="219456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687519" y="1463040"/>
            <a:ext cx="1955536" cy="1371600"/>
          </a:xfrm>
          <a:prstGeom prst="roundRect">
            <a:avLst>
              <a:gd name="adj" fmla="val 933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10436687" y="168249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0987" y="1796796"/>
            <a:ext cx="228600" cy="2286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9760671" y="2231136"/>
            <a:ext cx="180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</a:t>
            </a:r>
            <a:endParaRPr lang="ko-KR" altLang="en-US" sz="1300" dirty="0"/>
          </a:p>
        </p:txBody>
      </p:sp>
      <p:sp>
        <p:nvSpPr>
          <p:cNvPr id="32" name="Text 21"/>
          <p:cNvSpPr txBox="1"/>
          <p:nvPr/>
        </p:nvSpPr>
        <p:spPr>
          <a:xfrm>
            <a:off x="9760671" y="2523744"/>
            <a:ext cx="180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도슨트 해설</a:t>
            </a:r>
            <a:endParaRPr lang="ko-KR" alt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548640" y="3054096"/>
            <a:ext cx="3576218" cy="1513332"/>
          </a:xfrm>
          <a:prstGeom prst="roundRect">
            <a:avLst>
              <a:gd name="adj" fmla="val 8459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768096" y="3273552"/>
            <a:ext cx="347472" cy="347472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964" y="3360420"/>
            <a:ext cx="173736" cy="173736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1261872" y="3273552"/>
            <a:ext cx="2643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분위기 기반 추천 (ML)</a:t>
            </a:r>
            <a:endParaRPr lang="ko-KR" altLang="en-US" sz="1300" dirty="0"/>
          </a:p>
        </p:txBody>
      </p:sp>
      <p:sp>
        <p:nvSpPr>
          <p:cNvPr id="37" name="Text 25"/>
          <p:cNvSpPr txBox="1"/>
          <p:nvPr/>
        </p:nvSpPr>
        <p:spPr>
          <a:xfrm>
            <a:off x="768096" y="3749040"/>
            <a:ext cx="313730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키워드를 미술 사조에 매핑하고, 사조별 벡터 centroid를 query로 코사인 유사도 Top-K 검색. 별도의 자연어 임베딩 학습 없이 추천 근거를 제시할 수 있음</a:t>
            </a:r>
            <a:endParaRPr lang="ko-KR" altLang="en-US" sz="1000" dirty="0"/>
          </a:p>
        </p:txBody>
      </p:sp>
      <p:sp>
        <p:nvSpPr>
          <p:cNvPr id="38" name="Shape 26"/>
          <p:cNvSpPr/>
          <p:nvPr/>
        </p:nvSpPr>
        <p:spPr>
          <a:xfrm>
            <a:off x="4307738" y="3054096"/>
            <a:ext cx="3576218" cy="1513332"/>
          </a:xfrm>
          <a:prstGeom prst="roundRect">
            <a:avLst>
              <a:gd name="adj" fmla="val 8459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4527194" y="3273552"/>
            <a:ext cx="347472" cy="347472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4062" y="3360420"/>
            <a:ext cx="173736" cy="173736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5020970" y="3273552"/>
            <a:ext cx="2643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유사도 검색 (DL)</a:t>
            </a:r>
            <a:endParaRPr lang="ko-KR" altLang="en-US" sz="1300" dirty="0"/>
          </a:p>
        </p:txBody>
      </p:sp>
      <p:sp>
        <p:nvSpPr>
          <p:cNvPr id="42" name="Text 29"/>
          <p:cNvSpPr txBox="1"/>
          <p:nvPr/>
        </p:nvSpPr>
        <p:spPr>
          <a:xfrm>
            <a:off x="4527194" y="3749040"/>
            <a:ext cx="313730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 ViT-B/32로 업로드 이미지를 임베딩해 ChromaDB에서 시각적으로 가까운 작품을 조회. 기존 분류 모델을 '특징 추출기'로 재활용</a:t>
            </a:r>
            <a:endParaRPr lang="ko-KR" altLang="en-US" sz="1000" dirty="0"/>
          </a:p>
        </p:txBody>
      </p:sp>
      <p:sp>
        <p:nvSpPr>
          <p:cNvPr id="43" name="Shape 30"/>
          <p:cNvSpPr/>
          <p:nvPr/>
        </p:nvSpPr>
        <p:spPr>
          <a:xfrm>
            <a:off x="8066837" y="3054096"/>
            <a:ext cx="3576218" cy="1513332"/>
          </a:xfrm>
          <a:prstGeom prst="roundRect">
            <a:avLst>
              <a:gd name="adj" fmla="val 8459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4" name="Shape 31"/>
          <p:cNvSpPr/>
          <p:nvPr/>
        </p:nvSpPr>
        <p:spPr>
          <a:xfrm>
            <a:off x="8286293" y="3273552"/>
            <a:ext cx="347472" cy="347472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73161" y="3360420"/>
            <a:ext cx="173736" cy="173736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8780069" y="3273552"/>
            <a:ext cx="2643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RAG</a:t>
            </a:r>
            <a:endParaRPr lang="ko-KR" altLang="en-US" sz="1300" dirty="0"/>
          </a:p>
        </p:txBody>
      </p:sp>
      <p:sp>
        <p:nvSpPr>
          <p:cNvPr id="47" name="Text 33"/>
          <p:cNvSpPr txBox="1"/>
          <p:nvPr/>
        </p:nvSpPr>
        <p:spPr>
          <a:xfrm>
            <a:off x="8286293" y="3749040"/>
            <a:ext cx="313730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국립현대미술관·서울시립미술관 소장품 메타데이터를 다국어 임베딩으로 인덱싱해 해설의 근거로 사용</a:t>
            </a:r>
            <a:endParaRPr lang="ko-KR" altLang="en-US" sz="1000" dirty="0"/>
          </a:p>
        </p:txBody>
      </p:sp>
      <p:sp>
        <p:nvSpPr>
          <p:cNvPr id="48" name="Shape 34"/>
          <p:cNvSpPr/>
          <p:nvPr/>
        </p:nvSpPr>
        <p:spPr>
          <a:xfrm>
            <a:off x="548640" y="4750308"/>
            <a:ext cx="3576218" cy="1513332"/>
          </a:xfrm>
          <a:prstGeom prst="roundRect">
            <a:avLst>
              <a:gd name="adj" fmla="val 8459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>
            <a:off x="768096" y="4969764"/>
            <a:ext cx="347472" cy="347472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4964" y="5056632"/>
            <a:ext cx="173736" cy="173736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1261872" y="4969764"/>
            <a:ext cx="2643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큐레이션</a:t>
            </a:r>
            <a:endParaRPr lang="ko-KR" altLang="en-US" sz="1300" dirty="0"/>
          </a:p>
        </p:txBody>
      </p:sp>
      <p:sp>
        <p:nvSpPr>
          <p:cNvPr id="52" name="Text 37"/>
          <p:cNvSpPr txBox="1"/>
          <p:nvPr/>
        </p:nvSpPr>
        <p:spPr>
          <a:xfrm>
            <a:off x="768096" y="5445252"/>
            <a:ext cx="313730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Gemma가 RAG 근거 + 이미지 후보 + 외부 검색을 종합해 한국어 해설 생성. "근거가 부족하면 확인 불가라고 답하라"는 프롬프트로 근거 없는 답변을 줄이도록 구성</a:t>
            </a:r>
            <a:endParaRPr lang="ko-KR" altLang="en-US" sz="950" dirty="0"/>
          </a:p>
        </p:txBody>
      </p:sp>
      <p:sp>
        <p:nvSpPr>
          <p:cNvPr id="53" name="Shape 38"/>
          <p:cNvSpPr/>
          <p:nvPr/>
        </p:nvSpPr>
        <p:spPr>
          <a:xfrm>
            <a:off x="4307738" y="4750308"/>
            <a:ext cx="3576218" cy="1513332"/>
          </a:xfrm>
          <a:prstGeom prst="roundRect">
            <a:avLst>
              <a:gd name="adj" fmla="val 8459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4" name="Shape 39"/>
          <p:cNvSpPr/>
          <p:nvPr/>
        </p:nvSpPr>
        <p:spPr>
          <a:xfrm>
            <a:off x="4527194" y="4969764"/>
            <a:ext cx="347472" cy="347472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14062" y="5056632"/>
            <a:ext cx="173736" cy="173736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5020970" y="4969764"/>
            <a:ext cx="2643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 설계</a:t>
            </a:r>
            <a:endParaRPr lang="ko-KR" altLang="en-US" sz="1300" dirty="0"/>
          </a:p>
        </p:txBody>
      </p:sp>
      <p:sp>
        <p:nvSpPr>
          <p:cNvPr id="57" name="Text 41"/>
          <p:cNvSpPr txBox="1"/>
          <p:nvPr/>
        </p:nvSpPr>
        <p:spPr>
          <a:xfrm>
            <a:off x="4527194" y="5445252"/>
            <a:ext cx="313730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없으면 실행 안내 표시, LLM 실패 시 규칙 기반 fallback, 외부 검색은 API 실패 시 HTML 파싱으로 이중화</a:t>
            </a:r>
            <a:endParaRPr lang="ko-KR" altLang="en-US" sz="1000" dirty="0"/>
          </a:p>
        </p:txBody>
      </p:sp>
      <p:sp>
        <p:nvSpPr>
          <p:cNvPr id="58" name="Shape 42"/>
          <p:cNvSpPr/>
          <p:nvPr/>
        </p:nvSpPr>
        <p:spPr>
          <a:xfrm>
            <a:off x="8066837" y="4750308"/>
            <a:ext cx="3576218" cy="1513332"/>
          </a:xfrm>
          <a:prstGeom prst="roundRect">
            <a:avLst>
              <a:gd name="adj" fmla="val 8459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9" name="Text 43"/>
          <p:cNvSpPr txBox="1"/>
          <p:nvPr/>
        </p:nvSpPr>
        <p:spPr>
          <a:xfrm>
            <a:off x="8304581" y="4933188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구축한 벡터 인덱스</a:t>
            </a:r>
            <a:endParaRPr lang="ko-KR" altLang="en-US" sz="1250" dirty="0"/>
          </a:p>
        </p:txBody>
      </p:sp>
      <p:graphicFrame>
        <p:nvGraphicFramePr>
          <p:cNvPr id="60" name="Chart 0" descr=""/>
          <p:cNvGraphicFramePr/>
          <p:nvPr/>
        </p:nvGraphicFramePr>
        <p:xfrm>
          <a:off x="8158277" y="5253228"/>
          <a:ext cx="3347618" cy="8732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6"/>
          </a:graphicData>
        </a:graphic>
      </p:graphicFrame>
      <p:sp>
        <p:nvSpPr>
          <p:cNvPr id="61" name="Text 44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62" name="Text 45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22</a:t>
            </a:fld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303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1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469392" cy="246888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46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ko-KR" alt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1184" y="868680"/>
            <a:ext cx="392176" cy="246888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1184" y="868680"/>
            <a:ext cx="392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</a:t>
            </a:r>
            <a:endParaRPr lang="ko-KR" alt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43584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artClassifier</a:t>
            </a:r>
            <a:endParaRPr lang="ko-KR" alt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55778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회화 이미지를 5개 미술 사조로 분류하는 딥러닝 모델</a:t>
            </a:r>
            <a:endParaRPr lang="ko-KR" alt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577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1248" y="246176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2026.06.25 ~ 07.03</a:t>
            </a:r>
            <a:endParaRPr lang="ko-KR" alt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5496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" y="2790952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</a:t>
            </a:r>
            <a:endParaRPr lang="ko-KR" alt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8414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" y="312013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· 전처리 · 모델 학습 · 튜닝 · 프로토타입</a:t>
            </a:r>
            <a:endParaRPr lang="ko-KR" alt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595624"/>
            <a:ext cx="628650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3595624"/>
            <a:ext cx="6286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ko-KR" alt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1250442" y="3595624"/>
            <a:ext cx="1340485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250442" y="3595624"/>
            <a:ext cx="134048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TensorFlow · Keras</a:t>
            </a:r>
            <a:endParaRPr lang="ko-KR" alt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664079" y="3595624"/>
            <a:ext cx="797560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664079" y="3595624"/>
            <a:ext cx="79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ResNet50</a:t>
            </a:r>
            <a:endParaRPr lang="ko-KR" alt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534791" y="3595624"/>
            <a:ext cx="1173988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534791" y="3595624"/>
            <a:ext cx="11739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EfficientNetB0</a:t>
            </a:r>
            <a:endParaRPr lang="ko-KR" alt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781931" y="3595624"/>
            <a:ext cx="643128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781931" y="3595624"/>
            <a:ext cx="643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MLflow</a:t>
            </a:r>
            <a:endParaRPr lang="ko-KR" alt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48640" y="3915664"/>
            <a:ext cx="973709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48640" y="3915664"/>
            <a:ext cx="9737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scikit-learn</a:t>
            </a:r>
            <a:endParaRPr lang="ko-KR" alt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1595501" y="3915664"/>
            <a:ext cx="816864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595501" y="3915664"/>
            <a:ext cx="816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endParaRPr lang="ko-KR" alt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7273567" y="548640"/>
            <a:ext cx="3496722" cy="3529584"/>
          </a:xfrm>
          <a:prstGeom prst="roundRect">
            <a:avLst>
              <a:gd name="adj" fmla="val 2615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419871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1" name="Shape 26"/>
          <p:cNvSpPr/>
          <p:nvPr/>
        </p:nvSpPr>
        <p:spPr>
          <a:xfrm>
            <a:off x="7566175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2" name="Shape 27"/>
          <p:cNvSpPr/>
          <p:nvPr/>
        </p:nvSpPr>
        <p:spPr>
          <a:xfrm>
            <a:off x="7712479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3" name="Shape 28"/>
          <p:cNvSpPr/>
          <p:nvPr/>
        </p:nvSpPr>
        <p:spPr>
          <a:xfrm>
            <a:off x="7913647" y="608076"/>
            <a:ext cx="1548384" cy="155448"/>
          </a:xfrm>
          <a:prstGeom prst="roundRect">
            <a:avLst>
              <a:gd name="adj" fmla="val 29412"/>
            </a:avLst>
          </a:prstGeom>
          <a:solidFill>
            <a:srgbClr val="0A0B10"/>
          </a:solidFill>
          <a:ln w="9525">
            <a:solidFill>
              <a:srgbClr val="1C1F2A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913647" y="608076"/>
            <a:ext cx="1548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0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· artClassifier</a:t>
            </a:r>
            <a:endParaRPr lang="ko-KR" altLang="en-US" sz="8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5571" y="822960"/>
            <a:ext cx="3432714" cy="322326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273567" y="4151376"/>
            <a:ext cx="34967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예측 화면 — 사조별 확률 출력</a:t>
            </a:r>
            <a:endParaRPr lang="ko-KR" alt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548640" y="4663440"/>
            <a:ext cx="5577840" cy="1572768"/>
          </a:xfrm>
          <a:prstGeom prst="roundRect">
            <a:avLst>
              <a:gd name="adj" fmla="val 814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4864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94.5%</a:t>
            </a:r>
            <a:endParaRPr lang="ko-KR" altLang="en-US" sz="2600" dirty="0"/>
          </a:p>
        </p:txBody>
      </p:sp>
      <p:sp>
        <p:nvSpPr>
          <p:cNvPr id="39" name="Text 33"/>
          <p:cNvSpPr txBox="1"/>
          <p:nvPr/>
        </p:nvSpPr>
        <p:spPr>
          <a:xfrm>
            <a:off x="59436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정확도</a:t>
            </a:r>
            <a:endParaRPr lang="ko-KR" alt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194310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194310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0.945</a:t>
            </a:r>
            <a:endParaRPr lang="ko-KR" altLang="en-US" sz="2600" dirty="0"/>
          </a:p>
        </p:txBody>
      </p:sp>
      <p:sp>
        <p:nvSpPr>
          <p:cNvPr id="42" name="Text 36"/>
          <p:cNvSpPr txBox="1"/>
          <p:nvPr/>
        </p:nvSpPr>
        <p:spPr>
          <a:xfrm>
            <a:off x="198882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weighted F1</a:t>
            </a:r>
            <a:endParaRPr lang="ko-KR" alt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333756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333756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ko-KR" altLang="en-US" sz="2600" dirty="0"/>
          </a:p>
        </p:txBody>
      </p:sp>
      <p:sp>
        <p:nvSpPr>
          <p:cNvPr id="45" name="Text 39"/>
          <p:cNvSpPr txBox="1"/>
          <p:nvPr/>
        </p:nvSpPr>
        <p:spPr>
          <a:xfrm>
            <a:off x="338328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MLflow 실험</a:t>
            </a:r>
            <a:endParaRPr lang="ko-KR" alt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473202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473202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84.8%</a:t>
            </a:r>
            <a:endParaRPr lang="ko-KR" altLang="en-US" sz="2600" dirty="0"/>
          </a:p>
        </p:txBody>
      </p:sp>
      <p:sp>
        <p:nvSpPr>
          <p:cNvPr id="48" name="Text 42"/>
          <p:cNvSpPr txBox="1"/>
          <p:nvPr/>
        </p:nvSpPr>
        <p:spPr>
          <a:xfrm>
            <a:off x="477774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평균</a:t>
            </a:r>
            <a:endParaRPr lang="ko-KR" alt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6400800" y="4663440"/>
            <a:ext cx="5242255" cy="1572768"/>
          </a:xfrm>
          <a:prstGeom prst="roundRect">
            <a:avLst>
              <a:gd name="adj" fmla="val 8140"/>
            </a:avLst>
          </a:prstGeom>
          <a:solidFill>
            <a:srgbClr val="242538"/>
          </a:solidFill>
          <a:ln w="9525">
            <a:solidFill>
              <a:srgbClr val="443D66"/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4882896"/>
            <a:ext cx="182880" cy="182880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6912864" y="4846320"/>
            <a:ext cx="451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내 위치</a:t>
            </a:r>
            <a:endParaRPr lang="ko-KR" alt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6638544" y="5175504"/>
            <a:ext cx="476676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미술관 아카이브 분류, 작품 검색, 유사 작품 추천에 활용할 수 있는 모델입니다. 이후 Curatio에서 특징 추출기로 재사용했습니다.</a:t>
            </a:r>
            <a:endParaRPr lang="ko-KR" altLang="en-US" sz="1150" dirty="0"/>
          </a:p>
        </p:txBody>
      </p:sp>
      <p:sp>
        <p:nvSpPr>
          <p:cNvPr id="53" name="Text 4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23</a:t>
            </a:fld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ARTCLASSIFIER · 담당 기능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구성 · 모델 비교 · 검증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1787652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35024" y="1682496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구성</a:t>
            </a:r>
            <a:endParaRPr lang="ko-KR" alt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231136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WikiArt 5개 사조 1,000장을 224×224 RGB로 정규화하고 train 800 / validation 200으로 8:2 분할. TensorFlow Dataset으로 shuffle · batch · prefetch 파이프라인 구성</a:t>
            </a:r>
            <a:endParaRPr lang="ko-KR" alt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13834" y="1463040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33290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446" y="178765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00218" y="1682496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 기법 선정 기준</a:t>
            </a:r>
            <a:endParaRPr lang="ko-KR" alt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33290" y="2231136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사조를 판단하는 단서(색감·질감·구도)를 훼손하지 않는 범위로 제한 — Flip, Rotation 0.06, Zoom 0.12, Translation 0.05, Contrast 0.12</a:t>
            </a:r>
            <a:endParaRPr lang="ko-KR" alt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79029" y="1463040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98485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641" y="178765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5413" y="1682496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3종 비교</a:t>
            </a:r>
            <a:endParaRPr lang="ko-KR" alt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298485" y="2231136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 CNN(scratch) · EfficientNetB0 · ResNet50을 MLflow로 총 8개 trial 기록. validation loss 최소화와 accuracy 최대화를 동시에 기준으로 사용</a:t>
            </a:r>
            <a:endParaRPr lang="ko-KR" alt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63924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8096" y="418338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" y="4288536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35024" y="4183380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모델 검증</a:t>
            </a:r>
            <a:endParaRPr lang="ko-KR" alt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68096" y="4732020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ResNet-50 선정 후 테스트 200장 기준 Accuracy 0.9450 / weighted F1 0.9446. 5-fold 교차검증으로 일반화 성능(평균 0.8480)을 별도 확인</a:t>
            </a:r>
            <a:endParaRPr lang="ko-KR" alt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13834" y="3963924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33290" y="418338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446" y="4288536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00218" y="4183380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 Case Analysis</a:t>
            </a:r>
            <a:endParaRPr lang="ko-KR" alt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533290" y="4732020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 Nouveau의 장식적 곡선이 Japanese Art·Western Medieval과 겹치고, Baroque의 어두운 톤이 Realism과 혼동되는 패턴을 확인. 클래스별 데이터 확충과 Grad-CAM 분석을 개선안으로 제시</a:t>
            </a:r>
            <a:endParaRPr lang="ko-KR" alt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79029" y="3963924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98485" y="418338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641" y="4288536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5413" y="4183380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프로토타입</a:t>
            </a:r>
            <a:endParaRPr lang="ko-KR" alt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298485" y="4732020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업로드하면 예측 사조와 클래스별 확률 그래프를 보여주는 앱으로 배포</a:t>
            </a:r>
            <a:endParaRPr lang="ko-KR" alt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24</a:t>
            </a:fld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ARTCLASSIFIER · 결과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비교와 최종 검증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64592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모델별 Validation Accuracy</a:t>
            </a:r>
            <a:endParaRPr lang="ko-KR" alt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965960"/>
          <a:ext cx="3383280" cy="16596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963924"/>
            <a:ext cx="3611880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414680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교차검증 Accuracy</a:t>
            </a:r>
            <a:endParaRPr lang="ko-KR" altLang="en-US" sz="12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40080" y="4466844"/>
          <a:ext cx="3383280" cy="16596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4379976" y="1463040"/>
            <a:ext cx="4343400" cy="4800600"/>
          </a:xfrm>
          <a:prstGeom prst="roundRect">
            <a:avLst>
              <a:gd name="adj" fmla="val 294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617720" y="164592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ResNet-50 혼동행렬 (테스트 200장)</a:t>
            </a:r>
            <a:endParaRPr lang="ko-KR" alt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62856" y="2066544"/>
          <a:ext cx="39776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603504"/>
                <a:gridCol w="603504"/>
                <a:gridCol w="603504"/>
                <a:gridCol w="603504"/>
                <a:gridCol w="603504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850" b="1" dirty="0">
                          <a:solidFill>
                            <a:srgbClr val="7F85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/ 예측</a:t>
                      </a:r>
                      <a:endParaRPr lang="ko-KR" alt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850" b="1" dirty="0">
                          <a:solidFill>
                            <a:srgbClr val="7F85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Art Nouveau</a:t>
                      </a:r>
                      <a:endParaRPr lang="ko-KR" alt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850" b="1" dirty="0">
                          <a:solidFill>
                            <a:srgbClr val="7F85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Baroque</a:t>
                      </a:r>
                      <a:endParaRPr lang="ko-KR" alt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850" b="1" dirty="0">
                          <a:solidFill>
                            <a:srgbClr val="7F85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Japanese Art</a:t>
                      </a:r>
                      <a:endParaRPr lang="ko-KR" alt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850" b="1" dirty="0">
                          <a:solidFill>
                            <a:srgbClr val="7F85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Realism</a:t>
                      </a:r>
                      <a:endParaRPr lang="ko-KR" alt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850" b="1" dirty="0">
                          <a:solidFill>
                            <a:srgbClr val="7F85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W. Medieval</a:t>
                      </a:r>
                      <a:endParaRPr lang="ko-KR" alt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900" b="1" dirty="0">
                          <a:solidFill>
                            <a:srgbClr val="B3B8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Art Nouveau</a:t>
                      </a:r>
                      <a:endParaRPr lang="ko-KR" alt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45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B71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B71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B71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B71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273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900" b="1" dirty="0">
                          <a:solidFill>
                            <a:srgbClr val="B3B8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Baroque</a:t>
                      </a:r>
                      <a:endParaRPr lang="ko-KR" alt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7F85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37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4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7F85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B71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B71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273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900" b="1" dirty="0">
                          <a:solidFill>
                            <a:srgbClr val="B3B8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Japanese Art</a:t>
                      </a:r>
                      <a:endParaRPr lang="ko-KR" alt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7F85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7F85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62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7F85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B71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273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900" b="1" dirty="0">
                          <a:solidFill>
                            <a:srgbClr val="B3B8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Realism</a:t>
                      </a:r>
                      <a:endParaRPr lang="ko-KR" alt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B71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2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7F85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7F85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5B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7F85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2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900" b="1" dirty="0">
                          <a:solidFill>
                            <a:srgbClr val="B3B8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W. Medieval</a:t>
                      </a:r>
                      <a:endParaRPr lang="ko-KR" alt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7F85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7F85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7F85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7F859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</a:t>
                      </a:r>
                      <a:endParaRPr lang="ko-KR" alt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288" marR="18288" marT="18288" marB="18288" anchor="ctr">
                    <a:lnL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31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69BA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4617720" y="566013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= 실제 사조, 가로 = 예측 사조 · 대각선 189 / 전체 200건 정답 (94.5%)</a:t>
            </a:r>
            <a:endParaRPr lang="ko-KR" alt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8942832" y="1463040"/>
            <a:ext cx="2700223" cy="1466088"/>
          </a:xfrm>
          <a:prstGeom prst="roundRect">
            <a:avLst>
              <a:gd name="adj" fmla="val 8732"/>
            </a:avLst>
          </a:prstGeom>
          <a:solidFill>
            <a:srgbClr val="252338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180576" y="1645920"/>
            <a:ext cx="2224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0.9450</a:t>
            </a:r>
            <a:endParaRPr lang="ko-KR" alt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9180576" y="2212848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Accuracy</a:t>
            </a:r>
            <a:endParaRPr lang="ko-KR" alt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9180576" y="2468880"/>
            <a:ext cx="2224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200장 기준</a:t>
            </a:r>
            <a:endParaRPr lang="ko-KR" alt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942832" y="3130296"/>
            <a:ext cx="2700223" cy="1466088"/>
          </a:xfrm>
          <a:prstGeom prst="roundRect">
            <a:avLst>
              <a:gd name="adj" fmla="val 87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180576" y="3313176"/>
            <a:ext cx="2224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0.9446</a:t>
            </a:r>
            <a:endParaRPr lang="ko-KR" alt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9180576" y="3880104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weighted F1</a:t>
            </a:r>
            <a:endParaRPr lang="ko-KR" alt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9180576" y="4136136"/>
            <a:ext cx="2224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클래스별 표본 수 가중 평균</a:t>
            </a:r>
            <a:endParaRPr lang="ko-KR" alt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942832" y="4797552"/>
            <a:ext cx="2700223" cy="1466088"/>
          </a:xfrm>
          <a:prstGeom prst="roundRect">
            <a:avLst>
              <a:gd name="adj" fmla="val 87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180576" y="4980432"/>
            <a:ext cx="2224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0.8480</a:t>
            </a:r>
            <a:endParaRPr lang="ko-KR" altLang="en-US" sz="2800" dirty="0"/>
          </a:p>
        </p:txBody>
      </p:sp>
      <p:sp>
        <p:nvSpPr>
          <p:cNvPr id="24" name="Text 19"/>
          <p:cNvSpPr txBox="1"/>
          <p:nvPr/>
        </p:nvSpPr>
        <p:spPr>
          <a:xfrm>
            <a:off x="9180576" y="5547360"/>
            <a:ext cx="2224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평균</a:t>
            </a:r>
            <a:endParaRPr lang="ko-KR" alt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180576" y="5803392"/>
            <a:ext cx="2224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일반화 성능 별도 확인</a:t>
            </a:r>
            <a:endParaRPr lang="ko-KR" alt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25</a:t>
            </a:fld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ARTCLASSIFIER · 학습 곡선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모델별 학습 곡선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760720" cy="4471416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76" y="1591056"/>
            <a:ext cx="4924448" cy="42153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0760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trial별 train / validation Loss · Accuracy</a:t>
            </a:r>
            <a:endParaRPr lang="ko-KR" alt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547104" y="1463040"/>
            <a:ext cx="5095951" cy="4800600"/>
          </a:xfrm>
          <a:prstGeom prst="roundRect">
            <a:avLst>
              <a:gd name="adj" fmla="val 26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1719072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14032" y="1673352"/>
            <a:ext cx="4272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곡선</a:t>
            </a:r>
            <a:endParaRPr lang="ko-KR" alt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6803136" y="2194560"/>
            <a:ext cx="4583887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1100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MLflow로 기록한 8개 trial 중 3개의 epoch별 train / validation Loss · Accuracy 곡선입니다.</a:t>
            </a:r>
            <a:endParaRPr lang="ko-KR" alt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812280" y="2858294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004304" y="2800858"/>
            <a:ext cx="4382719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07_resnet_dense128_dropout03</a:t>
            </a:r>
            <a:endParaRPr lang="ko-KR" alt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004304" y="3025458"/>
            <a:ext cx="4382719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ResNet50 · Dense 128 · Dropout 0.3. train과 validation 곡선이 비슷한 간격을 유지하며 함께 개선됨</a:t>
            </a:r>
            <a:endParaRPr lang="ko-KR" alt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812280" y="3634200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004304" y="3576765"/>
            <a:ext cx="4382719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08_resnet_unfreeze20_dense256</a:t>
            </a:r>
            <a:endParaRPr lang="ko-KR" alt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004304" y="3801364"/>
            <a:ext cx="4382719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ResNet50 · unfreeze 20 · Dense 256. 7 epoch 이후 train loss는 계속 줄지만 validation loss는 더 줄지 않음</a:t>
            </a:r>
            <a:endParaRPr lang="ko-KR" alt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812280" y="4410107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004304" y="4352671"/>
            <a:ext cx="4382719" cy="19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04_efficientnet_dense128</a:t>
            </a:r>
            <a:endParaRPr lang="ko-KR" alt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004304" y="4577271"/>
            <a:ext cx="4382719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EfficientNetB0 · Dense 128. 5~6 epoch 이후 validation accuracy가 거의 오르지 않음</a:t>
            </a:r>
            <a:endParaRPr lang="ko-KR" alt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803136" y="5383149"/>
            <a:ext cx="4583887" cy="661035"/>
          </a:xfrm>
          <a:prstGeom prst="roundRect">
            <a:avLst>
              <a:gd name="adj" fmla="val 13833"/>
            </a:avLst>
          </a:prstGeom>
          <a:solidFill>
            <a:srgbClr val="222134"/>
          </a:solidFill>
          <a:ln w="9525">
            <a:solidFill>
              <a:srgbClr val="473E6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967728" y="5383149"/>
            <a:ext cx="4254703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1050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모델은 validation loss 최소화와 accuracy 최대화를 함께 기준으로 삼아 ResNet50으로 선정했습니다.</a:t>
            </a:r>
            <a:endParaRPr lang="ko-KR" alt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26</a:t>
            </a:fld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ARTCLASSIFIER · 학습 데이터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760720" cy="4471416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626" y="1591056"/>
            <a:ext cx="4116748" cy="42153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0760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 샘플</a:t>
            </a:r>
            <a:endParaRPr lang="ko-KR" alt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547104" y="1463040"/>
            <a:ext cx="5095951" cy="4800600"/>
          </a:xfrm>
          <a:prstGeom prst="roundRect">
            <a:avLst>
              <a:gd name="adj" fmla="val 26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1719072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14032" y="1673352"/>
            <a:ext cx="4272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구성</a:t>
            </a:r>
            <a:endParaRPr lang="ko-KR" alt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6803136" y="2194560"/>
            <a:ext cx="4583887" cy="71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1300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WikiArt 5개 사조 이미지 1,000장을 224×224 RGB로 정규화하고 train 800 / validation 200으로 8:2 분할했습니다.</a:t>
            </a:r>
            <a:endParaRPr lang="ko-KR" alt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812280" y="3188494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004304" y="3113913"/>
            <a:ext cx="4382719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대상 사조</a:t>
            </a:r>
            <a:endParaRPr lang="ko-KR" alt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004304" y="3372803"/>
            <a:ext cx="4382719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12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 Nouveau · Baroque · Japanese Art · Realism · Western Medieval</a:t>
            </a:r>
            <a:endParaRPr lang="ko-KR" alt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12280" y="4072350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004304" y="3997770"/>
            <a:ext cx="4382719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파이프라인</a:t>
            </a:r>
            <a:endParaRPr lang="ko-KR" alt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7004304" y="4256659"/>
            <a:ext cx="4382719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12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TensorFlow Dataset으로 shuffle · batch · prefetch 구성</a:t>
            </a:r>
            <a:endParaRPr lang="ko-KR" alt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812280" y="4956207"/>
            <a:ext cx="82296" cy="822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004304" y="4881626"/>
            <a:ext cx="4382719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증강</a:t>
            </a:r>
            <a:endParaRPr lang="ko-KR" alt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004304" y="5140516"/>
            <a:ext cx="4382719" cy="690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12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Flip, Rotation 0.06, Zoom 0.12, Translation 0.05, Contrast 0.12. 사조를 판단하는 단서(색감 · 질감 · 구도)를 훼손하지 않는 범위로 제한</a:t>
            </a:r>
            <a:endParaRPr lang="ko-KR" alt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27</a:t>
            </a:fld>
            <a:endParaRPr lang="ko-K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303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1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469392" cy="246888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46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ko-KR" alt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1184" y="868680"/>
            <a:ext cx="392176" cy="246888"/>
          </a:xfrm>
          <a:prstGeom prst="roundRect">
            <a:avLst>
              <a:gd name="adj" fmla="val 50000"/>
            </a:avLst>
          </a:prstGeom>
          <a:solidFill>
            <a:srgbClr val="28263D"/>
          </a:solidFill>
          <a:ln w="9525">
            <a:solidFill>
              <a:srgbClr val="4E447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1184" y="868680"/>
            <a:ext cx="392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</a:t>
            </a:r>
            <a:endParaRPr lang="ko-KR" alt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43584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게이머 사회적 고립도 예측</a:t>
            </a:r>
            <a:endParaRPr lang="ko-KR" alt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557784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게이머의 행동·수면·정서 데이터로 사회적 고립 수준을 예측하는 회귀 모델</a:t>
            </a:r>
            <a:endParaRPr lang="ko-KR" alt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7469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1248" y="271068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2026.06.22 ~ 06.25</a:t>
            </a:r>
            <a:endParaRPr lang="ko-KR" alt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38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" y="3039872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</a:t>
            </a:r>
            <a:endParaRPr lang="ko-KR" alt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330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" y="336905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· 전처리 · 모델 비교 · 평가</a:t>
            </a:r>
            <a:endParaRPr lang="ko-KR" alt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844544"/>
            <a:ext cx="628650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3844544"/>
            <a:ext cx="6286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ko-KR" alt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1250442" y="3844544"/>
            <a:ext cx="61417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250442" y="3844544"/>
            <a:ext cx="6141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endParaRPr lang="ko-KR" alt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1937766" y="3844544"/>
            <a:ext cx="973709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937766" y="3844544"/>
            <a:ext cx="9737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scikit-learn</a:t>
            </a:r>
            <a:endParaRPr lang="ko-KR" alt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984627" y="3844544"/>
            <a:ext cx="720344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984627" y="3844544"/>
            <a:ext cx="720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</a:t>
            </a:r>
            <a:endParaRPr lang="ko-KR" alt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778123" y="3844544"/>
            <a:ext cx="865124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778123" y="3844544"/>
            <a:ext cx="8651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</a:t>
            </a:r>
            <a:endParaRPr lang="ko-KR" alt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716399" y="3844544"/>
            <a:ext cx="691388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716399" y="3844544"/>
            <a:ext cx="6913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Jupyter</a:t>
            </a:r>
            <a:endParaRPr lang="ko-KR" alt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00800" y="548640"/>
            <a:ext cx="5242255" cy="3840480"/>
          </a:xfrm>
          <a:prstGeom prst="roundRect">
            <a:avLst>
              <a:gd name="adj" fmla="val 333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638544" y="731520"/>
            <a:ext cx="4766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모델별 R² (높을수록 좋음)</a:t>
            </a:r>
            <a:endParaRPr lang="ko-KR" altLang="en-US" sz="12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492240" y="1051560"/>
          <a:ext cx="5013655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Shape 24"/>
          <p:cNvSpPr/>
          <p:nvPr/>
        </p:nvSpPr>
        <p:spPr>
          <a:xfrm>
            <a:off x="548640" y="4663440"/>
            <a:ext cx="5577840" cy="1572768"/>
          </a:xfrm>
          <a:prstGeom prst="roundRect">
            <a:avLst>
              <a:gd name="adj" fmla="val 814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4864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0.801</a:t>
            </a:r>
            <a:endParaRPr lang="ko-KR" altLang="en-US" sz="2600" dirty="0"/>
          </a:p>
        </p:txBody>
      </p:sp>
      <p:sp>
        <p:nvSpPr>
          <p:cNvPr id="32" name="Text 26"/>
          <p:cNvSpPr txBox="1"/>
          <p:nvPr/>
        </p:nvSpPr>
        <p:spPr>
          <a:xfrm>
            <a:off x="59436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R² (최고)</a:t>
            </a:r>
            <a:endParaRPr lang="ko-KR" alt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194310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94310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0.961</a:t>
            </a:r>
            <a:endParaRPr lang="ko-KR" altLang="en-US" sz="2600" dirty="0"/>
          </a:p>
        </p:txBody>
      </p:sp>
      <p:sp>
        <p:nvSpPr>
          <p:cNvPr id="35" name="Text 29"/>
          <p:cNvSpPr txBox="1"/>
          <p:nvPr/>
        </p:nvSpPr>
        <p:spPr>
          <a:xfrm>
            <a:off x="198882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</a:t>
            </a:r>
            <a:endParaRPr lang="ko-KR" alt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333756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333756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ko-KR" altLang="en-US" sz="2600" dirty="0"/>
          </a:p>
        </p:txBody>
      </p:sp>
      <p:sp>
        <p:nvSpPr>
          <p:cNvPr id="38" name="Text 32"/>
          <p:cNvSpPr txBox="1"/>
          <p:nvPr/>
        </p:nvSpPr>
        <p:spPr>
          <a:xfrm>
            <a:off x="338328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피처</a:t>
            </a:r>
            <a:endParaRPr lang="ko-KR" alt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73202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4732020" y="5065776"/>
            <a:ext cx="13944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ko-KR" altLang="en-US" sz="2600" dirty="0"/>
          </a:p>
        </p:txBody>
      </p:sp>
      <p:sp>
        <p:nvSpPr>
          <p:cNvPr id="41" name="Text 35"/>
          <p:cNvSpPr txBox="1"/>
          <p:nvPr/>
        </p:nvSpPr>
        <p:spPr>
          <a:xfrm>
            <a:off x="4777740" y="5541264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모델</a:t>
            </a:r>
            <a:endParaRPr lang="ko-KR" alt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6400800" y="4663440"/>
            <a:ext cx="5242255" cy="1572768"/>
          </a:xfrm>
          <a:prstGeom prst="roundRect">
            <a:avLst>
              <a:gd name="adj" fmla="val 8140"/>
            </a:avLst>
          </a:prstGeom>
          <a:solidFill>
            <a:srgbClr val="242538"/>
          </a:solidFill>
          <a:ln w="9525">
            <a:solidFill>
              <a:srgbClr val="443D66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4882896"/>
            <a:ext cx="182880" cy="182880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6912864" y="4846320"/>
            <a:ext cx="451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내 위치</a:t>
            </a:r>
            <a:endParaRPr lang="ko-KR" altLang="en-US" sz="1150" dirty="0"/>
          </a:p>
        </p:txBody>
      </p:sp>
      <p:sp>
        <p:nvSpPr>
          <p:cNvPr id="45" name="Text 38"/>
          <p:cNvSpPr txBox="1"/>
          <p:nvPr/>
        </p:nvSpPr>
        <p:spPr>
          <a:xfrm>
            <a:off x="6638544" y="5175504"/>
            <a:ext cx="476676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이용 패턴 데이터로 사회적 고립 수준을 예측하는 회귀 모델입니다. 데이터 확인부터 모델 평가까지 개인 프로젝트로 진행했습니다.</a:t>
            </a:r>
            <a:endParaRPr lang="ko-KR" altLang="en-US" sz="1150" dirty="0"/>
          </a:p>
        </p:txBody>
      </p:sp>
      <p:sp>
        <p:nvSpPr>
          <p:cNvPr id="46" name="Text 39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28</a:t>
            </a:fld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게이머 고립도 예측 · 분석 과정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과정과 모델 비교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19125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1787652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35024" y="1682496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설계</a:t>
            </a:r>
            <a:endParaRPr lang="ko-KR" alt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231136"/>
            <a:ext cx="275234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게임 시간, 수면 시간·질, 학업/업무 성과, 기분 변화, 금단 증상, 대면 사회활동 시간 등 26개 변수로 사회적 고립도(1~10)를 예측</a:t>
            </a:r>
            <a:endParaRPr lang="ko-KR" alt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41064" y="1463040"/>
            <a:ext cx="319125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60520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6" y="178765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27448" y="1682496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endParaRPr lang="ko-KR" alt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160520" y="2231136"/>
            <a:ext cx="275234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범주형(gender, headset_usage)과 연속형 변수를 분리해 인코딩·스케일링 경로를 다르게 구성</a:t>
            </a:r>
            <a:endParaRPr lang="ko-KR" alt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63924"/>
            <a:ext cx="319125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68096" y="418338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4288536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35024" y="4183380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모델 비교</a:t>
            </a:r>
            <a:endParaRPr lang="ko-KR" alt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68096" y="4732020"/>
            <a:ext cx="275234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다중선형회귀 · Elastic Net · 결정트리 · 랜덤포레스트 · XGBoost를 동일 조건에서 학습하고 RMSE · MAE · R²로 비교</a:t>
            </a:r>
            <a:endParaRPr lang="ko-KR" alt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941064" y="3963924"/>
            <a:ext cx="319125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160520" y="418338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2B2841"/>
          </a:solidFill>
          <a:ln w="9525">
            <a:solidFill>
              <a:srgbClr val="453D6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5676" y="4288536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727448" y="4183380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지표별 최적 모델 비교</a:t>
            </a:r>
            <a:endParaRPr lang="ko-KR" alt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160520" y="4732020"/>
            <a:ext cx="275234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R² 기준으로는 다중선형회귀(0.8011), MAE 기준으로는 랜덤포레스트(0.7615)가 가장 높았습니다. 두 결과를 모두 기록하고 어떤 지표를 기준으로 선택했는지 명시했습니다</a:t>
            </a:r>
            <a:endParaRPr lang="ko-KR" alt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51776" y="1463040"/>
            <a:ext cx="4291279" cy="4800600"/>
          </a:xfrm>
          <a:prstGeom prst="roundRect">
            <a:avLst>
              <a:gd name="adj" fmla="val 2983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589520" y="1645920"/>
            <a:ext cx="38157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모델별 RMSE (낮을수록 좋음)</a:t>
            </a:r>
            <a:endParaRPr lang="ko-KR" altLang="en-US" sz="12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7443216" y="1965960"/>
          <a:ext cx="4062679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 20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AI 기반 서비스 개발 심화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29</a:t>
            </a:fld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726694" cy="310896"/>
          </a:xfrm>
          <a:prstGeom prst="roundRect">
            <a:avLst>
              <a:gd name="adj" fmla="val 50000"/>
            </a:avLst>
          </a:prstGeom>
          <a:solidFill>
            <a:srgbClr val="102B2C"/>
          </a:solidFill>
          <a:ln w="9525">
            <a:solidFill>
              <a:srgbClr val="1A65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868680"/>
            <a:ext cx="7266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ko-KR" alt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4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기반 풀스택 웹 개발자 과정</a:t>
            </a:r>
            <a:endParaRPr lang="ko-KR" alt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960120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4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3건입니다. 서버 렌더링(JSP) → 프론트/백엔드 분리(React + Express) → Spring Boot 순으로 구성이 바뀌었고, 세 프로젝트 모두 화면과 서버를 함께 담당했습니다.</a:t>
            </a:r>
            <a:endParaRPr lang="ko-KR" alt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29560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7746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2025.12 ~ 2026.06 · 프로젝트 3건</a:t>
            </a:r>
            <a:endParaRPr lang="ko-KR" alt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3551834" cy="2834640"/>
          </a:xfrm>
          <a:prstGeom prst="roundRect">
            <a:avLst>
              <a:gd name="adj" fmla="val 4516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38728"/>
            <a:ext cx="3332378" cy="1188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8096" y="4873752"/>
            <a:ext cx="809879" cy="219456"/>
          </a:xfrm>
          <a:prstGeom prst="roundRect">
            <a:avLst>
              <a:gd name="adj" fmla="val 50000"/>
            </a:avLst>
          </a:prstGeom>
          <a:solidFill>
            <a:srgbClr val="173035"/>
          </a:solidFill>
          <a:ln w="9525">
            <a:solidFill>
              <a:srgbClr val="1D615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8096" y="4873752"/>
            <a:ext cx="8098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 · Final</a:t>
            </a:r>
            <a:endParaRPr lang="ko-KR" alt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632839" y="4873752"/>
            <a:ext cx="341376" cy="219456"/>
          </a:xfrm>
          <a:prstGeom prst="roundRect">
            <a:avLst>
              <a:gd name="adj" fmla="val 50000"/>
            </a:avLst>
          </a:prstGeom>
          <a:solidFill>
            <a:srgbClr val="173035"/>
          </a:solidFill>
          <a:ln w="9525">
            <a:solidFill>
              <a:srgbClr val="1D615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32839" y="4873752"/>
            <a:ext cx="34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ko-KR" alt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768096" y="5166360"/>
            <a:ext cx="3112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Furniture</a:t>
            </a:r>
            <a:endParaRPr lang="ko-KR" alt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5532120"/>
            <a:ext cx="31129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+ React 기반 가구 이커머스 반응형 웹</a:t>
            </a:r>
            <a:endParaRPr lang="ko-KR" alt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319930" y="3429000"/>
            <a:ext cx="3551834" cy="2834640"/>
          </a:xfrm>
          <a:prstGeom prst="roundRect">
            <a:avLst>
              <a:gd name="adj" fmla="val 4516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658" y="3538728"/>
            <a:ext cx="3332378" cy="11887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39386" y="4873752"/>
            <a:ext cx="978281" cy="219456"/>
          </a:xfrm>
          <a:prstGeom prst="roundRect">
            <a:avLst>
              <a:gd name="adj" fmla="val 50000"/>
            </a:avLst>
          </a:prstGeom>
          <a:solidFill>
            <a:srgbClr val="173035"/>
          </a:solidFill>
          <a:ln w="9525">
            <a:solidFill>
              <a:srgbClr val="1D615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539386" y="4873752"/>
            <a:ext cx="9782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· Advanced</a:t>
            </a:r>
            <a:endParaRPr lang="ko-KR" alt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572531" y="4873752"/>
            <a:ext cx="341376" cy="219456"/>
          </a:xfrm>
          <a:prstGeom prst="roundRect">
            <a:avLst>
              <a:gd name="adj" fmla="val 50000"/>
            </a:avLst>
          </a:prstGeom>
          <a:solidFill>
            <a:srgbClr val="173035"/>
          </a:solidFill>
          <a:ln w="9525">
            <a:solidFill>
              <a:srgbClr val="1D615E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572531" y="4873752"/>
            <a:ext cx="34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ko-KR" alt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4539386" y="5166360"/>
            <a:ext cx="3112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PPAP</a:t>
            </a:r>
            <a:endParaRPr lang="ko-KR" alt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4539386" y="5532120"/>
            <a:ext cx="31129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지도와 공공 실거래 데이터를 결합한 부동산 매물 탐색 플랫폼</a:t>
            </a:r>
            <a:endParaRPr lang="ko-KR" alt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091221" y="3429000"/>
            <a:ext cx="3551834" cy="2834640"/>
          </a:xfrm>
          <a:prstGeom prst="roundRect">
            <a:avLst>
              <a:gd name="adj" fmla="val 4516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949" y="3538728"/>
            <a:ext cx="3332378" cy="118872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310677" y="4873752"/>
            <a:ext cx="410464" cy="219456"/>
          </a:xfrm>
          <a:prstGeom prst="roundRect">
            <a:avLst>
              <a:gd name="adj" fmla="val 50000"/>
            </a:avLst>
          </a:prstGeom>
          <a:solidFill>
            <a:srgbClr val="173035"/>
          </a:solidFill>
          <a:ln w="9525">
            <a:solidFill>
              <a:srgbClr val="1D615E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310677" y="4873752"/>
            <a:ext cx="410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</a:t>
            </a:r>
            <a:endParaRPr lang="ko-KR" alt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8776005" y="4873752"/>
            <a:ext cx="341376" cy="219456"/>
          </a:xfrm>
          <a:prstGeom prst="roundRect">
            <a:avLst>
              <a:gd name="adj" fmla="val 50000"/>
            </a:avLst>
          </a:prstGeom>
          <a:solidFill>
            <a:srgbClr val="173035"/>
          </a:solidFill>
          <a:ln w="9525">
            <a:solidFill>
              <a:srgbClr val="1D615E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776005" y="4873752"/>
            <a:ext cx="34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ko-KR" alt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8310677" y="5166360"/>
            <a:ext cx="3112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너의 곁에</a:t>
            </a:r>
            <a:endParaRPr lang="ko-KR" alt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8310677" y="5532120"/>
            <a:ext cx="31129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보호자를 위한 정보 공유 커뮤니티 (JSP · Servlet MVC)</a:t>
            </a:r>
            <a:endParaRPr lang="ko-KR" alt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30</a:t>
            </a:fld>
            <a:endParaRPr lang="ko-KR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303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10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77189" cy="246888"/>
          </a:xfrm>
          <a:prstGeom prst="roundRect">
            <a:avLst>
              <a:gd name="adj" fmla="val 50000"/>
            </a:avLst>
          </a:prstGeom>
          <a:solidFill>
            <a:srgbClr val="173035"/>
          </a:solidFill>
          <a:ln w="9525">
            <a:solidFill>
              <a:srgbClr val="1D61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87718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 · Final</a:t>
            </a:r>
            <a:endParaRPr lang="ko-KR" alt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498981" y="868680"/>
            <a:ext cx="353568" cy="246888"/>
          </a:xfrm>
          <a:prstGeom prst="roundRect">
            <a:avLst>
              <a:gd name="adj" fmla="val 50000"/>
            </a:avLst>
          </a:prstGeom>
          <a:solidFill>
            <a:srgbClr val="173035"/>
          </a:solidFill>
          <a:ln w="9525">
            <a:solidFill>
              <a:srgbClr val="1D61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98981" y="868680"/>
            <a:ext cx="353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ko-KR" alt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43584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Furniture</a:t>
            </a:r>
            <a:endParaRPr lang="ko-KR" alt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55778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+ React 기반 가구 이커머스 반응형 웹</a:t>
            </a:r>
            <a:endParaRPr lang="ko-KR" alt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577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1248" y="246176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2026.04.24 ~ 06.15</a:t>
            </a:r>
            <a:endParaRPr lang="ko-KR" alt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5496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" y="2790952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CMYK팀 · 5인</a:t>
            </a:r>
            <a:endParaRPr lang="ko-KR" alt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8414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" y="312013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회원/인증 도메인 · 상품 검색 · 메인 페이지 · 최종 발표</a:t>
            </a:r>
            <a:endParaRPr lang="ko-KR" alt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540760"/>
            <a:ext cx="938784" cy="274320"/>
          </a:xfrm>
          <a:prstGeom prst="roundRect">
            <a:avLst>
              <a:gd name="adj" fmla="val 26667"/>
            </a:avLst>
          </a:prstGeom>
          <a:solidFill>
            <a:srgbClr val="16282E"/>
          </a:solidFill>
          <a:ln w="9525">
            <a:solidFill>
              <a:srgbClr val="1D615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604768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9536" y="3540760"/>
            <a:ext cx="57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https://github.com/alphaengneering02-dev/3H_Furnitu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ko-KR" alt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578864" y="3540760"/>
            <a:ext cx="1159764" cy="274320"/>
          </a:xfrm>
          <a:prstGeom prst="roundRect">
            <a:avLst>
              <a:gd name="adj" fmla="val 26667"/>
            </a:avLst>
          </a:prstGeom>
          <a:solidFill>
            <a:srgbClr val="16282E"/>
          </a:solidFill>
          <a:ln w="9525">
            <a:solidFill>
              <a:srgbClr val="1D615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8592" y="3604768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89760" y="3540760"/>
            <a:ext cx="794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invalidUrl="" action="" tgtFrame="" tooltip="https://cheerful-gecko-a85d13.netlify.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배포 사이트</a:t>
            </a:r>
            <a:endParaRPr lang="ko-KR" alt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48640" y="3961384"/>
            <a:ext cx="503174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548640" y="3961384"/>
            <a:ext cx="5031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</a:t>
            </a:r>
            <a:endParaRPr lang="ko-KR" alt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1124966" y="3961384"/>
            <a:ext cx="930275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124966" y="3961384"/>
            <a:ext cx="93027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ko-KR" alt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2128393" y="3961384"/>
            <a:ext cx="1181227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2128393" y="3961384"/>
            <a:ext cx="118122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</a:t>
            </a:r>
            <a:endParaRPr lang="ko-KR" alt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3382772" y="3961384"/>
            <a:ext cx="1198118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382772" y="3961384"/>
            <a:ext cx="119811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Data JPA</a:t>
            </a:r>
            <a:endParaRPr lang="ko-KR" alt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654042" y="3961384"/>
            <a:ext cx="657606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4654042" y="3961384"/>
            <a:ext cx="65760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OAuth2</a:t>
            </a:r>
            <a:endParaRPr lang="ko-KR" alt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5384800" y="3961384"/>
            <a:ext cx="56591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384800" y="3961384"/>
            <a:ext cx="565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ko-KR" alt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548640" y="4281424"/>
            <a:ext cx="46939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548640" y="4281424"/>
            <a:ext cx="46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MUI</a:t>
            </a:r>
            <a:endParaRPr lang="ko-KR" alt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1091184" y="4281424"/>
            <a:ext cx="1260856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1091184" y="4281424"/>
            <a:ext cx="1260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Cloud ADB</a:t>
            </a:r>
            <a:endParaRPr lang="ko-KR" alt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6400800" y="548640"/>
            <a:ext cx="5242255" cy="3840480"/>
          </a:xfrm>
          <a:prstGeom prst="roundRect">
            <a:avLst>
              <a:gd name="adj" fmla="val 2381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547104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9" name="Shape 32"/>
          <p:cNvSpPr/>
          <p:nvPr/>
        </p:nvSpPr>
        <p:spPr>
          <a:xfrm>
            <a:off x="6693408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0" name="Shape 33"/>
          <p:cNvSpPr/>
          <p:nvPr/>
        </p:nvSpPr>
        <p:spPr>
          <a:xfrm>
            <a:off x="6839712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1" name="Shape 34"/>
          <p:cNvSpPr/>
          <p:nvPr/>
        </p:nvSpPr>
        <p:spPr>
          <a:xfrm>
            <a:off x="7040880" y="608076"/>
            <a:ext cx="1137920" cy="155448"/>
          </a:xfrm>
          <a:prstGeom prst="roundRect">
            <a:avLst>
              <a:gd name="adj" fmla="val 29412"/>
            </a:avLst>
          </a:prstGeom>
          <a:solidFill>
            <a:srgbClr val="0A0B10"/>
          </a:solidFill>
          <a:ln w="9525">
            <a:solidFill>
              <a:srgbClr val="1C1F2A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7040880" y="608076"/>
            <a:ext cx="113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0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cmyk-furniture · /</a:t>
            </a:r>
            <a:endParaRPr lang="ko-KR" altLang="en-US" sz="8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2804" y="822960"/>
            <a:ext cx="5178247" cy="3534156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548640" y="4663440"/>
            <a:ext cx="5577840" cy="1572768"/>
          </a:xfrm>
          <a:prstGeom prst="roundRect">
            <a:avLst>
              <a:gd name="adj" fmla="val 814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548640" y="5065776"/>
            <a:ext cx="185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ko-KR" altLang="en-US" sz="2600" dirty="0"/>
          </a:p>
        </p:txBody>
      </p:sp>
      <p:sp>
        <p:nvSpPr>
          <p:cNvPr id="46" name="Text 38"/>
          <p:cNvSpPr txBox="1"/>
          <p:nvPr/>
        </p:nvSpPr>
        <p:spPr>
          <a:xfrm>
            <a:off x="594360" y="5541264"/>
            <a:ext cx="176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로그인</a:t>
            </a:r>
            <a:endParaRPr lang="ko-KR" alt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240792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2407920" y="5065776"/>
            <a:ext cx="185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ko-KR" altLang="en-US" sz="2600" dirty="0"/>
          </a:p>
        </p:txBody>
      </p:sp>
      <p:sp>
        <p:nvSpPr>
          <p:cNvPr id="49" name="Text 41"/>
          <p:cNvSpPr txBox="1"/>
          <p:nvPr/>
        </p:nvSpPr>
        <p:spPr>
          <a:xfrm>
            <a:off x="2453640" y="5541264"/>
            <a:ext cx="176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재개 기능</a:t>
            </a:r>
            <a:endParaRPr lang="ko-KR" altLang="en-US" sz="1050" dirty="0"/>
          </a:p>
        </p:txBody>
      </p:sp>
      <p:sp>
        <p:nvSpPr>
          <p:cNvPr id="50" name="Shape 42"/>
          <p:cNvSpPr/>
          <p:nvPr/>
        </p:nvSpPr>
        <p:spPr>
          <a:xfrm>
            <a:off x="426720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4267200" y="5065776"/>
            <a:ext cx="185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ko-KR" altLang="en-US" sz="2600" dirty="0"/>
          </a:p>
        </p:txBody>
      </p:sp>
      <p:sp>
        <p:nvSpPr>
          <p:cNvPr id="52" name="Text 44"/>
          <p:cNvSpPr txBox="1"/>
          <p:nvPr/>
        </p:nvSpPr>
        <p:spPr>
          <a:xfrm>
            <a:off x="4312920" y="5541264"/>
            <a:ext cx="176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화면</a:t>
            </a:r>
            <a:endParaRPr lang="ko-KR" altLang="en-US" sz="1050" dirty="0"/>
          </a:p>
        </p:txBody>
      </p:sp>
      <p:sp>
        <p:nvSpPr>
          <p:cNvPr id="53" name="Shape 45"/>
          <p:cNvSpPr/>
          <p:nvPr/>
        </p:nvSpPr>
        <p:spPr>
          <a:xfrm>
            <a:off x="6400800" y="4663440"/>
            <a:ext cx="5242255" cy="1572768"/>
          </a:xfrm>
          <a:prstGeom prst="roundRect">
            <a:avLst>
              <a:gd name="adj" fmla="val 8140"/>
            </a:avLst>
          </a:prstGeom>
          <a:solidFill>
            <a:srgbClr val="1B2B33"/>
          </a:solidFill>
          <a:ln w="9525">
            <a:solidFill>
              <a:srgbClr val="1F5355"/>
            </a:solidFill>
            <a:prstDash val="solid"/>
          </a:ln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544" y="4882896"/>
            <a:ext cx="182880" cy="182880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6912864" y="4846320"/>
            <a:ext cx="451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내 위치</a:t>
            </a:r>
            <a:endParaRPr lang="ko-KR" altLang="en-US" sz="1150" dirty="0"/>
          </a:p>
        </p:txBody>
      </p:sp>
      <p:sp>
        <p:nvSpPr>
          <p:cNvPr id="56" name="Text 47"/>
          <p:cNvSpPr txBox="1"/>
          <p:nvPr/>
        </p:nvSpPr>
        <p:spPr>
          <a:xfrm>
            <a:off x="6638544" y="5175504"/>
            <a:ext cx="476676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가입 · 로그인, 상품 검색, 메인 페이지를 API부터 화면까지 맡았습니다. 장바구니 · 마이페이지 · 관리자 기능이 모두 로그인한 사용자의 권한 정보를 사용합니다.</a:t>
            </a:r>
            <a:endParaRPr lang="ko-KR" altLang="en-US" sz="1150" dirty="0"/>
          </a:p>
        </p:txBody>
      </p:sp>
      <p:sp>
        <p:nvSpPr>
          <p:cNvPr id="57" name="Text 4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58" name="Text 49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31</a:t>
            </a:fld>
            <a:endParaRPr lang="ko-KR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FURNITURE · 담당 기능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회원/인증 · 상품 검색 · 메인 페이지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1787652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35024" y="1682496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 로그인 연동</a:t>
            </a:r>
            <a:endParaRPr lang="ko-KR" alt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231136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 로그인을 React와 연동. 로그인 성공 · 실패 · 미인증을 JSON으로 응답하는 핸들러를 구현하고, 관리자 테이블 → 일반 회원 테이블 순으로 조회해 하나의 로그인 화면에서 두 역할을 처리</a:t>
            </a:r>
            <a:endParaRPr lang="ko-KR" alt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13834" y="1463040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33290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446" y="178765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00218" y="1682496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OAuth2 소셜 로그인</a:t>
            </a:r>
            <a:endParaRPr lang="ko-KR" alt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33290" y="2231136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· 네이버 · 카카오 계정으로 가입. 이메일 기준으로 신규 가입 또는 정보 갱신을 처리하고, 소셜 계정을 일반 회원과 동일한 권한 체계에 통합해 구매 · 장바구니 · 북마크를 그대로 사용</a:t>
            </a:r>
            <a:endParaRPr lang="ko-KR" alt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79029" y="1463040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98485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641" y="178765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5413" y="1682496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API · 계정 찾기</a:t>
            </a:r>
            <a:endParaRPr lang="ko-KR" alt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298485" y="2231136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회원가입(아이디 · 이메일 · 전화번호 중복 검사, BCrypt 암호화), 조회 · 수정 · 탈퇴, 아이디 찾기, 비밀번호 재설정. 검증 실패를 필드명과 메시지 JSON으로 반환해 화면의 해당 입력칸에 표시</a:t>
            </a:r>
            <a:endParaRPr lang="ko-KR" alt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63924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8096" y="418338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" y="4288536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35024" y="4183380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통합 검색</a:t>
            </a:r>
            <a:endParaRPr lang="ko-KR" alt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68096" y="4732020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검색어와 카테고리 · 색상 · 가격대 필터를 함께 적용하는 검색 API 구현. React Context로 검색 조건을 전역 관리하고 URL 쿼리스트링과 동기화</a:t>
            </a:r>
            <a:endParaRPr lang="ko-KR" alt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13834" y="3963924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33290" y="418338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446" y="4288536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00218" y="4183380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</a:t>
            </a:r>
            <a:endParaRPr lang="ko-KR" alt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533290" y="4732020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· 푸터, 메인 배너 자동 슬라이드, 화면 폭에 따라 4 · 3 · 2개를 노출하는 상품 목록 무한 슬라이드, 카테고리 섹션 구현. MainController · MainService로 상품 조회 API를 함께 담당</a:t>
            </a:r>
            <a:endParaRPr lang="ko-KR" alt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79029" y="3963924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98485" y="418338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641" y="4288536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5413" y="4183380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북마크(찜)</a:t>
            </a:r>
            <a:endParaRPr lang="ko-KR" alt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298485" y="4732020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엔티티 · Repository · Service · DTO를 작성해 관심 상품 저장/조회 기능의 바탕을 구현</a:t>
            </a:r>
            <a:endParaRPr lang="ko-KR" alt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32</a:t>
            </a:fld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FURNITURE · 구조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구성과 담당 코드</a:t>
            </a:r>
            <a:endParaRPr lang="ko-KR" alt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요청을 React 화면에서 받아 Spring Boot API가 처리하고, Oracle Cloud DB와 외부 서비스(OAuth2 · Toss)를 연동합니다.</a:t>
            </a:r>
            <a:endParaRPr lang="ko-KR" alt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26716" cy="1417320"/>
          </a:xfrm>
          <a:prstGeom prst="roundRect">
            <a:avLst>
              <a:gd name="adj" fmla="val 90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3398" y="200253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698" y="211683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2551176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843784"/>
            <a:ext cx="238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라우팅 · API 요청</a:t>
            </a:r>
            <a:endParaRPr lang="ko-KR" alt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220" y="2382012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04540" y="1783080"/>
            <a:ext cx="2526716" cy="1417320"/>
          </a:xfrm>
          <a:prstGeom prst="roundRect">
            <a:avLst>
              <a:gd name="adj" fmla="val 90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439298" y="200253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598" y="2116836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77692" y="2551176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ko-KR" alt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477692" y="2843784"/>
            <a:ext cx="238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 · Security · 세션</a:t>
            </a:r>
            <a:endParaRPr lang="ko-KR" alt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120" y="2382012"/>
            <a:ext cx="219456" cy="21945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60440" y="1783080"/>
            <a:ext cx="2526716" cy="1417320"/>
          </a:xfrm>
          <a:prstGeom prst="roundRect">
            <a:avLst>
              <a:gd name="adj" fmla="val 90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295198" y="200253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9498" y="2116836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333592" y="2551176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Cloud DB</a:t>
            </a:r>
            <a:endParaRPr lang="ko-KR" alt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6333592" y="2843784"/>
            <a:ext cx="238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 테이블 · 128개 컬럼</a:t>
            </a:r>
            <a:endParaRPr lang="ko-KR" alt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2019" y="2382012"/>
            <a:ext cx="219456" cy="21945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116339" y="1783080"/>
            <a:ext cx="2526716" cy="1417320"/>
          </a:xfrm>
          <a:prstGeom prst="roundRect">
            <a:avLst>
              <a:gd name="adj" fmla="val 90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10151097" y="200253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5397" y="2116836"/>
            <a:ext cx="228600" cy="2286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189491" y="2551176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OAuth2 · Toss</a:t>
            </a:r>
            <a:endParaRPr lang="ko-KR" alt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9189491" y="2843784"/>
            <a:ext cx="238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로그인 · 결제</a:t>
            </a:r>
            <a:endParaRPr lang="ko-KR" alt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548640" y="3438144"/>
            <a:ext cx="6309360" cy="2825496"/>
          </a:xfrm>
          <a:prstGeom prst="roundRect">
            <a:avLst>
              <a:gd name="adj" fmla="val 4531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86384" y="3621024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코드 — 최종 코드에 남은 줄 수</a:t>
            </a:r>
            <a:endParaRPr lang="ko-KR" altLang="en-US" sz="12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640080" y="3941064"/>
          <a:ext cx="6080760" cy="21854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31" name="Shape 21"/>
          <p:cNvSpPr/>
          <p:nvPr/>
        </p:nvSpPr>
        <p:spPr>
          <a:xfrm>
            <a:off x="7077456" y="3438144"/>
            <a:ext cx="4565599" cy="2825496"/>
          </a:xfrm>
          <a:prstGeom prst="roundRect">
            <a:avLst>
              <a:gd name="adj" fmla="val 4531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7315200" y="3621024"/>
            <a:ext cx="40901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기술</a:t>
            </a:r>
            <a:endParaRPr lang="ko-KR" altLang="en-US" sz="1250" dirty="0"/>
          </a:p>
        </p:txBody>
      </p:sp>
      <p:sp>
        <p:nvSpPr>
          <p:cNvPr id="33" name="Shape 23"/>
          <p:cNvSpPr/>
          <p:nvPr/>
        </p:nvSpPr>
        <p:spPr>
          <a:xfrm>
            <a:off x="7315200" y="4041648"/>
            <a:ext cx="531114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7315200" y="4041648"/>
            <a:ext cx="531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</a:t>
            </a:r>
            <a:endParaRPr lang="ko-KR" alt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7937754" y="4041648"/>
            <a:ext cx="1003173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7937754" y="4041648"/>
            <a:ext cx="10031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ko-KR" alt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9032367" y="4041648"/>
            <a:ext cx="1280541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9032367" y="4041648"/>
            <a:ext cx="12805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</a:t>
            </a:r>
            <a:endParaRPr lang="ko-KR" altLang="en-US" sz="1050" dirty="0"/>
          </a:p>
        </p:txBody>
      </p:sp>
      <p:sp>
        <p:nvSpPr>
          <p:cNvPr id="39" name="Shape 29"/>
          <p:cNvSpPr/>
          <p:nvPr/>
        </p:nvSpPr>
        <p:spPr>
          <a:xfrm>
            <a:off x="7315200" y="4425696"/>
            <a:ext cx="1299210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7315200" y="4425696"/>
            <a:ext cx="1299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Data JPA</a:t>
            </a:r>
            <a:endParaRPr lang="ko-KR" alt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8705850" y="4425696"/>
            <a:ext cx="1592580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8705850" y="4425696"/>
            <a:ext cx="15925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Session JDBC</a:t>
            </a:r>
            <a:endParaRPr lang="ko-KR" alt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10389870" y="4425696"/>
            <a:ext cx="701802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10389870" y="4425696"/>
            <a:ext cx="701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OAuth2</a:t>
            </a:r>
            <a:endParaRPr lang="ko-KR" alt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7315200" y="4809744"/>
            <a:ext cx="600456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7315200" y="4809744"/>
            <a:ext cx="600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ko-KR" altLang="en-US" sz="1050" dirty="0"/>
          </a:p>
        </p:txBody>
      </p:sp>
      <p:sp>
        <p:nvSpPr>
          <p:cNvPr id="47" name="Shape 37"/>
          <p:cNvSpPr/>
          <p:nvPr/>
        </p:nvSpPr>
        <p:spPr>
          <a:xfrm>
            <a:off x="8007096" y="4809744"/>
            <a:ext cx="1141857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8007096" y="4809744"/>
            <a:ext cx="11418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Context</a:t>
            </a:r>
            <a:endParaRPr lang="ko-KR" altLang="en-US" sz="1050" dirty="0"/>
          </a:p>
        </p:txBody>
      </p:sp>
      <p:sp>
        <p:nvSpPr>
          <p:cNvPr id="49" name="Shape 39"/>
          <p:cNvSpPr/>
          <p:nvPr/>
        </p:nvSpPr>
        <p:spPr>
          <a:xfrm>
            <a:off x="9240393" y="4809744"/>
            <a:ext cx="1240536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9240393" y="4809744"/>
            <a:ext cx="1240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react-hook-form</a:t>
            </a:r>
            <a:endParaRPr lang="ko-KR" altLang="en-US" sz="1050" dirty="0"/>
          </a:p>
        </p:txBody>
      </p:sp>
      <p:sp>
        <p:nvSpPr>
          <p:cNvPr id="51" name="Shape 41"/>
          <p:cNvSpPr/>
          <p:nvPr/>
        </p:nvSpPr>
        <p:spPr>
          <a:xfrm>
            <a:off x="10572369" y="4809744"/>
            <a:ext cx="493776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10572369" y="480974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MUI</a:t>
            </a:r>
            <a:endParaRPr lang="ko-KR" altLang="en-US" sz="1050" dirty="0"/>
          </a:p>
        </p:txBody>
      </p:sp>
      <p:sp>
        <p:nvSpPr>
          <p:cNvPr id="53" name="Shape 43"/>
          <p:cNvSpPr/>
          <p:nvPr/>
        </p:nvSpPr>
        <p:spPr>
          <a:xfrm>
            <a:off x="7315200" y="5193792"/>
            <a:ext cx="1349883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7315200" y="5193792"/>
            <a:ext cx="13498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CSS3 · Bootstrap</a:t>
            </a:r>
            <a:endParaRPr lang="ko-KR" altLang="en-US" sz="1050" dirty="0"/>
          </a:p>
        </p:txBody>
      </p:sp>
      <p:sp>
        <p:nvSpPr>
          <p:cNvPr id="55" name="Shape 45"/>
          <p:cNvSpPr/>
          <p:nvPr/>
        </p:nvSpPr>
        <p:spPr>
          <a:xfrm>
            <a:off x="8756523" y="5193792"/>
            <a:ext cx="1368552" cy="292608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8756523" y="5193792"/>
            <a:ext cx="1368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Cloud ADB</a:t>
            </a:r>
            <a:endParaRPr lang="ko-KR" altLang="en-US" sz="1050" dirty="0"/>
          </a:p>
        </p:txBody>
      </p:sp>
      <p:sp>
        <p:nvSpPr>
          <p:cNvPr id="57" name="Text 47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58" name="Text 48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33</a:t>
            </a:fld>
            <a:endParaRPr lang="ko-KR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FURNITURE · 서비스 흐름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흐름과 DB 구조</a:t>
            </a:r>
            <a:endParaRPr lang="ko-KR" alt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탐색부터 후기 관리까지 이어지는 쇼핑몰 흐름입니다. 직접 배송·설치 기사를 배정하는 단계가 일반 쇼핑몰과 다른 점입니다.</a:t>
            </a:r>
            <a:endParaRPr lang="ko-KR" alt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355080" cy="779069"/>
          </a:xfrm>
          <a:prstGeom prst="roundRect">
            <a:avLst>
              <a:gd name="adj" fmla="val 16432"/>
            </a:avLst>
          </a:prstGeom>
          <a:solidFill>
            <a:srgbClr val="16282E"/>
          </a:solidFill>
          <a:ln w="9525">
            <a:solidFill>
              <a:srgbClr val="1F6B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783080"/>
            <a:ext cx="2103120" cy="779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상품 탐색</a:t>
            </a:r>
            <a:endParaRPr lang="ko-KR" alt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783080"/>
            <a:ext cx="2926080" cy="779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· 통합 검색 · 필터</a:t>
            </a:r>
            <a:endParaRPr lang="ko-KR" alt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2044598"/>
            <a:ext cx="469392" cy="256032"/>
          </a:xfrm>
          <a:prstGeom prst="roundRect">
            <a:avLst>
              <a:gd name="adj" fmla="val 50000"/>
            </a:avLst>
          </a:prstGeom>
          <a:solidFill>
            <a:srgbClr val="183B3E"/>
          </a:solidFill>
          <a:ln w="9525">
            <a:solidFill>
              <a:srgbClr val="2075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2044598"/>
            <a:ext cx="46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ko-KR" alt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708453"/>
            <a:ext cx="6355080" cy="779069"/>
          </a:xfrm>
          <a:prstGeom prst="roundRect">
            <a:avLst>
              <a:gd name="adj" fmla="val 164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708453"/>
            <a:ext cx="2103120" cy="779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구매 선택</a:t>
            </a:r>
            <a:endParaRPr lang="ko-KR" alt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708453"/>
            <a:ext cx="2926080" cy="779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· 바로 결제</a:t>
            </a:r>
            <a:endParaRPr lang="ko-KR" alt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33826"/>
            <a:ext cx="6355080" cy="779069"/>
          </a:xfrm>
          <a:prstGeom prst="roundRect">
            <a:avLst>
              <a:gd name="adj" fmla="val 164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633826"/>
            <a:ext cx="2103120" cy="779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결제 처리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633826"/>
            <a:ext cx="2926080" cy="779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 연동</a:t>
            </a:r>
            <a:endParaRPr lang="ko-KR" alt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59198"/>
            <a:ext cx="6355080" cy="779069"/>
          </a:xfrm>
          <a:prstGeom prst="roundRect">
            <a:avLst>
              <a:gd name="adj" fmla="val 164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59198"/>
            <a:ext cx="2103120" cy="779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배송 · 설치</a:t>
            </a:r>
            <a:endParaRPr lang="ko-KR" alt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4559198"/>
            <a:ext cx="2926080" cy="779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배송 관리 · 설치 기사 배정</a:t>
            </a:r>
            <a:endParaRPr lang="ko-KR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84571"/>
            <a:ext cx="6355080" cy="779069"/>
          </a:xfrm>
          <a:prstGeom prst="roundRect">
            <a:avLst>
              <a:gd name="adj" fmla="val 164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5484571"/>
            <a:ext cx="2103120" cy="779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후기 관리</a:t>
            </a:r>
            <a:endParaRPr lang="ko-KR" alt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5484571"/>
            <a:ext cx="2926080" cy="779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작성 · 수정 · 삭제</a:t>
            </a:r>
            <a:endParaRPr lang="ko-KR" alt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41464" y="1783080"/>
            <a:ext cx="4501591" cy="4480560"/>
          </a:xfrm>
          <a:prstGeom prst="roundRect">
            <a:avLst>
              <a:gd name="adj" fmla="val 285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96" y="2039112"/>
            <a:ext cx="201168" cy="20116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708392" y="1993392"/>
            <a:ext cx="36786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구조 — 17개 테이블</a:t>
            </a:r>
            <a:endParaRPr lang="ko-KR" alt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7397496" y="2514600"/>
            <a:ext cx="3989527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900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 도메인으로 나눴고, 회원/인증과 BOOKMARKS 테이블을 담당했습니다.</a:t>
            </a:r>
            <a:endParaRPr lang="ko-KR" alt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406640" y="3087529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598664" y="3047238"/>
            <a:ext cx="3788359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회원/인증 (담당)</a:t>
            </a:r>
            <a:endParaRPr lang="ko-KR" alt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598664" y="3237548"/>
            <a:ext cx="3788359" cy="15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8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 · MEMBER_ADDRESS · ADMINS · SPRING_SESSION</a:t>
            </a:r>
            <a:endParaRPr lang="ko-KR" alt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406640" y="3598958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598664" y="3558667"/>
            <a:ext cx="3788359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</a:t>
            </a:r>
            <a:endParaRPr lang="ko-KR" alt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7598664" y="3748977"/>
            <a:ext cx="3788359" cy="15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8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 · ITEM_IMG · BOOKMARKS(담당) · REVIEW · ARTICLE</a:t>
            </a:r>
            <a:endParaRPr lang="ko-KR" alt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406640" y="4110387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598664" y="4070096"/>
            <a:ext cx="3788359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</a:t>
            </a:r>
            <a:endParaRPr lang="ko-KR" alt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7598664" y="4260406"/>
            <a:ext cx="3788359" cy="15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8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CART · CART_ITEM · ORDERS · ORDER_ITEM · PAYMENT</a:t>
            </a:r>
            <a:endParaRPr lang="ko-KR" alt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7406640" y="4621816"/>
            <a:ext cx="82296" cy="822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598664" y="4581525"/>
            <a:ext cx="3788359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배송/설치</a:t>
            </a:r>
            <a:endParaRPr lang="ko-KR" alt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7598664" y="4771835"/>
            <a:ext cx="3788359" cy="15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8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DELIVERY · 주문 배송상태 · 설치일/배송일</a:t>
            </a:r>
            <a:endParaRPr lang="ko-KR" alt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7397496" y="5456809"/>
            <a:ext cx="3989527" cy="587375"/>
          </a:xfrm>
          <a:prstGeom prst="roundRect">
            <a:avLst>
              <a:gd name="adj" fmla="val 15568"/>
            </a:avLst>
          </a:prstGeom>
          <a:solidFill>
            <a:srgbClr val="16282E"/>
          </a:solidFill>
          <a:ln w="9525">
            <a:solidFill>
              <a:srgbClr val="1C585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562088" y="5456809"/>
            <a:ext cx="3660343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ko-KR" altLang="en-US" sz="850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Session JDBC로 세션을 SPRING_SESSION 테이블에 저장했습니다.</a:t>
            </a:r>
            <a:endParaRPr lang="ko-KR" alt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34</a:t>
            </a:fld>
            <a:endParaRPr lang="ko-KR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0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FURNITURE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2788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2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화면</a:t>
            </a:r>
            <a:endParaRPr lang="ko-KR" alt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00302"/>
            <a:ext cx="278892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담당한 검색 · 로그인 · 회원가입 · 아이디 찾기 화면입니다. 최종 발표에서는 중간 발표 피드백을 반영해 1:1 상담창과 관리자 대시보드를 추가했고, 발표를 맡았습니다.</a:t>
            </a:r>
            <a:endParaRPr lang="ko-KR" alt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749040" y="548640"/>
            <a:ext cx="2472842" cy="2395728"/>
          </a:xfrm>
          <a:prstGeom prst="roundRect">
            <a:avLst>
              <a:gd name="adj" fmla="val 3817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95344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7" name="Shape 5"/>
          <p:cNvSpPr/>
          <p:nvPr/>
        </p:nvSpPr>
        <p:spPr>
          <a:xfrm>
            <a:off x="4041648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87952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4" y="822960"/>
            <a:ext cx="2408834" cy="20894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749040" y="3008376"/>
            <a:ext cx="2472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lnSpc>
                <a:spcPct val="112000"/>
              </a:lnSpc>
              <a:buNone/>
            </a:pPr>
            <a:r>
              <a:rPr lang="ko-KR" altLang="en-US" sz="8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필터 — 카테고리·색상·가격 슬라이더</a:t>
            </a:r>
            <a:endParaRPr lang="ko-KR" alt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59626" y="548640"/>
            <a:ext cx="2472842" cy="2395728"/>
          </a:xfrm>
          <a:prstGeom prst="roundRect">
            <a:avLst>
              <a:gd name="adj" fmla="val 3817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05930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3" name="Shape 10"/>
          <p:cNvSpPr/>
          <p:nvPr/>
        </p:nvSpPr>
        <p:spPr>
          <a:xfrm>
            <a:off x="6752234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1"/>
          <p:cNvSpPr/>
          <p:nvPr/>
        </p:nvSpPr>
        <p:spPr>
          <a:xfrm>
            <a:off x="6898538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30" y="822960"/>
            <a:ext cx="2408834" cy="208940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59626" y="3008376"/>
            <a:ext cx="2472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</a:t>
            </a:r>
            <a:endParaRPr lang="ko-KR" alt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9170213" y="548640"/>
            <a:ext cx="2472842" cy="2395728"/>
          </a:xfrm>
          <a:prstGeom prst="roundRect">
            <a:avLst>
              <a:gd name="adj" fmla="val 3817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316517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9" name="Shape 15"/>
          <p:cNvSpPr/>
          <p:nvPr/>
        </p:nvSpPr>
        <p:spPr>
          <a:xfrm>
            <a:off x="9462821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hape 16"/>
          <p:cNvSpPr/>
          <p:nvPr/>
        </p:nvSpPr>
        <p:spPr>
          <a:xfrm>
            <a:off x="9609125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2217" y="822960"/>
            <a:ext cx="2408834" cy="208940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170213" y="3008376"/>
            <a:ext cx="2472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— OAuth2 소셜 로그인</a:t>
            </a:r>
            <a:endParaRPr lang="ko-KR" alt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749040" y="3493008"/>
            <a:ext cx="2472842" cy="2395728"/>
          </a:xfrm>
          <a:prstGeom prst="roundRect">
            <a:avLst>
              <a:gd name="adj" fmla="val 3817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895344" y="3589020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5" name="Shape 20"/>
          <p:cNvSpPr/>
          <p:nvPr/>
        </p:nvSpPr>
        <p:spPr>
          <a:xfrm>
            <a:off x="4041648" y="3589020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1"/>
          <p:cNvSpPr/>
          <p:nvPr/>
        </p:nvSpPr>
        <p:spPr>
          <a:xfrm>
            <a:off x="4187952" y="3589020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044" y="3767328"/>
            <a:ext cx="2408834" cy="208940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3749040" y="5952744"/>
            <a:ext cx="2472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endParaRPr lang="ko-KR" alt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459626" y="3493008"/>
            <a:ext cx="2472842" cy="2395728"/>
          </a:xfrm>
          <a:prstGeom prst="roundRect">
            <a:avLst>
              <a:gd name="adj" fmla="val 3817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605930" y="3589020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1" name="Shape 25"/>
          <p:cNvSpPr/>
          <p:nvPr/>
        </p:nvSpPr>
        <p:spPr>
          <a:xfrm>
            <a:off x="6752234" y="3589020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2" name="Shape 26"/>
          <p:cNvSpPr/>
          <p:nvPr/>
        </p:nvSpPr>
        <p:spPr>
          <a:xfrm>
            <a:off x="6898538" y="3589020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1630" y="3767328"/>
            <a:ext cx="2408834" cy="208940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459626" y="5952744"/>
            <a:ext cx="2472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 찾기</a:t>
            </a:r>
            <a:endParaRPr lang="ko-KR" alt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9170213" y="3493008"/>
            <a:ext cx="2472842" cy="2395728"/>
          </a:xfrm>
          <a:prstGeom prst="roundRect">
            <a:avLst>
              <a:gd name="adj" fmla="val 4580"/>
            </a:avLst>
          </a:prstGeom>
          <a:solidFill>
            <a:srgbClr val="1B2B33"/>
          </a:solidFill>
          <a:ln w="9525">
            <a:solidFill>
              <a:srgbClr val="1F5355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7957" y="3730752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718853" y="3694176"/>
            <a:ext cx="17413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— 5명</a:t>
            </a:r>
            <a:endParaRPr lang="ko-KR" alt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9426245" y="4133088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9645701" y="405993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</a:t>
            </a:r>
            <a:endParaRPr lang="ko-KR" alt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9645701" y="4215384"/>
            <a:ext cx="17778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8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회원/인증 · 메인 · 검색 · 북마크</a:t>
            </a:r>
            <a:endParaRPr lang="ko-KR" alt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9426245" y="4471416"/>
            <a:ext cx="118872" cy="118872"/>
          </a:xfrm>
          <a:prstGeom prst="ellipse">
            <a:avLst/>
          </a:prstGeom>
          <a:solidFill>
            <a:srgbClr val="242835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9645701" y="439826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오현옥</a:t>
            </a:r>
            <a:endParaRPr lang="ko-KR" alt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9645701" y="4553712"/>
            <a:ext cx="17778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8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목록 · 리뷰</a:t>
            </a:r>
            <a:endParaRPr lang="ko-KR" altLang="en-US" sz="850" dirty="0"/>
          </a:p>
        </p:txBody>
      </p:sp>
      <p:sp>
        <p:nvSpPr>
          <p:cNvPr id="44" name="Shape 36"/>
          <p:cNvSpPr/>
          <p:nvPr/>
        </p:nvSpPr>
        <p:spPr>
          <a:xfrm>
            <a:off x="9426245" y="4809744"/>
            <a:ext cx="118872" cy="118872"/>
          </a:xfrm>
          <a:prstGeom prst="ellipse">
            <a:avLst/>
          </a:prstGeom>
          <a:solidFill>
            <a:srgbClr val="242835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9645701" y="47365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김태양</a:t>
            </a:r>
            <a:endParaRPr lang="ko-KR" alt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9645701" y="4892040"/>
            <a:ext cx="17778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8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대시보드</a:t>
            </a:r>
            <a:endParaRPr lang="ko-KR" alt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9426245" y="5148072"/>
            <a:ext cx="118872" cy="118872"/>
          </a:xfrm>
          <a:prstGeom prst="ellipse">
            <a:avLst/>
          </a:prstGeom>
          <a:solidFill>
            <a:srgbClr val="242835"/>
          </a:solidFill>
          <a:ln/>
        </p:spPr>
      </p:sp>
      <p:sp>
        <p:nvSpPr>
          <p:cNvPr id="48" name="Text 40"/>
          <p:cNvSpPr txBox="1"/>
          <p:nvPr/>
        </p:nvSpPr>
        <p:spPr>
          <a:xfrm>
            <a:off x="9645701" y="50749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김인호</a:t>
            </a:r>
            <a:endParaRPr lang="ko-KR" alt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9645701" y="5230368"/>
            <a:ext cx="17778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8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 · 장바구니</a:t>
            </a:r>
            <a:endParaRPr lang="ko-KR" altLang="en-US" sz="850" dirty="0"/>
          </a:p>
        </p:txBody>
      </p:sp>
      <p:sp>
        <p:nvSpPr>
          <p:cNvPr id="50" name="Shape 42"/>
          <p:cNvSpPr/>
          <p:nvPr/>
        </p:nvSpPr>
        <p:spPr>
          <a:xfrm>
            <a:off x="9426245" y="5486400"/>
            <a:ext cx="118872" cy="118872"/>
          </a:xfrm>
          <a:prstGeom prst="ellipse">
            <a:avLst/>
          </a:prstGeom>
          <a:solidFill>
            <a:srgbClr val="242835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9645701" y="54132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김승우</a:t>
            </a:r>
            <a:endParaRPr lang="ko-KR" alt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9645701" y="5568696"/>
            <a:ext cx="17778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8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시스템</a:t>
            </a:r>
            <a:endParaRPr lang="ko-KR" altLang="en-US" sz="850" dirty="0"/>
          </a:p>
        </p:txBody>
      </p:sp>
      <p:sp>
        <p:nvSpPr>
          <p:cNvPr id="53" name="Text 45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54" name="Text 46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35</a:t>
            </a:fld>
            <a:endParaRPr lang="ko-KR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FURNITURE · 문제 해결 01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로그인 요청과 Spring Security 폼 로그인의 형식 충돌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86600" cy="1612392"/>
          </a:xfrm>
          <a:prstGeom prst="roundRect">
            <a:avLst>
              <a:gd name="adj" fmla="val 794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32076"/>
            <a:ext cx="457200" cy="457200"/>
          </a:xfrm>
          <a:prstGeom prst="ellipse">
            <a:avLst/>
          </a:prstGeom>
          <a:solidFill>
            <a:srgbClr val="3D2631"/>
          </a:solidFill>
          <a:ln w="12700">
            <a:solidFill>
              <a:srgbClr val="8743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1320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ko-KR" alt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349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ko-KR" alt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700784"/>
            <a:ext cx="5852160" cy="131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로그인이 되지 않아, 로그인한 사용자의 권한 정보가 필요한 팀 기능 4개(장바구니, 마이페이지, 관리자 대시보드, 관리자 상품관리)의 개발이 멈췄습니다. 로그인을 시도하면 화면에는 415 Unsupported Media Type, 서버에는 HttpMediaTypeNotSupportedException이 남았습니다.</a:t>
            </a:r>
            <a:endParaRPr lang="ko-KR" alt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31464"/>
            <a:ext cx="7086600" cy="1383792"/>
          </a:xfrm>
          <a:prstGeom prst="roundRect">
            <a:avLst>
              <a:gd name="adj" fmla="val 9251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794760"/>
            <a:ext cx="457200" cy="457200"/>
          </a:xfrm>
          <a:prstGeom prst="ellipse">
            <a:avLst/>
          </a:prstGeom>
          <a:solidFill>
            <a:srgbClr val="3D341F"/>
          </a:solidFill>
          <a:ln w="12700">
            <a:solidFill>
              <a:srgbClr val="876A2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2976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ko-KR" alt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477768"/>
            <a:ext cx="5852160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메시지를 직접 해석한 뒤 로그인 화면(Login.js), 회원 코드, SecurityConfig를 대조했습니다. React는 입력값을 JSON으로 보내는데 Spring Security 폼 로그인은 폼 파라미터만 읽고, 파라미터 이름도 서버 설정과 같아야 한다는 것이 원인이었습니다.</a:t>
            </a:r>
            <a:endParaRPr lang="ko-KR" alt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7086600" cy="1383792"/>
          </a:xfrm>
          <a:prstGeom prst="roundRect">
            <a:avLst>
              <a:gd name="adj" fmla="val 9251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5343144"/>
            <a:ext cx="457200" cy="457200"/>
          </a:xfrm>
          <a:prstGeom prst="ellipse">
            <a:avLst/>
          </a:prstGeom>
          <a:solidFill>
            <a:srgbClr val="163743"/>
          </a:solidFill>
          <a:ln w="12700">
            <a:solidFill>
              <a:srgbClr val="1B74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5343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8460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ko-KR" alt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026152"/>
            <a:ext cx="5852160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상황을 글로 정리해 팀 채팅방에 먼저 공유했습니다. 로그인 요청은 URLSearchParams로 폼 형식(x-www-form-urlencoded)으로 변환하고, 로그인 성공 · 실패 · 미인증 응답은 핸들러에서 JSON으로 돌려주도록 맞췄습니다.</a:t>
            </a:r>
            <a:endParaRPr lang="ko-KR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54696" y="1554480"/>
            <a:ext cx="3788359" cy="4709160"/>
          </a:xfrm>
          <a:prstGeom prst="roundRect">
            <a:avLst>
              <a:gd name="adj" fmla="val 3862"/>
            </a:avLst>
          </a:prstGeom>
          <a:solidFill>
            <a:srgbClr val="172526"/>
          </a:solidFill>
          <a:ln w="9525">
            <a:solidFill>
              <a:srgbClr val="265B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9016" y="1828800"/>
            <a:ext cx="457200" cy="457200"/>
          </a:xfrm>
          <a:prstGeom prst="ellipse">
            <a:avLst/>
          </a:prstGeom>
          <a:solidFill>
            <a:srgbClr val="1E3D32"/>
          </a:solidFill>
          <a:ln w="12700">
            <a:solidFill>
              <a:srgbClr val="3184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290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ko-KR" alt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23376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ko-KR" alt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29016" y="2514600"/>
            <a:ext cx="323971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 만에 로그인이 연동되어 멈춰 있던 팀 기능 4개의 개발이 재개됐습니다. 같은 구조 위에 관리자 로그인과 소셜 로그인 3종을 추가했습니다.</a:t>
            </a:r>
            <a:endParaRPr lang="ko-KR" alt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389120"/>
            <a:ext cx="822960" cy="82296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129016" y="5715000"/>
            <a:ext cx="123088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29016" y="5715000"/>
            <a:ext cx="1230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</a:t>
            </a:r>
            <a:endParaRPr lang="ko-KR" alt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433052" y="5715000"/>
            <a:ext cx="58318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33052" y="5715000"/>
            <a:ext cx="58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ko-KR" alt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0089388" y="5715000"/>
            <a:ext cx="76352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089388" y="5715000"/>
            <a:ext cx="76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형식</a:t>
            </a:r>
            <a:endParaRPr lang="ko-KR" alt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36</a:t>
            </a:fld>
            <a:endParaRPr lang="ko-KR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3H FURNITURE · 문제 해결 02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2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병합 후 백엔드 서버 기동 실패</a:t>
            </a:r>
            <a:endParaRPr lang="ko-KR" alt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86600" cy="1459992"/>
          </a:xfrm>
          <a:prstGeom prst="roundRect">
            <a:avLst>
              <a:gd name="adj" fmla="val 8768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055876"/>
            <a:ext cx="457200" cy="457200"/>
          </a:xfrm>
          <a:prstGeom prst="ellipse">
            <a:avLst/>
          </a:prstGeom>
          <a:solidFill>
            <a:srgbClr val="3D2631"/>
          </a:solidFill>
          <a:ln w="12700">
            <a:solidFill>
              <a:srgbClr val="8743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558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ko-KR" alt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587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ko-KR" alt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700784"/>
            <a:ext cx="5852160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코드를 병합한 뒤 백엔드 서버가 켜지지 않아, 팀 전체가 기능을 실행해 확인할 수 없었습니다.</a:t>
            </a:r>
            <a:endParaRPr lang="ko-KR" alt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79064"/>
            <a:ext cx="7086600" cy="1459992"/>
          </a:xfrm>
          <a:prstGeom prst="roundRect">
            <a:avLst>
              <a:gd name="adj" fmla="val 8768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680460"/>
            <a:ext cx="457200" cy="457200"/>
          </a:xfrm>
          <a:prstGeom prst="ellipse">
            <a:avLst/>
          </a:prstGeom>
          <a:solidFill>
            <a:srgbClr val="3D341F"/>
          </a:solidFill>
          <a:ln w="12700">
            <a:solidFill>
              <a:srgbClr val="876A2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833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ko-KR" alt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325368"/>
            <a:ext cx="5852160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ItemImgRepository에 파라미터 타입이 Long이 아닌 lombok.extern.java.Log로 잘못 지정된 조회 메서드가 있었고, 같은 역할의 메서드가 이미 따로 있는 중복 코드였습니다.</a:t>
            </a:r>
            <a:endParaRPr lang="ko-KR" alt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03648"/>
            <a:ext cx="7086600" cy="1459992"/>
          </a:xfrm>
          <a:prstGeom prst="roundRect">
            <a:avLst>
              <a:gd name="adj" fmla="val 8768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5305044"/>
            <a:ext cx="457200" cy="457200"/>
          </a:xfrm>
          <a:prstGeom prst="ellipse">
            <a:avLst/>
          </a:prstGeom>
          <a:solidFill>
            <a:srgbClr val="163743"/>
          </a:solidFill>
          <a:ln w="12700">
            <a:solidFill>
              <a:srgbClr val="1B74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5305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ko-KR" alt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8079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ko-KR" alt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949952"/>
            <a:ext cx="5852160" cy="1167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메서드를 주석 처리하고 원인을 주석으로 남겼으며, 사용하지 않는 import를 정리했습니다.</a:t>
            </a:r>
            <a:endParaRPr lang="ko-KR" alt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54696" y="1554480"/>
            <a:ext cx="3788359" cy="4709160"/>
          </a:xfrm>
          <a:prstGeom prst="roundRect">
            <a:avLst>
              <a:gd name="adj" fmla="val 3862"/>
            </a:avLst>
          </a:prstGeom>
          <a:solidFill>
            <a:srgbClr val="172526"/>
          </a:solidFill>
          <a:ln w="9525">
            <a:solidFill>
              <a:srgbClr val="265B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9016" y="1828800"/>
            <a:ext cx="457200" cy="457200"/>
          </a:xfrm>
          <a:prstGeom prst="ellipse">
            <a:avLst/>
          </a:prstGeom>
          <a:solidFill>
            <a:srgbClr val="1E3D32"/>
          </a:solidFill>
          <a:ln w="12700">
            <a:solidFill>
              <a:srgbClr val="3184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290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ko-KR" alt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23376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ko-KR" alt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29016" y="2514600"/>
            <a:ext cx="323971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서버가 정상적으로 기동돼 팀원들이 다시 통합 테스트를 진행할 수 있었습니다.</a:t>
            </a:r>
            <a:endParaRPr lang="ko-KR" alt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389120"/>
            <a:ext cx="822960" cy="82296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129016" y="5715000"/>
            <a:ext cx="60350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29016" y="57150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</a:t>
            </a:r>
            <a:endParaRPr lang="ko-KR" alt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805672" y="5715000"/>
            <a:ext cx="124866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805672" y="5715000"/>
            <a:ext cx="1248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Data JPA</a:t>
            </a:r>
            <a:endParaRPr lang="ko-KR" alt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0127488" y="5715000"/>
            <a:ext cx="481584" cy="274320"/>
          </a:xfrm>
          <a:prstGeom prst="roundRect">
            <a:avLst>
              <a:gd name="adj" fmla="val 23333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127488" y="5715000"/>
            <a:ext cx="481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병합</a:t>
            </a:r>
            <a:endParaRPr lang="ko-KR" alt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37</a:t>
            </a:fld>
            <a:endParaRPr lang="ko-KR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303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10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65403" cy="246888"/>
          </a:xfrm>
          <a:prstGeom prst="roundRect">
            <a:avLst>
              <a:gd name="adj" fmla="val 50000"/>
            </a:avLst>
          </a:prstGeom>
          <a:solidFill>
            <a:srgbClr val="173035"/>
          </a:solidFill>
          <a:ln w="9525">
            <a:solidFill>
              <a:srgbClr val="1D61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106540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· Advanced</a:t>
            </a:r>
            <a:endParaRPr lang="ko-KR" alt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87195" y="868680"/>
            <a:ext cx="353568" cy="246888"/>
          </a:xfrm>
          <a:prstGeom prst="roundRect">
            <a:avLst>
              <a:gd name="adj" fmla="val 50000"/>
            </a:avLst>
          </a:prstGeom>
          <a:solidFill>
            <a:srgbClr val="173035"/>
          </a:solidFill>
          <a:ln w="9525">
            <a:solidFill>
              <a:srgbClr val="1D61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87195" y="868680"/>
            <a:ext cx="353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ko-KR" alt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43584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PPAP</a:t>
            </a:r>
            <a:endParaRPr lang="ko-KR" alt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557784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지도와 공공 실거래 데이터를 결합한 부동산 매물 탐색 플랫폼</a:t>
            </a:r>
            <a:endParaRPr lang="ko-KR" alt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7469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1248" y="271068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2026.03.16 ~ 04.03</a:t>
            </a:r>
            <a:endParaRPr lang="ko-KR" alt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38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" y="3039872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PPAP팀 · 5인</a:t>
            </a:r>
            <a:endParaRPr lang="ko-KR" alt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330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" y="336905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회원 도메인</a:t>
            </a:r>
            <a:endParaRPr lang="ko-KR" alt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789680"/>
            <a:ext cx="938784" cy="274320"/>
          </a:xfrm>
          <a:prstGeom prst="roundRect">
            <a:avLst>
              <a:gd name="adj" fmla="val 26667"/>
            </a:avLst>
          </a:prstGeom>
          <a:solidFill>
            <a:srgbClr val="16282E"/>
          </a:solidFill>
          <a:ln w="9525">
            <a:solidFill>
              <a:srgbClr val="1D615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53688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9536" y="3789680"/>
            <a:ext cx="57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u="sng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https://github.com/Polalise/Advanced_projec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ko-KR" alt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400800" y="548640"/>
            <a:ext cx="5242255" cy="3840480"/>
          </a:xfrm>
          <a:prstGeom prst="roundRect">
            <a:avLst>
              <a:gd name="adj" fmla="val 2381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547104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0" name="Shape 14"/>
          <p:cNvSpPr/>
          <p:nvPr/>
        </p:nvSpPr>
        <p:spPr>
          <a:xfrm>
            <a:off x="6693408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Shape 15"/>
          <p:cNvSpPr/>
          <p:nvPr/>
        </p:nvSpPr>
        <p:spPr>
          <a:xfrm>
            <a:off x="6839712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2" name="Shape 16"/>
          <p:cNvSpPr/>
          <p:nvPr/>
        </p:nvSpPr>
        <p:spPr>
          <a:xfrm>
            <a:off x="7040880" y="608076"/>
            <a:ext cx="1005840" cy="155448"/>
          </a:xfrm>
          <a:prstGeom prst="roundRect">
            <a:avLst>
              <a:gd name="adj" fmla="val 29412"/>
            </a:avLst>
          </a:prstGeom>
          <a:solidFill>
            <a:srgbClr val="0A0B10"/>
          </a:solidFill>
          <a:ln w="9525">
            <a:solidFill>
              <a:srgbClr val="1C1F2A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040880" y="608076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0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ppap · 매물 상세</a:t>
            </a:r>
            <a:endParaRPr lang="ko-KR" altLang="en-US" sz="8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804" y="822960"/>
            <a:ext cx="5178247" cy="3534156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8640" y="4663440"/>
            <a:ext cx="5577840" cy="1572768"/>
          </a:xfrm>
          <a:prstGeom prst="roundRect">
            <a:avLst>
              <a:gd name="adj" fmla="val 814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48640" y="5065776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</a:t>
            </a:r>
            <a:endParaRPr lang="ko-KR" altLang="en-US" sz="26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55412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방식</a:t>
            </a:r>
            <a:endParaRPr lang="ko-KR" alt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333756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3337560" y="5065776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ko-KR" altLang="en-US" sz="2600" dirty="0"/>
          </a:p>
        </p:txBody>
      </p:sp>
      <p:sp>
        <p:nvSpPr>
          <p:cNvPr id="30" name="Text 23"/>
          <p:cNvSpPr txBox="1"/>
          <p:nvPr/>
        </p:nvSpPr>
        <p:spPr>
          <a:xfrm>
            <a:off x="3383280" y="55412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유형</a:t>
            </a:r>
            <a:endParaRPr lang="ko-KR" alt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400800" y="4663440"/>
            <a:ext cx="5242255" cy="1572768"/>
          </a:xfrm>
          <a:prstGeom prst="roundRect">
            <a:avLst>
              <a:gd name="adj" fmla="val 8140"/>
            </a:avLst>
          </a:prstGeom>
          <a:solidFill>
            <a:srgbClr val="1B2B33"/>
          </a:solidFill>
          <a:ln w="9525">
            <a:solidFill>
              <a:srgbClr val="1F5355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4882896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912864" y="4846320"/>
            <a:ext cx="451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내 위치</a:t>
            </a:r>
            <a:endParaRPr lang="ko-KR" alt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638544" y="5175504"/>
            <a:ext cx="476676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회원과 사업자 회원을 구분하는 인증 · 회원 구조를 맡았습니다. 매물 등록과 상담 관리 권한이 이 구분에 따라 나뉩니다.</a:t>
            </a:r>
            <a:endParaRPr lang="ko-KR" alt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38</a:t>
            </a:fld>
            <a:endParaRPr lang="ko-KR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PPAP · 담당 기능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회원 도메인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466088"/>
          </a:xfrm>
          <a:prstGeom prst="roundRect">
            <a:avLst>
              <a:gd name="adj" fmla="val 87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1787652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64208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기반 로그인·인증</a:t>
            </a:r>
            <a:endParaRPr lang="ko-KR" alt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029968"/>
            <a:ext cx="4352544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authMiddleware가 토큰이 없으면 비로그인 상태로 통과시키고 유효하지 않은 토큰에만 401을 반환해, 로그인 필수 기능과 공개 기능이 같은 미들웨어를 사용. 토큰은 응답 헤더로 발급하고 React 전역 컨텍스트로 인증 상태를 관리</a:t>
            </a:r>
            <a:endParaRPr lang="ko-KR" alt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3130296"/>
            <a:ext cx="5394960" cy="1466088"/>
          </a:xfrm>
          <a:prstGeom prst="roundRect">
            <a:avLst>
              <a:gd name="adj" fmla="val 87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" y="3349752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454908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3331464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도메인</a:t>
            </a:r>
            <a:endParaRPr lang="ko-KR" alt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3697224"/>
            <a:ext cx="4352544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· 정보 수정 · 탈퇴와 개별/전체 회원정보 조회 API 구현</a:t>
            </a:r>
            <a:endParaRPr lang="ko-KR" alt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797552"/>
            <a:ext cx="5394960" cy="1466088"/>
          </a:xfrm>
          <a:prstGeom prst="roundRect">
            <a:avLst>
              <a:gd name="adj" fmla="val 8732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68096" y="5017008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512216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4998720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/ 사업자 회원 구분</a:t>
            </a:r>
            <a:endParaRPr lang="ko-KR" alt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5364480"/>
            <a:ext cx="4352544" cy="73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유형에 따라 매물 등록·상담 관리 권한이 나뉘도록 회원 구분 기준을 설계하고 유형 선택 · 회원가입 화면을 구현. CSS 모듈로 화면 간 스타일 충돌을 방지</a:t>
            </a:r>
            <a:endParaRPr lang="ko-KR" alt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1463040"/>
            <a:ext cx="2602840" cy="36576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207396"/>
            <a:ext cx="2419960" cy="216888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17920" y="5175504"/>
            <a:ext cx="2602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로그인·회원가입 화면 설계</a:t>
            </a:r>
            <a:endParaRPr lang="ko-KR" alt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9040216" y="1463040"/>
            <a:ext cx="2602840" cy="3657600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1656" y="2061442"/>
            <a:ext cx="2419960" cy="246079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040216" y="5175504"/>
            <a:ext cx="2602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구조도</a:t>
            </a:r>
            <a:endParaRPr lang="ko-KR" alt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217920" y="5522976"/>
            <a:ext cx="565912" cy="256032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217920" y="5522976"/>
            <a:ext cx="565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ko-KR" alt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6856984" y="5522976"/>
            <a:ext cx="993013" cy="256032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856984" y="5522976"/>
            <a:ext cx="9930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Router</a:t>
            </a:r>
            <a:endParaRPr lang="ko-KR" alt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7923149" y="5522976"/>
            <a:ext cx="469392" cy="256032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7923149" y="5522976"/>
            <a:ext cx="46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MUI</a:t>
            </a:r>
            <a:endParaRPr lang="ko-KR" alt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8465693" y="5522976"/>
            <a:ext cx="1135380" cy="256032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465693" y="5522976"/>
            <a:ext cx="1135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Maps API</a:t>
            </a:r>
            <a:endParaRPr lang="ko-KR" alt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674225" y="5522976"/>
            <a:ext cx="737235" cy="256032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9674225" y="5522976"/>
            <a:ext cx="7372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Chart.js</a:t>
            </a:r>
            <a:endParaRPr lang="ko-KR" alt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10484612" y="5522976"/>
            <a:ext cx="674497" cy="256032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10484612" y="5522976"/>
            <a:ext cx="6744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</a:t>
            </a:r>
            <a:endParaRPr lang="ko-KR" alt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6217920" y="5852160"/>
            <a:ext cx="691388" cy="256032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6217920" y="5852160"/>
            <a:ext cx="6913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Express</a:t>
            </a:r>
            <a:endParaRPr lang="ko-KR" alt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982460" y="5852160"/>
            <a:ext cx="720344" cy="256032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982460" y="5852160"/>
            <a:ext cx="720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</a:t>
            </a:r>
            <a:endParaRPr lang="ko-KR" alt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7775956" y="5852160"/>
            <a:ext cx="469392" cy="256032"/>
          </a:xfrm>
          <a:prstGeom prst="roundRect">
            <a:avLst>
              <a:gd name="adj" fmla="val 25000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7775956" y="5852160"/>
            <a:ext cx="46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</a:t>
            </a:r>
            <a:endParaRPr lang="ko-KR" altLang="en-US" sz="950" dirty="0"/>
          </a:p>
        </p:txBody>
      </p:sp>
      <p:sp>
        <p:nvSpPr>
          <p:cNvPr id="43" name="Text 3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39</a:t>
            </a:fld>
            <a:endParaRPr lang="ko-KR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303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10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430784" cy="246888"/>
          </a:xfrm>
          <a:prstGeom prst="roundRect">
            <a:avLst>
              <a:gd name="adj" fmla="val 50000"/>
            </a:avLst>
          </a:prstGeom>
          <a:solidFill>
            <a:srgbClr val="173035"/>
          </a:solidFill>
          <a:ln w="9525">
            <a:solidFill>
              <a:srgbClr val="1D61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43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</a:t>
            </a:r>
            <a:endParaRPr lang="ko-KR" alt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52576" y="868680"/>
            <a:ext cx="353568" cy="246888"/>
          </a:xfrm>
          <a:prstGeom prst="roundRect">
            <a:avLst>
              <a:gd name="adj" fmla="val 50000"/>
            </a:avLst>
          </a:prstGeom>
          <a:solidFill>
            <a:srgbClr val="173035"/>
          </a:solidFill>
          <a:ln w="9525">
            <a:solidFill>
              <a:srgbClr val="1D61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2576" y="868680"/>
            <a:ext cx="353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ko-KR" alt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43584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너의 곁에</a:t>
            </a:r>
            <a:endParaRPr lang="ko-KR" alt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557784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보호자를 위한 정보 공유 커뮤니티 (JSP · Servlet MVC)</a:t>
            </a:r>
            <a:endParaRPr lang="ko-KR" alt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577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1248" y="246176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2026.02.23 ~ 03.06 (약 2주)</a:t>
            </a:r>
            <a:endParaRPr lang="ko-KR" alt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5496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" y="2790952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무조건동의팀 · 5인</a:t>
            </a:r>
            <a:endParaRPr lang="ko-KR" alt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8414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" y="312013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인증 · 마이페이지 · 반려견 정보 관리</a:t>
            </a:r>
            <a:endParaRPr lang="ko-KR" alt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595624"/>
            <a:ext cx="503174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3595624"/>
            <a:ext cx="50317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</a:t>
            </a:r>
            <a:endParaRPr lang="ko-KR" alt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1124966" y="3595624"/>
            <a:ext cx="46939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124966" y="3595624"/>
            <a:ext cx="46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JSP</a:t>
            </a:r>
            <a:endParaRPr lang="ko-KR" alt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1667510" y="3595624"/>
            <a:ext cx="691388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667510" y="3595624"/>
            <a:ext cx="6913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Servlet</a:t>
            </a:r>
            <a:endParaRPr lang="ko-KR" alt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432050" y="3595624"/>
            <a:ext cx="546608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432050" y="3595624"/>
            <a:ext cx="546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JDBC</a:t>
            </a:r>
            <a:endParaRPr lang="ko-KR" alt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051810" y="3595624"/>
            <a:ext cx="819277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051810" y="3595624"/>
            <a:ext cx="81927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</a:t>
            </a:r>
            <a:endParaRPr lang="ko-KR" alt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944239" y="3595624"/>
            <a:ext cx="1671066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944239" y="3595624"/>
            <a:ext cx="16710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· CSS · JavaScript</a:t>
            </a:r>
            <a:endParaRPr lang="ko-KR" alt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00800" y="548640"/>
            <a:ext cx="5242255" cy="3840480"/>
          </a:xfrm>
          <a:prstGeom prst="roundRect">
            <a:avLst>
              <a:gd name="adj" fmla="val 2381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547104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9" name="Shape 24"/>
          <p:cNvSpPr/>
          <p:nvPr/>
        </p:nvSpPr>
        <p:spPr>
          <a:xfrm>
            <a:off x="6693408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0" name="Shape 25"/>
          <p:cNvSpPr/>
          <p:nvPr/>
        </p:nvSpPr>
        <p:spPr>
          <a:xfrm>
            <a:off x="6839712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1" name="Shape 26"/>
          <p:cNvSpPr/>
          <p:nvPr/>
        </p:nvSpPr>
        <p:spPr>
          <a:xfrm>
            <a:off x="7040880" y="608076"/>
            <a:ext cx="1046480" cy="155448"/>
          </a:xfrm>
          <a:prstGeom prst="roundRect">
            <a:avLst>
              <a:gd name="adj" fmla="val 29412"/>
            </a:avLst>
          </a:prstGeom>
          <a:solidFill>
            <a:srgbClr val="0A0B10"/>
          </a:solidFill>
          <a:ln w="9525">
            <a:solidFill>
              <a:srgbClr val="1C1F2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040880" y="608076"/>
            <a:ext cx="1046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0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nextto · /mypage</a:t>
            </a:r>
            <a:endParaRPr lang="ko-KR" altLang="en-US" sz="8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04" y="822960"/>
            <a:ext cx="5178247" cy="3534156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48640" y="4663440"/>
            <a:ext cx="5577840" cy="1572768"/>
          </a:xfrm>
          <a:prstGeom prst="roundRect">
            <a:avLst>
              <a:gd name="adj" fmla="val 814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548640" y="5065776"/>
            <a:ext cx="185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ko-KR" altLang="en-US" sz="2600" dirty="0"/>
          </a:p>
        </p:txBody>
      </p:sp>
      <p:sp>
        <p:nvSpPr>
          <p:cNvPr id="36" name="Text 30"/>
          <p:cNvSpPr txBox="1"/>
          <p:nvPr/>
        </p:nvSpPr>
        <p:spPr>
          <a:xfrm>
            <a:off x="594360" y="5541264"/>
            <a:ext cx="176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화면</a:t>
            </a:r>
            <a:endParaRPr lang="ko-KR" alt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240792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2407920" y="5065776"/>
            <a:ext cx="185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MVC</a:t>
            </a:r>
            <a:endParaRPr lang="ko-KR" altLang="en-US" sz="2600" dirty="0"/>
          </a:p>
        </p:txBody>
      </p:sp>
      <p:sp>
        <p:nvSpPr>
          <p:cNvPr id="39" name="Text 33"/>
          <p:cNvSpPr txBox="1"/>
          <p:nvPr/>
        </p:nvSpPr>
        <p:spPr>
          <a:xfrm>
            <a:off x="2453640" y="5541264"/>
            <a:ext cx="176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ko-KR" alt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426720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4267200" y="5065776"/>
            <a:ext cx="185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ko-KR" altLang="en-US" sz="2600" dirty="0"/>
          </a:p>
        </p:txBody>
      </p:sp>
      <p:sp>
        <p:nvSpPr>
          <p:cNvPr id="42" name="Text 36"/>
          <p:cNvSpPr txBox="1"/>
          <p:nvPr/>
        </p:nvSpPr>
        <p:spPr>
          <a:xfrm>
            <a:off x="4312920" y="5541264"/>
            <a:ext cx="176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종류</a:t>
            </a:r>
            <a:endParaRPr lang="ko-KR" alt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6400800" y="4663440"/>
            <a:ext cx="5242255" cy="1572768"/>
          </a:xfrm>
          <a:prstGeom prst="roundRect">
            <a:avLst>
              <a:gd name="adj" fmla="val 8140"/>
            </a:avLst>
          </a:prstGeom>
          <a:solidFill>
            <a:srgbClr val="1B2B33"/>
          </a:solidFill>
          <a:ln w="9525">
            <a:solidFill>
              <a:srgbClr val="1F5355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4882896"/>
            <a:ext cx="182880" cy="18288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6912864" y="4846320"/>
            <a:ext cx="451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내 위치</a:t>
            </a:r>
            <a:endParaRPr lang="ko-KR" altLang="en-US" sz="1150" dirty="0"/>
          </a:p>
        </p:txBody>
      </p:sp>
      <p:sp>
        <p:nvSpPr>
          <p:cNvPr id="46" name="Text 39"/>
          <p:cNvSpPr txBox="1"/>
          <p:nvPr/>
        </p:nvSpPr>
        <p:spPr>
          <a:xfrm>
            <a:off x="6638544" y="5175504"/>
            <a:ext cx="476676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법률·의학·뉴스·상식 게시판과 자유게시판은 로그인 후 사용합니다. 회원 인증과 개인·반려견 정보 관리 기능을 맡았습니다.</a:t>
            </a:r>
            <a:endParaRPr lang="ko-KR" altLang="en-US" sz="1150" dirty="0"/>
          </a:p>
        </p:txBody>
      </p:sp>
      <p:sp>
        <p:nvSpPr>
          <p:cNvPr id="47" name="Text 40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40</a:t>
            </a:fld>
            <a:endParaRPr lang="ko-KR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너의 곁에 · 담당 기능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인증 · 마이페이지 · 반려견 정보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1787652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35024" y="1682496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회원가입</a:t>
            </a:r>
            <a:endParaRPr lang="ko-KR" alt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231136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HttpSession 기반 로그인과 입력값 검증, 아이디 중복 가입 방지를 포함한 가입 플로우. 회원정보와 반려견정보를 세션 객체로 전 페이지에서 공유하고, 일반 사용자 계정과 관리자 계정을 구분해 처리</a:t>
            </a:r>
            <a:endParaRPr lang="ko-KR" alt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13834" y="1463040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33290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446" y="178765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00218" y="1682496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</a:t>
            </a:r>
            <a:endParaRPr lang="ko-KR" alt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33290" y="2231136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사진·닉네임·아이디를 묶은 사이드바와 연락처 영역, 등록한 반려견 정보 카드를 함께 배치. 홈 &gt; 마이페이지 &gt; 내 정보 관리 순의 브레드크럼으로 현재 위치를 표시</a:t>
            </a:r>
            <a:endParaRPr lang="ko-KR" alt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79029" y="1463040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98485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641" y="178765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5413" y="1682496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정보 관리 · 수정</a:t>
            </a:r>
            <a:endParaRPr lang="ko-KR" alt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298485" y="2231136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화면과 수정 화면을 분리해 구현. 프로필 사진은 MultipartRequest로 등록 · 교체하고, 새 사진을 올리지 않고 수정하면 기존 사진이 사라지던 오류를 수정</a:t>
            </a:r>
            <a:endParaRPr lang="ko-KR" alt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63924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8096" y="418338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" y="4288536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35024" y="4183380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정보 등록 · 수정</a:t>
            </a:r>
            <a:endParaRPr lang="ko-KR" alt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68096" y="4732020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반려견 1마리의 이름·견종·나이·몸무게·성별·중성화 여부·건강 상태·사진을 등록하고 수정. 마이페이지에서는 태그 형태로 요약 표시</a:t>
            </a:r>
            <a:endParaRPr lang="ko-KR" alt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13834" y="3963924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33290" y="418338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446" y="4288536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00218" y="4183380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탈퇴</a:t>
            </a:r>
            <a:endParaRPr lang="ko-KR" alt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533290" y="4732020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화면에서 탈퇴를 처리해 계정과 관련 정보를 정리</a:t>
            </a:r>
            <a:endParaRPr lang="ko-KR" alt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79029" y="3963924"/>
            <a:ext cx="3564026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98485" y="418338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73438"/>
          </a:solidFill>
          <a:ln w="9525">
            <a:solidFill>
              <a:srgbClr val="1C565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641" y="4288536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5413" y="4183380"/>
            <a:ext cx="25581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DTO · DAO 패턴과 테이블 설계</a:t>
            </a:r>
            <a:endParaRPr lang="ko-KR" alt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298485" y="4732020"/>
            <a:ext cx="3125114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2(MVC) 구조에서 회원(MEMBER) · 반려견(PET) 테이블과 DTO · DAO · Servlet을 작성. 계정 종류 컬럼을 CHAR에서 VARCHAR로 바꿔 공백이 채워지던 문제를 해결</a:t>
            </a:r>
            <a:endParaRPr lang="ko-KR" alt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41</a:t>
            </a:fld>
            <a:endParaRPr lang="ko-KR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00" kern="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너의 곁에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2788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2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화면</a:t>
            </a:r>
            <a:endParaRPr lang="ko-KR" alt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00302"/>
            <a:ext cx="27889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로그인부터 내 정보 수정까지, 조회 화면과 수정 화면을 나눠 구현했습니다.</a:t>
            </a:r>
            <a:endParaRPr lang="ko-KR" alt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749040" y="548640"/>
            <a:ext cx="3828136" cy="2395728"/>
          </a:xfrm>
          <a:prstGeom prst="roundRect">
            <a:avLst>
              <a:gd name="adj" fmla="val 3817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95344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7" name="Shape 5"/>
          <p:cNvSpPr/>
          <p:nvPr/>
        </p:nvSpPr>
        <p:spPr>
          <a:xfrm>
            <a:off x="4041648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87952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4" y="822960"/>
            <a:ext cx="3764128" cy="20894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749040" y="3008376"/>
            <a:ext cx="382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ko-KR" alt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14920" y="548640"/>
            <a:ext cx="3828136" cy="2395728"/>
          </a:xfrm>
          <a:prstGeom prst="roundRect">
            <a:avLst>
              <a:gd name="adj" fmla="val 3817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961224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3" name="Shape 10"/>
          <p:cNvSpPr/>
          <p:nvPr/>
        </p:nvSpPr>
        <p:spPr>
          <a:xfrm>
            <a:off x="8107528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1"/>
          <p:cNvSpPr/>
          <p:nvPr/>
        </p:nvSpPr>
        <p:spPr>
          <a:xfrm>
            <a:off x="8253832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924" y="822960"/>
            <a:ext cx="3764128" cy="208940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814920" y="3008376"/>
            <a:ext cx="382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endParaRPr lang="ko-KR" alt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749040" y="3493008"/>
            <a:ext cx="3828136" cy="2395728"/>
          </a:xfrm>
          <a:prstGeom prst="roundRect">
            <a:avLst>
              <a:gd name="adj" fmla="val 3817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95344" y="3589020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9" name="Shape 15"/>
          <p:cNvSpPr/>
          <p:nvPr/>
        </p:nvSpPr>
        <p:spPr>
          <a:xfrm>
            <a:off x="4041648" y="3589020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hape 16"/>
          <p:cNvSpPr/>
          <p:nvPr/>
        </p:nvSpPr>
        <p:spPr>
          <a:xfrm>
            <a:off x="4187952" y="3589020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3767328"/>
            <a:ext cx="3764128" cy="208940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749040" y="5952744"/>
            <a:ext cx="382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정보 관리 — 회원정보 조회</a:t>
            </a:r>
            <a:endParaRPr lang="ko-KR" alt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814920" y="3493008"/>
            <a:ext cx="3828136" cy="2395728"/>
          </a:xfrm>
          <a:prstGeom prst="roundRect">
            <a:avLst>
              <a:gd name="adj" fmla="val 3817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961224" y="3589020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5" name="Shape 20"/>
          <p:cNvSpPr/>
          <p:nvPr/>
        </p:nvSpPr>
        <p:spPr>
          <a:xfrm>
            <a:off x="8107528" y="3589020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1"/>
          <p:cNvSpPr/>
          <p:nvPr/>
        </p:nvSpPr>
        <p:spPr>
          <a:xfrm>
            <a:off x="8253832" y="3589020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6924" y="3767328"/>
            <a:ext cx="3764128" cy="208940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814920" y="5952744"/>
            <a:ext cx="382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정보 수정 — 비밀번호 재확인 · 사진 교체</a:t>
            </a:r>
            <a:endParaRPr lang="ko-KR" alt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Java 기반 풀스택 웹 개발자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42</a:t>
            </a:fld>
            <a:endParaRPr lang="ko-KR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726694" cy="310896"/>
          </a:xfrm>
          <a:prstGeom prst="roundRect">
            <a:avLst>
              <a:gd name="adj" fmla="val 50000"/>
            </a:avLst>
          </a:prstGeom>
          <a:solidFill>
            <a:srgbClr val="312813"/>
          </a:solidFill>
          <a:ln w="9525">
            <a:solidFill>
              <a:srgbClr val="765C1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868680"/>
            <a:ext cx="7266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ko-KR" alt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4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디자이너 과정</a:t>
            </a:r>
            <a:endParaRPr lang="ko-KR" alt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960120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4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과정을 수강하기 전에 진행한 브랜드 웹사이트 리뉴얼 2건입니다. SWOT·페르소나 분석으로 문제를 정리하고 정보 구조(IA)를 다시 구성한 뒤, HTML·CSS·jQuery로 퍼블리싱했습니다.</a:t>
            </a:r>
            <a:endParaRPr lang="ko-KR" alt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29560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7746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2025.06 ~ 2025.08 · 개인 프로젝트 2건</a:t>
            </a:r>
            <a:endParaRPr lang="ko-KR" alt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5437480" cy="2834640"/>
          </a:xfrm>
          <a:prstGeom prst="roundRect">
            <a:avLst>
              <a:gd name="adj" fmla="val 4516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38728"/>
            <a:ext cx="5218024" cy="1188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8096" y="4873752"/>
            <a:ext cx="719201" cy="219456"/>
          </a:xfrm>
          <a:prstGeom prst="roundRect">
            <a:avLst>
              <a:gd name="adj" fmla="val 50000"/>
            </a:avLst>
          </a:prstGeom>
          <a:solidFill>
            <a:srgbClr val="332D1F"/>
          </a:solidFill>
          <a:ln w="9525">
            <a:solidFill>
              <a:srgbClr val="70592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8096" y="4873752"/>
            <a:ext cx="7192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리뉴얼 02</a:t>
            </a:r>
            <a:endParaRPr lang="ko-KR" alt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542161" y="4873752"/>
            <a:ext cx="445008" cy="219456"/>
          </a:xfrm>
          <a:prstGeom prst="roundRect">
            <a:avLst>
              <a:gd name="adj" fmla="val 50000"/>
            </a:avLst>
          </a:prstGeom>
          <a:solidFill>
            <a:srgbClr val="332D1F"/>
          </a:solidFill>
          <a:ln w="9525">
            <a:solidFill>
              <a:srgbClr val="70592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542161" y="4873752"/>
            <a:ext cx="44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ko-KR" alt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768096" y="5166360"/>
            <a:ext cx="499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할리스커피</a:t>
            </a:r>
            <a:endParaRPr lang="ko-KR" alt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" y="5532120"/>
            <a:ext cx="499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아이덴티티를 반영해 정보 구조와 인터랙션을 개편한 리뉴얼</a:t>
            </a:r>
            <a:endParaRPr lang="ko-KR" alt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05576" y="3429000"/>
            <a:ext cx="5437480" cy="2834640"/>
          </a:xfrm>
          <a:prstGeom prst="roundRect">
            <a:avLst>
              <a:gd name="adj" fmla="val 4516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304" y="3538728"/>
            <a:ext cx="5218024" cy="11887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425032" y="4873752"/>
            <a:ext cx="719201" cy="219456"/>
          </a:xfrm>
          <a:prstGeom prst="roundRect">
            <a:avLst>
              <a:gd name="adj" fmla="val 50000"/>
            </a:avLst>
          </a:prstGeom>
          <a:solidFill>
            <a:srgbClr val="332D1F"/>
          </a:solidFill>
          <a:ln w="9525">
            <a:solidFill>
              <a:srgbClr val="70592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425032" y="4873752"/>
            <a:ext cx="7192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리뉴얼 01</a:t>
            </a:r>
            <a:endParaRPr lang="ko-KR" alt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7199097" y="4873752"/>
            <a:ext cx="445008" cy="219456"/>
          </a:xfrm>
          <a:prstGeom prst="roundRect">
            <a:avLst>
              <a:gd name="adj" fmla="val 50000"/>
            </a:avLst>
          </a:prstGeom>
          <a:solidFill>
            <a:srgbClr val="332D1F"/>
          </a:solidFill>
          <a:ln w="9525">
            <a:solidFill>
              <a:srgbClr val="70592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199097" y="4873752"/>
            <a:ext cx="44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ko-KR" alt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6425032" y="5166360"/>
            <a:ext cx="499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5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오늘의집</a:t>
            </a:r>
            <a:endParaRPr lang="ko-KR" alt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425032" y="5532120"/>
            <a:ext cx="4998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정보 구조와 사용성 문제를 개선한 인테리어 플랫폼 UI/UX 리뉴얼</a:t>
            </a:r>
            <a:endParaRPr lang="ko-KR" alt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웹 디자이너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43</a:t>
            </a:fld>
            <a:endParaRPr lang="ko-KR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303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10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웹 디자이너 과정</a:t>
            </a:r>
            <a:endParaRPr lang="ko-KR" alt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75843" cy="246888"/>
          </a:xfrm>
          <a:prstGeom prst="roundRect">
            <a:avLst>
              <a:gd name="adj" fmla="val 50000"/>
            </a:avLst>
          </a:prstGeom>
          <a:solidFill>
            <a:srgbClr val="332D1F"/>
          </a:solidFill>
          <a:ln w="9525">
            <a:solidFill>
              <a:srgbClr val="7059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7758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리뉴얼 02</a:t>
            </a:r>
            <a:endParaRPr lang="ko-KR" alt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397635" y="868680"/>
            <a:ext cx="469392" cy="246888"/>
          </a:xfrm>
          <a:prstGeom prst="roundRect">
            <a:avLst>
              <a:gd name="adj" fmla="val 50000"/>
            </a:avLst>
          </a:prstGeom>
          <a:solidFill>
            <a:srgbClr val="332D1F"/>
          </a:solidFill>
          <a:ln w="9525">
            <a:solidFill>
              <a:srgbClr val="7059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97635" y="868680"/>
            <a:ext cx="46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ko-KR" alt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43584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할리스커피</a:t>
            </a:r>
            <a:endParaRPr lang="ko-KR" alt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557784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아이덴티티를 반영해 정보 구조와 인터랙션을 개편한 리뉴얼</a:t>
            </a:r>
            <a:endParaRPr lang="ko-KR" alt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7469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1248" y="271068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2025.07.14 ~ 2025.08.04 (약 3주)</a:t>
            </a:r>
            <a:endParaRPr lang="ko-KR" alt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38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" y="3039872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</a:t>
            </a:r>
            <a:endParaRPr lang="ko-KR" alt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330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" y="336905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디자인 · 퍼블리싱</a:t>
            </a:r>
            <a:endParaRPr lang="ko-KR" alt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789680"/>
            <a:ext cx="1441704" cy="274320"/>
          </a:xfrm>
          <a:prstGeom prst="roundRect">
            <a:avLst>
              <a:gd name="adj" fmla="val 26667"/>
            </a:avLst>
          </a:prstGeom>
          <a:solidFill>
            <a:srgbClr val="2A261F"/>
          </a:solidFill>
          <a:ln w="9525">
            <a:solidFill>
              <a:srgbClr val="70592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53688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9536" y="3789680"/>
            <a:ext cx="1075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u="sng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https://plainaube.dothome.co.kr/hollys/index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실제 사이트 보기</a:t>
            </a:r>
            <a:endParaRPr lang="ko-KR" alt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2081784" y="3789680"/>
            <a:ext cx="1403604" cy="274320"/>
          </a:xfrm>
          <a:prstGeom prst="roundRect">
            <a:avLst>
              <a:gd name="adj" fmla="val 26667"/>
            </a:avLst>
          </a:prstGeom>
          <a:solidFill>
            <a:srgbClr val="2A261F"/>
          </a:solidFill>
          <a:ln w="9525">
            <a:solidFill>
              <a:srgbClr val="70592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1512" y="3853688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392680" y="3789680"/>
            <a:ext cx="103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u="sng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invalidUrl="" action="" tgtFrame="" tooltip="https://soeun-yu.github.io/assets/webdesign/HTML%20%EA%B8%B0%EB%B0%98_%ED%95%A0%EB%A6%AC%EC%8A%A4%EC%BB%A4%ED%94%BC%20%ED%99%88%ED%8E%98%EC%9D%B4%EC%A7%80%20%EB%A6%AC%EB%89%B4%EC%96%BC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PDF 포트폴리오</a:t>
            </a:r>
            <a:endParaRPr lang="ko-KR" alt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48640" y="4210304"/>
            <a:ext cx="894080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548640" y="4210304"/>
            <a:ext cx="894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PowerPoint</a:t>
            </a:r>
            <a:endParaRPr lang="ko-KR" alt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1515872" y="4210304"/>
            <a:ext cx="816864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515872" y="4210304"/>
            <a:ext cx="816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Photoshop</a:t>
            </a:r>
            <a:endParaRPr lang="ko-KR" alt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2405888" y="4210304"/>
            <a:ext cx="942340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2405888" y="4210304"/>
            <a:ext cx="9423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Illustrator</a:t>
            </a:r>
            <a:endParaRPr lang="ko-KR" alt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3421380" y="4210304"/>
            <a:ext cx="623824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421380" y="4210304"/>
            <a:ext cx="623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HTML5</a:t>
            </a:r>
            <a:endParaRPr lang="ko-KR" alt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118356" y="4210304"/>
            <a:ext cx="546608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4118356" y="4210304"/>
            <a:ext cx="546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CSS3</a:t>
            </a:r>
            <a:endParaRPr lang="ko-KR" alt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738116" y="4210304"/>
            <a:ext cx="628650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738116" y="4210304"/>
            <a:ext cx="6286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jQuery</a:t>
            </a:r>
            <a:endParaRPr lang="ko-KR" alt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400800" y="548640"/>
            <a:ext cx="5242255" cy="3840480"/>
          </a:xfrm>
          <a:prstGeom prst="roundRect">
            <a:avLst>
              <a:gd name="adj" fmla="val 2381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547104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5" name="Shape 28"/>
          <p:cNvSpPr/>
          <p:nvPr/>
        </p:nvSpPr>
        <p:spPr>
          <a:xfrm>
            <a:off x="6693408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6" name="Shape 29"/>
          <p:cNvSpPr/>
          <p:nvPr/>
        </p:nvSpPr>
        <p:spPr>
          <a:xfrm>
            <a:off x="6839712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7" name="Shape 30"/>
          <p:cNvSpPr/>
          <p:nvPr/>
        </p:nvSpPr>
        <p:spPr>
          <a:xfrm>
            <a:off x="7040880" y="608076"/>
            <a:ext cx="1060704" cy="155448"/>
          </a:xfrm>
          <a:prstGeom prst="roundRect">
            <a:avLst>
              <a:gd name="adj" fmla="val 29412"/>
            </a:avLst>
          </a:prstGeom>
          <a:solidFill>
            <a:srgbClr val="0A0B10"/>
          </a:solidFill>
          <a:ln w="9525">
            <a:solidFill>
              <a:srgbClr val="1C1F2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040880" y="608076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0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hollys · renewal</a:t>
            </a:r>
            <a:endParaRPr lang="ko-KR" altLang="en-US" sz="8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2804" y="822960"/>
            <a:ext cx="5178247" cy="3534156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548640" y="4663440"/>
            <a:ext cx="5577840" cy="1572768"/>
          </a:xfrm>
          <a:prstGeom prst="roundRect">
            <a:avLst>
              <a:gd name="adj" fmla="val 814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548640" y="5065776"/>
            <a:ext cx="185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ko-KR" altLang="en-US" sz="2600" dirty="0"/>
          </a:p>
        </p:txBody>
      </p:sp>
      <p:sp>
        <p:nvSpPr>
          <p:cNvPr id="42" name="Text 34"/>
          <p:cNvSpPr txBox="1"/>
          <p:nvPr/>
        </p:nvSpPr>
        <p:spPr>
          <a:xfrm>
            <a:off x="594360" y="5541264"/>
            <a:ext cx="176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화면</a:t>
            </a:r>
            <a:endParaRPr lang="ko-KR" alt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240792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2407920" y="5065776"/>
            <a:ext cx="185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SWOT</a:t>
            </a:r>
            <a:endParaRPr lang="ko-KR" altLang="en-US" sz="2600" dirty="0"/>
          </a:p>
        </p:txBody>
      </p:sp>
      <p:sp>
        <p:nvSpPr>
          <p:cNvPr id="45" name="Text 37"/>
          <p:cNvSpPr txBox="1"/>
          <p:nvPr/>
        </p:nvSpPr>
        <p:spPr>
          <a:xfrm>
            <a:off x="2453640" y="5541264"/>
            <a:ext cx="176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분석</a:t>
            </a:r>
            <a:endParaRPr lang="ko-KR" alt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426720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4267200" y="5065776"/>
            <a:ext cx="185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3주</a:t>
            </a:r>
            <a:endParaRPr lang="ko-KR" altLang="en-US" sz="2600" dirty="0"/>
          </a:p>
        </p:txBody>
      </p:sp>
      <p:sp>
        <p:nvSpPr>
          <p:cNvPr id="48" name="Text 40"/>
          <p:cNvSpPr txBox="1"/>
          <p:nvPr/>
        </p:nvSpPr>
        <p:spPr>
          <a:xfrm>
            <a:off x="4312920" y="5541264"/>
            <a:ext cx="176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기간</a:t>
            </a:r>
            <a:endParaRPr lang="ko-KR" alt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6400800" y="4663440"/>
            <a:ext cx="5242255" cy="1572768"/>
          </a:xfrm>
          <a:prstGeom prst="roundRect">
            <a:avLst>
              <a:gd name="adj" fmla="val 8140"/>
            </a:avLst>
          </a:prstGeom>
          <a:solidFill>
            <a:srgbClr val="2B2927"/>
          </a:solidFill>
          <a:ln w="9525">
            <a:solidFill>
              <a:srgbClr val="5D4D26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544" y="4882896"/>
            <a:ext cx="182880" cy="18288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6912864" y="4846320"/>
            <a:ext cx="451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ko-KR" altLang="en-US" sz="1150" dirty="0"/>
          </a:p>
        </p:txBody>
      </p:sp>
      <p:sp>
        <p:nvSpPr>
          <p:cNvPr id="52" name="Text 43"/>
          <p:cNvSpPr txBox="1"/>
          <p:nvPr/>
        </p:nvSpPr>
        <p:spPr>
          <a:xfrm>
            <a:off x="6638544" y="5175504"/>
            <a:ext cx="476676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브랜드 ‘할리스’의 홈페이지를 SWOT·페르소나 기법으로 분석했습니다. 메뉴와 매장 정보가 브랜드 색 없이 나열되어 있다는 점을 주요 문제로 정리했고, 브랜드 색과 서체를 화면 전반에 적용하면서 정보 구조와 동적 요소를 함께 수정했습니다.</a:t>
            </a:r>
            <a:endParaRPr lang="ko-KR" altLang="en-US" sz="1150" dirty="0"/>
          </a:p>
        </p:txBody>
      </p:sp>
      <p:sp>
        <p:nvSpPr>
          <p:cNvPr id="53" name="Text 44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웹 디자이너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44</a:t>
            </a:fld>
            <a:endParaRPr lang="ko-KR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할리스커피 · 개선 포인트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· 정보 구조 · 인터랙션 개선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6624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38301F"/>
          </a:solidFill>
          <a:ln w="9525">
            <a:solidFill>
              <a:srgbClr val="624F2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1787652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64208"/>
            <a:ext cx="440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아이덴티티 기반 UI/UX 개편</a:t>
            </a:r>
            <a:endParaRPr lang="ko-KR" alt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029968"/>
            <a:ext cx="440420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레드와 딥브라운을 축으로 색·타이포·여백 규칙을 다시 정했습니다. 전용 서체(카페24 단정해, 에스코어드림)를 적용해 화면 전체의 인상을 통일했습니다.</a:t>
            </a:r>
            <a:endParaRPr lang="ko-KR" alt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6432" y="1463040"/>
            <a:ext cx="5446624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15888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38301F"/>
          </a:solidFill>
          <a:ln w="9525">
            <a:solidFill>
              <a:srgbClr val="624F2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044" y="178765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19392" y="1664208"/>
            <a:ext cx="440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구조(IA) 재설계</a:t>
            </a:r>
            <a:endParaRPr lang="ko-KR" alt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019392" y="2029968"/>
            <a:ext cx="440420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메뉴·매장·브랜드로 흩어져 있던 항목을 사용자가 찾는 순서대로 다시 묶었습니다. 메뉴는 커피·음료·푸드·굿즈로 나누고, 매장은 지도와 목록을 한 화면에서 오갈 수 있게 했습니다.</a:t>
            </a:r>
            <a:endParaRPr lang="ko-KR" alt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63924"/>
            <a:ext cx="5446624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68096" y="418338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38301F"/>
          </a:solidFill>
          <a:ln w="9525">
            <a:solidFill>
              <a:srgbClr val="624F2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4288536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4165092"/>
            <a:ext cx="440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인터랙션 적용</a:t>
            </a:r>
            <a:endParaRPr lang="ko-KR" alt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530852"/>
            <a:ext cx="440420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슬라이드, 메뉴 카테고리 탭, 매장찾기 지도 마커를 jQuery로 구현했습니다. 클릭 대상과 현재 상태가 항상 눈에 보이도록 활성 표시를 붙였습니다.</a:t>
            </a:r>
            <a:endParaRPr lang="ko-KR" alt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96432" y="3963924"/>
            <a:ext cx="5446624" cy="2299716"/>
          </a:xfrm>
          <a:prstGeom prst="roundRect">
            <a:avLst>
              <a:gd name="adj" fmla="val 5567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15888" y="418338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38301F"/>
          </a:solidFill>
          <a:ln w="9525">
            <a:solidFill>
              <a:srgbClr val="624F2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044" y="4288536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19392" y="4165092"/>
            <a:ext cx="440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맞춤형 기능 추가</a:t>
            </a:r>
            <a:endParaRPr lang="ko-KR" alt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019392" y="4530852"/>
            <a:ext cx="440420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상세 조건(드라이브스루·주차·24시간 등)으로 걸러 볼 수 있는 필터와, 관심 매장을 상단에 고정하는 흐름을 기획했습니다.</a:t>
            </a:r>
            <a:endParaRPr lang="ko-KR" alt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웹 디자이너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45</a:t>
            </a:fld>
            <a:endParaRPr lang="ko-KR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0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할리스커피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2788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2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비주얼</a:t>
            </a:r>
            <a:endParaRPr lang="ko-KR" alt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00302"/>
            <a:ext cx="278892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레드와 딥브라운을 축으로 메인 · 메뉴 · 매장찾기 3개 화면을 디자인하고 퍼블리싱했습니다.</a:t>
            </a:r>
            <a:endParaRPr lang="ko-KR" alt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749040" y="548640"/>
            <a:ext cx="2472842" cy="5340096"/>
          </a:xfrm>
          <a:prstGeom prst="roundRect">
            <a:avLst>
              <a:gd name="adj" fmla="val 3698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95344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7" name="Shape 5"/>
          <p:cNvSpPr/>
          <p:nvPr/>
        </p:nvSpPr>
        <p:spPr>
          <a:xfrm>
            <a:off x="4041648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87952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4" y="822960"/>
            <a:ext cx="2408834" cy="50337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749040" y="5952744"/>
            <a:ext cx="2472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— 시즌 음료 슬라이드</a:t>
            </a:r>
            <a:endParaRPr lang="ko-KR" alt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59626" y="548640"/>
            <a:ext cx="2472842" cy="5340096"/>
          </a:xfrm>
          <a:prstGeom prst="roundRect">
            <a:avLst>
              <a:gd name="adj" fmla="val 3698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05930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3" name="Shape 10"/>
          <p:cNvSpPr/>
          <p:nvPr/>
        </p:nvSpPr>
        <p:spPr>
          <a:xfrm>
            <a:off x="6752234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1"/>
          <p:cNvSpPr/>
          <p:nvPr/>
        </p:nvSpPr>
        <p:spPr>
          <a:xfrm>
            <a:off x="6898538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30" y="822960"/>
            <a:ext cx="2408834" cy="50337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59626" y="5952744"/>
            <a:ext cx="2472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· 커피 — 카테고리 탭</a:t>
            </a:r>
            <a:endParaRPr lang="ko-KR" alt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9170213" y="548640"/>
            <a:ext cx="2472842" cy="5340096"/>
          </a:xfrm>
          <a:prstGeom prst="roundRect">
            <a:avLst>
              <a:gd name="adj" fmla="val 3698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316517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9" name="Shape 15"/>
          <p:cNvSpPr/>
          <p:nvPr/>
        </p:nvSpPr>
        <p:spPr>
          <a:xfrm>
            <a:off x="9462821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hape 16"/>
          <p:cNvSpPr/>
          <p:nvPr/>
        </p:nvSpPr>
        <p:spPr>
          <a:xfrm>
            <a:off x="9609125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2217" y="822960"/>
            <a:ext cx="2408834" cy="503377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170213" y="5952744"/>
            <a:ext cx="24728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매장찾기 — 지도 마커와 목록</a:t>
            </a:r>
            <a:endParaRPr lang="ko-KR" alt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웹 디자이너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46</a:t>
            </a:fld>
            <a:endParaRPr lang="ko-KR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3035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10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웹 디자이너 과정</a:t>
            </a:r>
            <a:endParaRPr lang="ko-KR" alt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75843" cy="246888"/>
          </a:xfrm>
          <a:prstGeom prst="roundRect">
            <a:avLst>
              <a:gd name="adj" fmla="val 50000"/>
            </a:avLst>
          </a:prstGeom>
          <a:solidFill>
            <a:srgbClr val="332D1F"/>
          </a:solidFill>
          <a:ln w="9525">
            <a:solidFill>
              <a:srgbClr val="7059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7758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리뉴얼 01</a:t>
            </a:r>
            <a:endParaRPr lang="ko-KR" alt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397635" y="868680"/>
            <a:ext cx="469392" cy="246888"/>
          </a:xfrm>
          <a:prstGeom prst="roundRect">
            <a:avLst>
              <a:gd name="adj" fmla="val 50000"/>
            </a:avLst>
          </a:prstGeom>
          <a:solidFill>
            <a:srgbClr val="332D1F"/>
          </a:solidFill>
          <a:ln w="9525">
            <a:solidFill>
              <a:srgbClr val="7059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97635" y="868680"/>
            <a:ext cx="469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ko-KR" alt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43584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6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오늘의집</a:t>
            </a:r>
            <a:endParaRPr lang="ko-KR" alt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557784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정보 구조와 사용성 문제를 개선한 인테리어 플랫폼 UI/UX 리뉴얼</a:t>
            </a:r>
            <a:endParaRPr lang="ko-KR" alt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7469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1248" y="271068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2025.06.02 ~ 2025.06.16 (약 2주)</a:t>
            </a:r>
            <a:endParaRPr lang="ko-KR" alt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38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" y="3039872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</a:t>
            </a:r>
            <a:endParaRPr lang="ko-KR" alt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330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" y="336905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디자인 · 퍼블리싱</a:t>
            </a:r>
            <a:endParaRPr lang="ko-KR" alt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789680"/>
            <a:ext cx="1441704" cy="274320"/>
          </a:xfrm>
          <a:prstGeom prst="roundRect">
            <a:avLst>
              <a:gd name="adj" fmla="val 26667"/>
            </a:avLst>
          </a:prstGeom>
          <a:solidFill>
            <a:srgbClr val="2A261F"/>
          </a:solidFill>
          <a:ln w="9525">
            <a:solidFill>
              <a:srgbClr val="70592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53688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9536" y="3789680"/>
            <a:ext cx="1075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u="sng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https://plainaube.dothome.co.kr/ohouse/index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실제 사이트 보기</a:t>
            </a:r>
            <a:endParaRPr lang="ko-KR" alt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2081784" y="3789680"/>
            <a:ext cx="1403604" cy="274320"/>
          </a:xfrm>
          <a:prstGeom prst="roundRect">
            <a:avLst>
              <a:gd name="adj" fmla="val 26667"/>
            </a:avLst>
          </a:prstGeom>
          <a:solidFill>
            <a:srgbClr val="2A261F"/>
          </a:solidFill>
          <a:ln w="9525">
            <a:solidFill>
              <a:srgbClr val="70592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1512" y="3853688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392680" y="3789680"/>
            <a:ext cx="103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00" b="1" u="sng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invalidUrl="" action="" tgtFrame="" tooltip="https://soeun-yu.github.io/assets/webdesign/HTML%20%EA%B8%B0%EB%B0%98_%EC%98%A4%EB%8A%98%EC%9D%98%EC%A7%91%20%ED%99%88%ED%8E%98%EC%9D%B4%EC%A7%80%20%EB%A6%AC%EB%89%B4%EC%96%BC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PDF 포트폴리오</a:t>
            </a:r>
            <a:endParaRPr lang="ko-KR" alt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48640" y="4210304"/>
            <a:ext cx="565912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548640" y="4210304"/>
            <a:ext cx="565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</a:t>
            </a:r>
            <a:endParaRPr lang="ko-KR" alt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1187704" y="4210304"/>
            <a:ext cx="816864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187704" y="4210304"/>
            <a:ext cx="816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Photoshop</a:t>
            </a:r>
            <a:endParaRPr lang="ko-KR" alt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2077720" y="4210304"/>
            <a:ext cx="942340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2077720" y="4210304"/>
            <a:ext cx="9423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Illustrator</a:t>
            </a:r>
            <a:endParaRPr lang="ko-KR" alt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3093212" y="4210304"/>
            <a:ext cx="623824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093212" y="4210304"/>
            <a:ext cx="623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HTML5</a:t>
            </a:r>
            <a:endParaRPr lang="ko-KR" alt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790188" y="4210304"/>
            <a:ext cx="546608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3790188" y="4210304"/>
            <a:ext cx="546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CSS3</a:t>
            </a:r>
            <a:endParaRPr lang="ko-KR" alt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409948" y="4210304"/>
            <a:ext cx="628650" cy="246888"/>
          </a:xfrm>
          <a:prstGeom prst="roundRect">
            <a:avLst>
              <a:gd name="adj" fmla="val 2592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409948" y="4210304"/>
            <a:ext cx="6286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jQuery</a:t>
            </a:r>
            <a:endParaRPr lang="ko-KR" alt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400800" y="548640"/>
            <a:ext cx="5242255" cy="3840480"/>
          </a:xfrm>
          <a:prstGeom prst="roundRect">
            <a:avLst>
              <a:gd name="adj" fmla="val 2381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547104" y="6446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5" name="Shape 28"/>
          <p:cNvSpPr/>
          <p:nvPr/>
        </p:nvSpPr>
        <p:spPr>
          <a:xfrm>
            <a:off x="6693408" y="6446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6" name="Shape 29"/>
          <p:cNvSpPr/>
          <p:nvPr/>
        </p:nvSpPr>
        <p:spPr>
          <a:xfrm>
            <a:off x="6839712" y="6446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7" name="Shape 30"/>
          <p:cNvSpPr/>
          <p:nvPr/>
        </p:nvSpPr>
        <p:spPr>
          <a:xfrm>
            <a:off x="7040880" y="608076"/>
            <a:ext cx="1060704" cy="155448"/>
          </a:xfrm>
          <a:prstGeom prst="roundRect">
            <a:avLst>
              <a:gd name="adj" fmla="val 29412"/>
            </a:avLst>
          </a:prstGeom>
          <a:solidFill>
            <a:srgbClr val="0A0B10"/>
          </a:solidFill>
          <a:ln w="9525">
            <a:solidFill>
              <a:srgbClr val="1C1F2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040880" y="608076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800" dirty="0">
                <a:solidFill>
                  <a:srgbClr val="7F85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ohouse · renewal</a:t>
            </a:r>
            <a:endParaRPr lang="ko-KR" altLang="en-US" sz="8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2804" y="822960"/>
            <a:ext cx="5178247" cy="3534156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548640" y="4663440"/>
            <a:ext cx="5577840" cy="1572768"/>
          </a:xfrm>
          <a:prstGeom prst="roundRect">
            <a:avLst>
              <a:gd name="adj" fmla="val 814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548640" y="5065776"/>
            <a:ext cx="185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ko-KR" altLang="en-US" sz="2600" dirty="0"/>
          </a:p>
        </p:txBody>
      </p:sp>
      <p:sp>
        <p:nvSpPr>
          <p:cNvPr id="42" name="Text 34"/>
          <p:cNvSpPr txBox="1"/>
          <p:nvPr/>
        </p:nvSpPr>
        <p:spPr>
          <a:xfrm>
            <a:off x="594360" y="5541264"/>
            <a:ext cx="176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화면</a:t>
            </a:r>
            <a:endParaRPr lang="ko-KR" alt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240792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2407920" y="5065776"/>
            <a:ext cx="185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</a:t>
            </a:r>
            <a:endParaRPr lang="ko-KR" altLang="en-US" sz="2600" dirty="0"/>
          </a:p>
        </p:txBody>
      </p:sp>
      <p:sp>
        <p:nvSpPr>
          <p:cNvPr id="45" name="Text 37"/>
          <p:cNvSpPr txBox="1"/>
          <p:nvPr/>
        </p:nvSpPr>
        <p:spPr>
          <a:xfrm>
            <a:off x="2453640" y="5541264"/>
            <a:ext cx="176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 재설계</a:t>
            </a:r>
            <a:endParaRPr lang="ko-KR" alt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4267200" y="4864608"/>
            <a:ext cx="0" cy="1170432"/>
          </a:xfrm>
          <a:prstGeom prst="line">
            <a:avLst/>
          </a:prstGeom>
          <a:noFill/>
          <a:ln w="9525">
            <a:solidFill>
              <a:srgbClr val="242835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4267200" y="5065776"/>
            <a:ext cx="185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2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2주</a:t>
            </a:r>
            <a:endParaRPr lang="ko-KR" altLang="en-US" sz="2600" dirty="0"/>
          </a:p>
        </p:txBody>
      </p:sp>
      <p:sp>
        <p:nvSpPr>
          <p:cNvPr id="48" name="Text 40"/>
          <p:cNvSpPr txBox="1"/>
          <p:nvPr/>
        </p:nvSpPr>
        <p:spPr>
          <a:xfrm>
            <a:off x="4312920" y="5541264"/>
            <a:ext cx="176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05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기간</a:t>
            </a:r>
            <a:endParaRPr lang="ko-KR" alt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6400800" y="4663440"/>
            <a:ext cx="5242255" cy="1572768"/>
          </a:xfrm>
          <a:prstGeom prst="roundRect">
            <a:avLst>
              <a:gd name="adj" fmla="val 8140"/>
            </a:avLst>
          </a:prstGeom>
          <a:solidFill>
            <a:srgbClr val="2B2927"/>
          </a:solidFill>
          <a:ln w="9525">
            <a:solidFill>
              <a:srgbClr val="5D4D26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544" y="4882896"/>
            <a:ext cx="182880" cy="18288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6912864" y="4846320"/>
            <a:ext cx="451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ko-KR" altLang="en-US" sz="1150" dirty="0"/>
          </a:p>
        </p:txBody>
      </p:sp>
      <p:sp>
        <p:nvSpPr>
          <p:cNvPr id="52" name="Text 43"/>
          <p:cNvSpPr txBox="1"/>
          <p:nvPr/>
        </p:nvSpPr>
        <p:spPr>
          <a:xfrm>
            <a:off x="6638544" y="5175504"/>
            <a:ext cx="476676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ko-KR" altLang="en-US" sz="10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인테리어 플랫폼 ‘오늘의집’은 커뮤니티·쇼핑·전문가 서비스가 한 화면에 모여 있어, 처음 방문한 사용자가 무엇부터 봐야 할지 알기 어렵다고 보았습니다. SWOT으로 강점과 약점을 정리하고 페르소나의 사용 흐름을 따라가 본 뒤, 메인 화면의 정보 우선순위를 다시 정했습니다.</a:t>
            </a:r>
            <a:endParaRPr lang="ko-KR" altLang="en-US" sz="1050" dirty="0"/>
          </a:p>
        </p:txBody>
      </p:sp>
      <p:sp>
        <p:nvSpPr>
          <p:cNvPr id="53" name="Text 44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웹 디자이너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47</a:t>
            </a:fld>
            <a:endParaRPr lang="ko-KR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오늘의집 · 개선 포인트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· 게시판 · 상세페이지 개선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989320" cy="1490472"/>
          </a:xfrm>
          <a:prstGeom prst="roundRect">
            <a:avLst>
              <a:gd name="adj" fmla="val 8589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82496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38301F"/>
          </a:solidFill>
          <a:ln w="9525">
            <a:solidFill>
              <a:srgbClr val="624F2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1787652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64208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레이아웃 최적화</a:t>
            </a:r>
            <a:endParaRPr lang="ko-KR" alt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029968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화면에서 무엇을 먼저 보여줄지 기준을 정하고 블록 순서를 재배치했습니다. 통합검색에는 실시간 검색어를 접었다 펼치는 인터랙션을 붙여, 평소에는 공간을 차지하지 않도록 했습니다.</a:t>
            </a:r>
            <a:endParaRPr lang="ko-KR" alt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5989320" cy="1490472"/>
          </a:xfrm>
          <a:prstGeom prst="roundRect">
            <a:avLst>
              <a:gd name="adj" fmla="val 8589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" y="3337560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38301F"/>
          </a:solidFill>
          <a:ln w="9525">
            <a:solidFill>
              <a:srgbClr val="624F2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44271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3319272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커뮤니티(집들이) 게시판 개선</a:t>
            </a:r>
            <a:endParaRPr lang="ko-KR" alt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3685032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사진이 주인공인 게시판이라 카드 비율과 여백을 먼저 맞추고, 정렬·필터 조건을 상단에 모았습니다. 페이지 이동은 번호 · 이전/다음 · 직접 입력 세 가지를 함께 제공합니다.</a:t>
            </a:r>
            <a:endParaRPr lang="ko-KR" alt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773168"/>
            <a:ext cx="5989320" cy="1490472"/>
          </a:xfrm>
          <a:prstGeom prst="roundRect">
            <a:avLst>
              <a:gd name="adj" fmla="val 8589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68096" y="499262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38301F"/>
          </a:solidFill>
          <a:ln w="9525">
            <a:solidFill>
              <a:srgbClr val="624F2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5097780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4974336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5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브랜드관 상품 상세페이지 기획</a:t>
            </a:r>
            <a:endParaRPr lang="ko-KR" alt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5340096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상품을 소개하는 상세 페이지의 구성을 새로 짰습니다. 상품 정보와 후기, 연관 상품이 이어지는 순서를 정하고 각 구간의 역할을 나눴습니다.</a:t>
            </a:r>
            <a:endParaRPr lang="ko-KR" alt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12280" y="1463040"/>
            <a:ext cx="2305660" cy="4288536"/>
          </a:xfrm>
          <a:prstGeom prst="roundRect">
            <a:avLst>
              <a:gd name="adj" fmla="val 396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58584" y="15590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1" name="Shape 16"/>
          <p:cNvSpPr/>
          <p:nvPr/>
        </p:nvSpPr>
        <p:spPr>
          <a:xfrm>
            <a:off x="7104888" y="15590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Shape 17"/>
          <p:cNvSpPr/>
          <p:nvPr/>
        </p:nvSpPr>
        <p:spPr>
          <a:xfrm>
            <a:off x="7251192" y="15590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4" y="1737360"/>
            <a:ext cx="2241652" cy="398221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12280" y="5824728"/>
            <a:ext cx="23056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— 통합검색·실시간 검색어부터 커뮤니티·쇼핑 블록까지</a:t>
            </a:r>
            <a:endParaRPr lang="ko-KR" alt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337396" y="1463040"/>
            <a:ext cx="2305660" cy="4288536"/>
          </a:xfrm>
          <a:prstGeom prst="roundRect">
            <a:avLst>
              <a:gd name="adj" fmla="val 3966"/>
            </a:avLst>
          </a:prstGeom>
          <a:solidFill>
            <a:srgbClr val="191C27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483700" y="15590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7" name="Shape 21"/>
          <p:cNvSpPr/>
          <p:nvPr/>
        </p:nvSpPr>
        <p:spPr>
          <a:xfrm>
            <a:off x="9630004" y="15590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Shape 22"/>
          <p:cNvSpPr/>
          <p:nvPr/>
        </p:nvSpPr>
        <p:spPr>
          <a:xfrm>
            <a:off x="9776308" y="1559052"/>
            <a:ext cx="82296" cy="8229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9400" y="1737360"/>
            <a:ext cx="2241652" cy="398221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337396" y="5824728"/>
            <a:ext cx="23056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10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집들이 게시판 — 카드형 목록과 정렬·필터, 페이지 네비게이션</a:t>
            </a:r>
            <a:endParaRPr lang="ko-KR" alt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웹 디자이너 과정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48</a:t>
            </a:fld>
            <a:endParaRPr lang="ko-KR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050" b="1" spc="250" kern="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 WORK</a:t>
            </a:r>
            <a:endParaRPr lang="ko-KR" alt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30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방식</a:t>
            </a:r>
            <a:endParaRPr lang="ko-KR" alt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프로젝트를 진행하면서 반복해서 적용한 방식입니다.</a:t>
            </a:r>
            <a:endParaRPr lang="ko-KR" alt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39642" cy="3566160"/>
          </a:xfrm>
          <a:prstGeom prst="roundRect">
            <a:avLst>
              <a:gd name="adj" fmla="val 465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91002" y="24414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ko-KR" altLang="en-US" sz="3200" b="1" dirty="0">
                <a:solidFill>
                  <a:srgbClr val="28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ko-KR" alt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59536" y="2569464"/>
            <a:ext cx="585216" cy="585216"/>
          </a:xfrm>
          <a:prstGeom prst="roundRect">
            <a:avLst>
              <a:gd name="adj" fmla="val 26000"/>
            </a:avLst>
          </a:prstGeom>
          <a:solidFill>
            <a:srgbClr val="2F2742"/>
          </a:solidFill>
          <a:ln w="9525">
            <a:solidFill>
              <a:srgbClr val="4E3B6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7157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59536" y="3392424"/>
            <a:ext cx="29178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확인 후 수정</a:t>
            </a:r>
            <a:endParaRPr lang="ko-KR" alt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3941064"/>
            <a:ext cx="29178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ko-KR" altLang="en-US" sz="12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메시지와 코드를 화면과 서버 양쪽에서 대조해 원인을 먼저 특정한 뒤 수정했습니다. 로그인 형식 충돌과 N+1 조회 모두 이 순서로 해결했습니다.</a:t>
            </a:r>
            <a:endParaRPr lang="ko-KR" alt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26026" y="2240280"/>
            <a:ext cx="3539642" cy="3566160"/>
          </a:xfrm>
          <a:prstGeom prst="roundRect">
            <a:avLst>
              <a:gd name="adj" fmla="val 465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8389" y="24414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ko-KR" altLang="en-US" sz="3200" b="1" dirty="0">
                <a:solidFill>
                  <a:srgbClr val="28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ko-KR" alt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4636922" y="2569464"/>
            <a:ext cx="585216" cy="585216"/>
          </a:xfrm>
          <a:prstGeom prst="roundRect">
            <a:avLst>
              <a:gd name="adj" fmla="val 26000"/>
            </a:avLst>
          </a:prstGeom>
          <a:solidFill>
            <a:srgbClr val="2F2742"/>
          </a:solidFill>
          <a:ln w="9525">
            <a:solidFill>
              <a:srgbClr val="4E3B6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71576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36922" y="3392424"/>
            <a:ext cx="29178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상황 처리</a:t>
            </a:r>
            <a:endParaRPr lang="ko-KR" alt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36922" y="3941064"/>
            <a:ext cx="29178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ko-KR" altLang="en-US" sz="12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서버 장애, 응답 지연, 화면 전환 중 도착한 이전 응답을 각각 다르게 처리했고, 실패했을 때 화면에 표시할 내용도 정했습니다.</a:t>
            </a:r>
            <a:endParaRPr lang="ko-KR" alt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03413" y="2240280"/>
            <a:ext cx="3539642" cy="3566160"/>
          </a:xfrm>
          <a:prstGeom prst="roundRect">
            <a:avLst>
              <a:gd name="adj" fmla="val 465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545775" y="24414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ko-KR" altLang="en-US" sz="3200" b="1" dirty="0">
                <a:solidFill>
                  <a:srgbClr val="28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ko-KR" altLang="en-US" sz="3200" dirty="0"/>
          </a:p>
        </p:txBody>
      </p:sp>
      <p:sp>
        <p:nvSpPr>
          <p:cNvPr id="19" name="Shape 15"/>
          <p:cNvSpPr/>
          <p:nvPr/>
        </p:nvSpPr>
        <p:spPr>
          <a:xfrm>
            <a:off x="8414309" y="2569464"/>
            <a:ext cx="585216" cy="585216"/>
          </a:xfrm>
          <a:prstGeom prst="roundRect">
            <a:avLst>
              <a:gd name="adj" fmla="val 26000"/>
            </a:avLst>
          </a:prstGeom>
          <a:solidFill>
            <a:srgbClr val="2F2742"/>
          </a:solidFill>
          <a:ln w="9525">
            <a:solidFill>
              <a:srgbClr val="4E3B6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0613" y="271576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14309" y="3392424"/>
            <a:ext cx="29178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공유와 기록</a:t>
            </a:r>
            <a:endParaRPr lang="ko-KR" alt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414309" y="3941064"/>
            <a:ext cx="29178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ko-KR" altLang="en-US" sz="125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완성본이 아닌 초안을 먼저 공유해 피드백을 받았습니다. 선택한 이유는 코드 주석과 설계 · 개발 · 트러블슈팅 문서에 남겨, 팀이 같은 내용을 다시 조사하지 않게 했습니다.</a:t>
            </a:r>
            <a:endParaRPr lang="ko-KR" alt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900" b="1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 · Portfolio</a:t>
            </a:r>
            <a:endParaRPr lang="ko-KR" alt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310896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900" dirty="0">
                <a:solidFill>
                  <a:srgbClr val="7F85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 Work</a:t>
            </a:r>
            <a:endParaRPr lang="ko-KR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859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49</a:t>
            </a:fld>
            <a:endParaRPr lang="ko-KR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4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ko-KR" alt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1094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8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유소은</a:t>
            </a:r>
            <a:pPr algn="ctr" indent="0" marL="0">
              <a:lnSpc>
                <a:spcPct val="112000"/>
              </a:lnSpc>
              <a:buNone/>
            </a:pPr>
            <a:r>
              <a:rPr lang="ko-KR" altLang="en-US" sz="1800" b="1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웹 풀스택 개발자 · AI 활용</a:t>
            </a:r>
            <a:endParaRPr lang="ko-KR" alt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ko-KR" altLang="en-US" sz="18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Spring Boot로 서비스를 만들고, 필요한 기능에 ML 모델을 붙입니다</a:t>
            </a:r>
            <a:endParaRPr lang="ko-KR" alt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903445" y="3977640"/>
            <a:ext cx="2384806" cy="457200"/>
          </a:xfrm>
          <a:prstGeom prst="roundRect">
            <a:avLst>
              <a:gd name="adj" fmla="val 50000"/>
            </a:avLst>
          </a:prstGeom>
          <a:solidFill>
            <a:srgbClr val="13151E"/>
          </a:solidFill>
          <a:ln w="9525">
            <a:solidFill>
              <a:srgbClr val="24283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613" y="40965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15509" y="3977640"/>
            <a:ext cx="18178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300" b="1" u="sng" dirty="0">
                <a:solidFill>
                  <a:srgbClr val="E9EBF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github.com/soeun-yu</a:t>
            </a:r>
            <a:endParaRPr lang="ko-KR" alt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967928" y="51389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187384" y="5029200"/>
            <a:ext cx="14852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디자이너 과정</a:t>
            </a:r>
            <a:endParaRPr lang="ko-KR" alt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18903" y="5138928"/>
            <a:ext cx="118872" cy="11887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038359" y="5029200"/>
            <a:ext cx="2503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기반 풀스택 웹 개발자 과정</a:t>
            </a:r>
            <a:endParaRPr lang="ko-KR" alt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87871" y="5138928"/>
            <a:ext cx="118872" cy="1188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907327" y="5029200"/>
            <a:ext cx="2368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dirty="0">
                <a:solidFill>
                  <a:srgbClr val="B3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서비스 개발 심화 과정</a:t>
            </a:r>
            <a:endParaRPr lang="ko-KR" alt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421889" y="5029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100" b="1" dirty="0">
                <a:solidFill>
                  <a:srgbClr val="E9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9건</a:t>
            </a:r>
            <a:endParaRPr lang="ko-KR" alt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유소은 · 웹 풀스택 개발자 포트폴리오</dc:title>
  <dc:subject>PptxGenJS Presentation</dc:subject>
  <dc:creator>유소은</dc:creator>
  <cp:lastModifiedBy>유소은</cp:lastModifiedBy>
  <cp:revision>1</cp:revision>
  <dcterms:created xsi:type="dcterms:W3CDTF">2026-10-08T09:38:33Z</dcterms:created>
  <dcterms:modified xsi:type="dcterms:W3CDTF">2026-10-08T09:38:33Z</dcterms:modified>
</cp:coreProperties>
</file>