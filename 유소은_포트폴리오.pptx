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2.xml" ContentType="application/vnd.openxmlformats-officedocument.drawingml.chart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5.xml" ContentType="application/vnd.openxmlformats-officedocument.drawingml.chart+xml"/>
  <Override PartName="/ppt/notesSlides/notesSlide29.xml" ContentType="application/vnd.openxmlformats-officedocument.presentationml.notesSlide+xml"/>
  <Override PartName="/ppt/charts/chart6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rts/chart7.xml" ContentType="application/vnd.openxmlformats-officedocument.drawingml.chart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10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n Yu" userId="bb6ce3cdd9567354" providerId="LiveId" clId="{98CE13E6-3D17-42BC-82B9-C37B64BB506A}"/>
    <pc:docChg chg="undo custSel modSld">
      <pc:chgData name="Eun Yu" userId="bb6ce3cdd9567354" providerId="LiveId" clId="{98CE13E6-3D17-42BC-82B9-C37B64BB506A}" dt="2026-10-10T08:50:06.156" v="80"/>
      <pc:docMkLst>
        <pc:docMk/>
      </pc:docMkLst>
      <pc:sldChg chg="modSp mod">
        <pc:chgData name="Eun Yu" userId="bb6ce3cdd9567354" providerId="LiveId" clId="{98CE13E6-3D17-42BC-82B9-C37B64BB506A}" dt="2026-10-10T08:50:06.156" v="80"/>
        <pc:sldMkLst>
          <pc:docMk/>
          <pc:sldMk cId="0" sldId="260"/>
        </pc:sldMkLst>
        <pc:spChg chg="mod">
          <ac:chgData name="Eun Yu" userId="bb6ce3cdd9567354" providerId="LiveId" clId="{98CE13E6-3D17-42BC-82B9-C37B64BB506A}" dt="2026-10-10T08:50:00.457" v="53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Eun Yu" userId="bb6ce3cdd9567354" providerId="LiveId" clId="{98CE13E6-3D17-42BC-82B9-C37B64BB506A}" dt="2026-10-10T08:50:06.156" v="80"/>
          <ac:spMkLst>
            <pc:docMk/>
            <pc:sldMk cId="0" sldId="260"/>
            <ac:spMk id="3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산출물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BD4-4A83-8CE3-3C4006C3249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BD4-4A83-8CE3-3C4006C3249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BD4-4A83-8CE3-3C4006C3249E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BD4-4A83-8CE3-3C4006C3249E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BD4-4A83-8CE3-3C4006C3249E}"/>
              </c:ext>
            </c:extLst>
          </c:dPt>
          <c:dLbls>
            <c:numFmt formatCode="0&quot;개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Spring REST API</c:v>
                </c:pt>
                <c:pt idx="1">
                  <c:v>React 화면</c:v>
                </c:pt>
                <c:pt idx="2">
                  <c:v>공통 팝업·차트</c:v>
                </c:pt>
                <c:pt idx="3">
                  <c:v>데이터 훅</c:v>
                </c:pt>
                <c:pt idx="4">
                  <c:v>FastAPI ML 모델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9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BD4-4A83-8CE3-3C4006C324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구축한 벡터 인덱스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B6-4433-9C99-393465EB9DB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DB6-4433-9C99-393465EB9DB1}"/>
              </c:ext>
            </c:extLst>
          </c:dPt>
          <c:dLbls>
            <c:numFmt formatCode="#,##0&quot;건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작품 벡터 (WikiArt)</c:v>
                </c:pt>
                <c:pt idx="1">
                  <c:v>RAG 문서 (MMCA·SeMA)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42500</c:v>
                </c:pt>
                <c:pt idx="1">
                  <c:v>6299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DB6-4433-9C99-393465EB9D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200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Validation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BEE-4421-B028-5BCF9C70FC3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BEE-4421-B028-5BCF9C70FC32}"/>
              </c:ext>
            </c:extLst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BEE-4421-B028-5BCF9C70FC3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Custom CNN</c:v>
                </c:pt>
                <c:pt idx="1">
                  <c:v>EfficientNetB0</c:v>
                </c:pt>
                <c:pt idx="2">
                  <c:v>ResNet50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83.5</c:v>
                </c:pt>
                <c:pt idx="2">
                  <c:v>84.5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BEE-4421-B028-5BCF9C70FC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5-fold 교차검증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297-4C15-9948-3123989F0B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297-4C15-9948-3123989F0B21}"/>
              </c:ext>
            </c:extLst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297-4C15-9948-3123989F0B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297-4C15-9948-3123989F0B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8297-4C15-9948-3123989F0B2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  <c:pt idx="4">
                  <c:v>Fold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83.5</c:v>
                </c:pt>
                <c:pt idx="2">
                  <c:v>87.5</c:v>
                </c:pt>
                <c:pt idx="3">
                  <c:v>85</c:v>
                </c:pt>
                <c:pt idx="4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297-4C15-9948-3123989F0B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5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R² (높을수록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DA7-40F4-9EE0-D1366E29FA20}"/>
              </c:ext>
            </c:extLst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DA7-40F4-9EE0-D1366E29FA20}"/>
              </c:ext>
            </c:extLst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DA7-40F4-9EE0-D1366E29FA20}"/>
              </c:ext>
            </c:extLst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DA7-40F4-9EE0-D1366E29FA20}"/>
              </c:ext>
            </c:extLst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DA7-40F4-9EE0-D1366E29FA20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다중선형회귀</c:v>
                </c:pt>
                <c:pt idx="1">
                  <c:v>랜덤포레스트</c:v>
                </c:pt>
                <c:pt idx="2">
                  <c:v>Elastic Net</c:v>
                </c:pt>
                <c:pt idx="3">
                  <c:v>XGBoost</c:v>
                </c:pt>
                <c:pt idx="4">
                  <c:v>결정트리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0.80100000000000005</c:v>
                </c:pt>
                <c:pt idx="1">
                  <c:v>0.79400000000000004</c:v>
                </c:pt>
                <c:pt idx="2">
                  <c:v>0.79</c:v>
                </c:pt>
                <c:pt idx="3">
                  <c:v>0.76200000000000001</c:v>
                </c:pt>
                <c:pt idx="4">
                  <c:v>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3DA7-40F4-9EE0-D1366E29FA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5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RMSE (낮을수록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CE7-4763-8EA5-FEEEAB5564CF}"/>
              </c:ext>
            </c:extLst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CE7-4763-8EA5-FEEEAB5564CF}"/>
              </c:ext>
            </c:extLst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CE7-4763-8EA5-FEEEAB5564CF}"/>
              </c:ext>
            </c:extLst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CE7-4763-8EA5-FEEEAB5564CF}"/>
              </c:ext>
            </c:extLst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CE7-4763-8EA5-FEEEAB5564C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다중선형회귀</c:v>
                </c:pt>
                <c:pt idx="1">
                  <c:v>랜덤포레스트</c:v>
                </c:pt>
                <c:pt idx="2">
                  <c:v>Elastic Net</c:v>
                </c:pt>
                <c:pt idx="3">
                  <c:v>XGBoost</c:v>
                </c:pt>
                <c:pt idx="4">
                  <c:v>결정트리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0.96099999999999997</c:v>
                </c:pt>
                <c:pt idx="1">
                  <c:v>0.97899999999999998</c:v>
                </c:pt>
                <c:pt idx="2">
                  <c:v>0.98599999999999999</c:v>
                </c:pt>
                <c:pt idx="3">
                  <c:v>1.0509999999999999</c:v>
                </c:pt>
                <c:pt idx="4">
                  <c:v>1.379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FCE7-4763-8EA5-FEEEAB5564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코드 — 최종 코드에 남은 줄 수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74E-4640-9B90-D3531B52D96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74E-4640-9B90-D3531B52D966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74E-4640-9B90-D3531B52D96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D74E-4640-9B90-D3531B52D966}"/>
              </c:ext>
            </c:extLst>
          </c:dPt>
          <c:dLbls>
            <c:numFmt formatCode="#,##0&quot;줄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E9EBF2"/>
                    </a:solidFill>
                    <a:latin typeface="Consola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React (JS)</c:v>
                </c:pt>
                <c:pt idx="1">
                  <c:v>CSS</c:v>
                </c:pt>
                <c:pt idx="2">
                  <c:v>Java</c:v>
                </c:pt>
                <c:pt idx="3">
                  <c:v>테스트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2880</c:v>
                </c:pt>
                <c:pt idx="1">
                  <c:v>2230</c:v>
                </c:pt>
                <c:pt idx="2">
                  <c:v>1838</c:v>
                </c:pt>
                <c:pt idx="3">
                  <c:v>222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74E-4640-9B90-D3531B52D9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40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81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2.png"/><Relationship Id="rId4" Type="http://schemas.openxmlformats.org/officeDocument/2006/relationships/hyperlink" Target="https://github.com/soeun-yu" TargetMode="External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rhantj/work-flow" TargetMode="External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2.jpeg"/><Relationship Id="rId5" Type="http://schemas.openxmlformats.org/officeDocument/2006/relationships/image" Target="../media/image28.png"/><Relationship Id="rId10" Type="http://schemas.openxmlformats.org/officeDocument/2006/relationships/hyperlink" Target="https://youtu.be/D5jy2qbKh7g" TargetMode="External"/><Relationship Id="rId4" Type="http://schemas.openxmlformats.org/officeDocument/2006/relationships/image" Target="../media/image27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6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6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4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jpe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26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jpeg"/><Relationship Id="rId3" Type="http://schemas.openxmlformats.org/officeDocument/2006/relationships/image" Target="../media/image26.png"/><Relationship Id="rId7" Type="http://schemas.openxmlformats.org/officeDocument/2006/relationships/image" Target="../media/image63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3" Type="http://schemas.openxmlformats.org/officeDocument/2006/relationships/image" Target="../media/image26.png"/><Relationship Id="rId7" Type="http://schemas.openxmlformats.org/officeDocument/2006/relationships/image" Target="../media/image43.png"/><Relationship Id="rId12" Type="http://schemas.openxmlformats.org/officeDocument/2006/relationships/image" Target="../media/image7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0.png"/><Relationship Id="rId5" Type="http://schemas.openxmlformats.org/officeDocument/2006/relationships/image" Target="../media/image41.png"/><Relationship Id="rId15" Type="http://schemas.openxmlformats.org/officeDocument/2006/relationships/chart" Target="../charts/chart2.xml"/><Relationship Id="rId10" Type="http://schemas.openxmlformats.org/officeDocument/2006/relationships/image" Target="../media/image69.png"/><Relationship Id="rId4" Type="http://schemas.openxmlformats.org/officeDocument/2006/relationships/image" Target="../media/image65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26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43.png"/><Relationship Id="rId9" Type="http://schemas.openxmlformats.org/officeDocument/2006/relationships/image" Target="../media/image7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8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6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26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90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jpeg"/><Relationship Id="rId5" Type="http://schemas.openxmlformats.org/officeDocument/2006/relationships/image" Target="../media/image88.jpeg"/><Relationship Id="rId4" Type="http://schemas.openxmlformats.org/officeDocument/2006/relationships/image" Target="../media/image8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lphaengneering02-dev/3H_Furniture" TargetMode="External"/><Relationship Id="rId3" Type="http://schemas.openxmlformats.org/officeDocument/2006/relationships/image" Target="../media/image91.png"/><Relationship Id="rId7" Type="http://schemas.openxmlformats.org/officeDocument/2006/relationships/image" Target="../media/image93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11" Type="http://schemas.openxmlformats.org/officeDocument/2006/relationships/image" Target="../media/image95.jpeg"/><Relationship Id="rId5" Type="http://schemas.openxmlformats.org/officeDocument/2006/relationships/image" Target="../media/image28.png"/><Relationship Id="rId10" Type="http://schemas.openxmlformats.org/officeDocument/2006/relationships/hyperlink" Target="https://cheerful-gecko-a85d13.netlify.app" TargetMode="External"/><Relationship Id="rId4" Type="http://schemas.openxmlformats.org/officeDocument/2006/relationships/image" Target="../media/image27.png"/><Relationship Id="rId9" Type="http://schemas.openxmlformats.org/officeDocument/2006/relationships/image" Target="../media/image9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1.png"/><Relationship Id="rId7" Type="http://schemas.openxmlformats.org/officeDocument/2006/relationships/image" Target="../media/image10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1.png"/><Relationship Id="rId4" Type="http://schemas.openxmlformats.org/officeDocument/2006/relationships/image" Target="../media/image103.png"/><Relationship Id="rId9" Type="http://schemas.openxmlformats.org/officeDocument/2006/relationships/chart" Target="../charts/char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jpeg"/><Relationship Id="rId3" Type="http://schemas.openxmlformats.org/officeDocument/2006/relationships/image" Target="../media/image91.png"/><Relationship Id="rId7" Type="http://schemas.openxmlformats.org/officeDocument/2006/relationships/image" Target="../media/image108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jpeg"/><Relationship Id="rId5" Type="http://schemas.openxmlformats.org/officeDocument/2006/relationships/image" Target="../media/image106.jpeg"/><Relationship Id="rId4" Type="http://schemas.openxmlformats.org/officeDocument/2006/relationships/image" Target="../media/image105.png"/><Relationship Id="rId9" Type="http://schemas.openxmlformats.org/officeDocument/2006/relationships/image" Target="../media/image11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olalise/Advanced_project" TargetMode="External"/><Relationship Id="rId3" Type="http://schemas.openxmlformats.org/officeDocument/2006/relationships/image" Target="../media/image91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28.png"/><Relationship Id="rId10" Type="http://schemas.openxmlformats.org/officeDocument/2006/relationships/image" Target="../media/image96.png"/><Relationship Id="rId4" Type="http://schemas.openxmlformats.org/officeDocument/2006/relationships/image" Target="../media/image27.png"/><Relationship Id="rId9" Type="http://schemas.openxmlformats.org/officeDocument/2006/relationships/image" Target="../media/image113.jpe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9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0.png"/><Relationship Id="rId4" Type="http://schemas.openxmlformats.org/officeDocument/2006/relationships/image" Target="../media/image9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117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91.png"/><Relationship Id="rId7" Type="http://schemas.openxmlformats.org/officeDocument/2006/relationships/image" Target="../media/image1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127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jpeg"/><Relationship Id="rId5" Type="http://schemas.openxmlformats.org/officeDocument/2006/relationships/image" Target="../media/image125.jpeg"/><Relationship Id="rId4" Type="http://schemas.openxmlformats.org/officeDocument/2006/relationships/image" Target="../media/image124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1.jpeg"/><Relationship Id="rId5" Type="http://schemas.openxmlformats.org/officeDocument/2006/relationships/image" Target="../media/image130.jpeg"/><Relationship Id="rId4" Type="http://schemas.openxmlformats.org/officeDocument/2006/relationships/image" Target="../media/image129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plainaube.dothome.co.kr/hollys/index.html" TargetMode="External"/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12" Type="http://schemas.openxmlformats.org/officeDocument/2006/relationships/image" Target="../media/image13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3.png"/><Relationship Id="rId11" Type="http://schemas.openxmlformats.org/officeDocument/2006/relationships/image" Target="../media/image136.jpeg"/><Relationship Id="rId5" Type="http://schemas.openxmlformats.org/officeDocument/2006/relationships/image" Target="../media/image28.png"/><Relationship Id="rId10" Type="http://schemas.openxmlformats.org/officeDocument/2006/relationships/hyperlink" Target="https://soeun-yu.github.io/assets/webdesign/HTML%20%EA%B8%B0%EB%B0%98_%ED%95%A0%EB%A6%AC%EC%8A%A4%EC%BB%A4%ED%94%BC%20%ED%99%88%ED%8E%98%EC%9D%B4%EC%A7%80%20%EB%A6%AC%EB%89%B4%EC%96%BC.pdf" TargetMode="External"/><Relationship Id="rId4" Type="http://schemas.openxmlformats.org/officeDocument/2006/relationships/image" Target="../media/image27.png"/><Relationship Id="rId9" Type="http://schemas.openxmlformats.org/officeDocument/2006/relationships/image" Target="../media/image1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4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4.jpeg"/><Relationship Id="rId5" Type="http://schemas.openxmlformats.org/officeDocument/2006/relationships/image" Target="../media/image143.jpeg"/><Relationship Id="rId4" Type="http://schemas.openxmlformats.org/officeDocument/2006/relationships/image" Target="../media/image142.jpe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plainaube.dothome.co.kr/ohouse/index.html" TargetMode="External"/><Relationship Id="rId3" Type="http://schemas.openxmlformats.org/officeDocument/2006/relationships/image" Target="../media/image132.png"/><Relationship Id="rId7" Type="http://schemas.openxmlformats.org/officeDocument/2006/relationships/image" Target="../media/image134.png"/><Relationship Id="rId12" Type="http://schemas.openxmlformats.org/officeDocument/2006/relationships/image" Target="../media/image13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3.png"/><Relationship Id="rId11" Type="http://schemas.openxmlformats.org/officeDocument/2006/relationships/image" Target="../media/image145.jpeg"/><Relationship Id="rId5" Type="http://schemas.openxmlformats.org/officeDocument/2006/relationships/image" Target="../media/image28.png"/><Relationship Id="rId10" Type="http://schemas.openxmlformats.org/officeDocument/2006/relationships/hyperlink" Target="https://soeun-yu.github.io/assets/webdesign/HTML%20%EA%B8%B0%EB%B0%98_%EC%98%A4%EB%8A%98%EC%9D%98%EC%A7%91%20%ED%99%88%ED%8E%98%EC%9D%B4%EC%A7%80%20%EB%A6%AC%EB%89%B4%EC%96%BC.pdf" TargetMode="External"/><Relationship Id="rId4" Type="http://schemas.openxmlformats.org/officeDocument/2006/relationships/image" Target="../media/image27.png"/><Relationship Id="rId9" Type="http://schemas.openxmlformats.org/officeDocument/2006/relationships/image" Target="../media/image135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jpeg"/><Relationship Id="rId3" Type="http://schemas.openxmlformats.org/officeDocument/2006/relationships/image" Target="../media/image132.png"/><Relationship Id="rId7" Type="http://schemas.openxmlformats.org/officeDocument/2006/relationships/image" Target="../media/image149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8.png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3.png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oeun-yu" TargetMode="External"/><Relationship Id="rId4" Type="http://schemas.openxmlformats.org/officeDocument/2006/relationships/image" Target="../media/image1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77240"/>
            <a:ext cx="2921889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" y="900684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" y="777240"/>
            <a:ext cx="25561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휴먼AI교육센터 · 2025.06 ~ 2026.08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</a:t>
            </a:r>
            <a:r>
              <a:rPr lang="ko-KR" altLang="en-US" sz="5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ko-KR" alt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풀스택 개발자 · AI 활용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</a:t>
            </a:r>
            <a:endParaRPr lang="ko-KR" altLang="en-US" sz="2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기능에 ML 모델을 붙입니다</a:t>
            </a:r>
            <a:endParaRPr lang="ko-KR" alt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34340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43434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2026.08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37176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7457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474573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39512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148072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5148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2025.08</a:t>
            </a:r>
            <a:endParaRPr lang="ko-KR" alt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u="sng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1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56732"/>
            <a:ext cx="173736" cy="17373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629400" y="1463040"/>
            <a:ext cx="5010912" cy="3108960"/>
          </a:xfrm>
          <a:prstGeom prst="roundRect">
            <a:avLst>
              <a:gd name="adj" fmla="val 294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7570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8"/>
          <p:cNvSpPr/>
          <p:nvPr/>
        </p:nvSpPr>
        <p:spPr>
          <a:xfrm>
            <a:off x="692200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9"/>
          <p:cNvSpPr/>
          <p:nvPr/>
        </p:nvSpPr>
        <p:spPr>
          <a:xfrm>
            <a:off x="706831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3" name="Shape 20"/>
          <p:cNvSpPr/>
          <p:nvPr/>
        </p:nvSpPr>
        <p:spPr>
          <a:xfrm>
            <a:off x="7269480" y="15224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15224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1404" y="1737360"/>
            <a:ext cx="4946904" cy="280263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0012680" y="1097280"/>
            <a:ext cx="1377061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0696" y="12161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396728" y="1097280"/>
            <a:ext cx="9564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  </a:t>
            </a: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263640" y="3931920"/>
            <a:ext cx="2049018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656" y="405079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647688" y="3931920"/>
            <a:ext cx="16283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 </a:t>
            </a: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829800" y="4370832"/>
            <a:ext cx="1555877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7816" y="448970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213848" y="4370832"/>
            <a:ext cx="113525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 </a:t>
            </a: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803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0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프로젝트 목록</a:t>
            </a:r>
            <a:endParaRPr lang="ko-KR" alt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8386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ko-KR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3434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6002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8379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55080" y="19293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9293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8379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2441448"/>
            <a:ext cx="9972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2441448"/>
            <a:ext cx="997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25436" y="2441448"/>
            <a:ext cx="7152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5436" y="2441448"/>
            <a:ext cx="71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3852" y="2441448"/>
            <a:ext cx="11115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3852" y="2441448"/>
            <a:ext cx="111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98508" y="2441448"/>
            <a:ext cx="12893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98508" y="2441448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2004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3438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355080" y="35295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35295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381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5080" y="4041648"/>
            <a:ext cx="10480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4041648"/>
            <a:ext cx="1048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76236" y="4041648"/>
            <a:ext cx="5628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76236" y="4041648"/>
            <a:ext cx="56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12252" y="4041648"/>
            <a:ext cx="7635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12252" y="4041648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94960" y="48006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69280" y="50383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ko-KR" alt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6355080" y="51297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55080" y="51297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50383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55080" y="5641848"/>
            <a:ext cx="84734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55080" y="5641848"/>
            <a:ext cx="847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275576" y="5641848"/>
            <a:ext cx="7254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275576" y="5641848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00200"/>
            <a:ext cx="6172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화면과 Spring Boot · Node.js · FastAPI 서버를 함께 다루는 풀스택 개발자입니다.</a:t>
            </a:r>
            <a:endParaRPr lang="ko-KR" alt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9039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90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2106"/>
            <a:ext cx="6172200" cy="745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풀스택 과정의 팀 프로젝트 3건에서 회원·인증 도메인의 화면과 서버를 맡았습니다. 3H Furniture에서는 로그인 요청 형식 충돌을 해결해, 멈춰 있던 팀 기능 4개의 개발을 2일 만에 재개시켰습니다.</a:t>
            </a:r>
            <a:endParaRPr lang="ko-KR" alt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5565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5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37370"/>
            <a:ext cx="6172200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AI에서 대시보드를 맡아 화면 9개, REST API 13개, ML 모델 2종을 구현했고, N+1 조회를 배치 조회로 바꿔 로딩 시간을 2분에서 10초로 줄였습니다.</a:t>
            </a:r>
            <a:endParaRPr lang="ko-KR" alt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43800" y="1600200"/>
            <a:ext cx="4099255" cy="2331720"/>
          </a:xfrm>
          <a:prstGeom prst="roundRect">
            <a:avLst>
              <a:gd name="adj" fmla="val 627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832" y="181965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0924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경로</a:t>
            </a:r>
            <a:endParaRPr lang="ko-KR" alt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99832" y="2194560"/>
            <a:ext cx="358719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과정에서 웹사이트 리뉴얼 2건으로 UI/UX와 퍼블리싱을 익힌 뒤, Java 기반 풀스택 웹 개발자 과정에서 팀 프로젝트 3건(JSP → React+Express → Spring Boot)으로 화면과 서버를 함께 담당했고, AI 기반 서비스 개발 심화 과정에서 ML·DL·LLM 개인 프로젝트 3건과 팀 프로젝트 1건을 진행했습니다.</a:t>
            </a:r>
            <a:endParaRPr lang="ko-KR" alt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46227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22960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ko-KR" alt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22960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진행한 프로젝트</a:t>
            </a:r>
            <a:endParaRPr lang="ko-KR" alt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4 · 개인 5</a:t>
            </a:r>
            <a:endParaRPr lang="ko-KR" alt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379394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3714" y="446227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653714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653714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담당 화면</a:t>
            </a:r>
            <a:endParaRPr lang="ko-KR" alt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653714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13개 · ML 모델 2종</a:t>
            </a:r>
            <a:endParaRPr lang="ko-KR" alt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0148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4468" y="4462272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84468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2분 → 10</a:t>
            </a: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초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484468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로딩 시간</a:t>
            </a:r>
            <a:endParaRPr lang="ko-KR" alt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484468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N+1 조회 개선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40901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15221" y="446227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315221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lang="ko-KR" alt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315221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팀 기능 개발 재개</a:t>
            </a:r>
            <a:endParaRPr lang="ko-KR" alt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315221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2일 만에 로그인 연동</a:t>
            </a:r>
            <a:endParaRPr lang="ko-KR" alt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9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진행하며 여러 번 맡았던 역할을 네 가지로 정리했습니다. 구체적인 구현 내용은 프로젝트별 슬라이드에 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97400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04672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213512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8176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API · DB 전 구간 구현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AI(6인 기능 오너제)에서 대시보드를 맡아 React 화면 9개, Spring Boot API 13개, PostgreSQL 4개 테이블 집계, FastAPI ML 서버 2개를 설계하고 연동했습니다.</a:t>
            </a:r>
            <a:endParaRPr lang="ko-KR" alt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4672" y="3470148"/>
            <a:ext cx="58280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3470148"/>
            <a:ext cx="5828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460627" y="3470148"/>
            <a:ext cx="66001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60627" y="3470148"/>
            <a:ext cx="6600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13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193798" y="3470148"/>
            <a:ext cx="6986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93798" y="3470148"/>
            <a:ext cx="6986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9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2965577" y="3470148"/>
            <a:ext cx="77343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65577" y="3470148"/>
            <a:ext cx="77343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2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05576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454335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6461608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908" y="2135124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65112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인증을 세 가지 계층으로 구현</a:t>
            </a:r>
            <a:endParaRPr lang="ko-KR" alt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61608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3건에서 회원·인증 도메인을 연달아 맡았습니다. JSP·Servlet의 HttpSession 로그인, Node.js의 JWT 인증 미들웨어, Spring Security의 폼 로그인과 OAuth2 소셜 로그인 3종을 화면과 서버 양쪽에서 구현했습니다.</a:t>
            </a:r>
            <a:endParaRPr lang="ko-KR" alt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461608" y="3470148"/>
            <a:ext cx="9568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1608" y="3470148"/>
            <a:ext cx="9568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HttpSession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491578" y="3470148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491578" y="3470148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미들웨어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533613" y="3470148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533613" y="3470148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787992" y="3470148"/>
            <a:ext cx="88684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787992" y="3470148"/>
            <a:ext cx="8868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3종</a:t>
            </a:r>
            <a:endParaRPr lang="ko-KR" alt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48640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97400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600" dirty="0"/>
          </a:p>
        </p:txBody>
      </p:sp>
      <p:sp>
        <p:nvSpPr>
          <p:cNvPr id="35" name="Shape 31"/>
          <p:cNvSpPr/>
          <p:nvPr/>
        </p:nvSpPr>
        <p:spPr>
          <a:xfrm>
            <a:off x="804672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" y="4498848"/>
            <a:ext cx="228600" cy="2286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408176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확인한 뒤 수정</a:t>
            </a:r>
            <a:endParaRPr lang="ko-KR" alt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04672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Furniture에서 화면과 서버의 오류 메시지를 대조해 로그인 요청 형식 충돌을 해결했습니다. WorkFlow AI에서는 반복 조회로 늘어나던 DB 왕복을 한 번의 조회로 줄여 로딩 시간을 2분에서 10초로 단축했고, 소규모 팀에서 Isolation Forest가 과부하 팀원을 탐지하지 못하는 사례를 확인해 MAD 기반 방식으로 바꿨습니다.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804672" y="5833872"/>
            <a:ext cx="104127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804672" y="5833872"/>
            <a:ext cx="104127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2분 → 10초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1919097" y="5833872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919097" y="5833872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415 오류 해결</a:t>
            </a:r>
            <a:endParaRPr lang="ko-KR" alt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2997327" y="5833872"/>
            <a:ext cx="7324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997327" y="5833872"/>
            <a:ext cx="7324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제거</a:t>
            </a:r>
            <a:endParaRPr lang="ko-KR" alt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3802888" y="5833872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802888" y="5833872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교체</a:t>
            </a:r>
            <a:endParaRPr lang="ko-KR" alt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6205576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454335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3600" dirty="0"/>
          </a:p>
        </p:txBody>
      </p:sp>
      <p:sp>
        <p:nvSpPr>
          <p:cNvPr id="49" name="Shape 44"/>
          <p:cNvSpPr/>
          <p:nvPr/>
        </p:nvSpPr>
        <p:spPr>
          <a:xfrm>
            <a:off x="6461608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5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5908" y="4498848"/>
            <a:ext cx="228600" cy="2286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7065112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공통 구조와 문서 작업</a:t>
            </a:r>
            <a:endParaRPr lang="ko-KR" altLang="en-US" sz="1600" dirty="0"/>
          </a:p>
        </p:txBody>
      </p:sp>
      <p:sp>
        <p:nvSpPr>
          <p:cNvPr id="52" name="Text 46"/>
          <p:cNvSpPr txBox="1"/>
          <p:nvPr/>
        </p:nvSpPr>
        <p:spPr>
          <a:xfrm>
            <a:off x="6461608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초반에 프로젝트 폴더 구조 설계를 자원했습니다. React · Spring Boot · FastAPI 3계층 구조의 방향을 참고 자료와 함께 팀 채널에 먼저 공유하고, PL의 검토 의견을 반영한 구조도를 다시 공유했습니다. 이 구조는 팀장의 일부 수정을 거쳐 프로젝트에 반영되었습니다. 설계 · 개발 · 트러블슈팅 문서 14건과 착수보고서의 개발 수행 계획을 작성했습니다.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6461608" y="5833872"/>
            <a:ext cx="108229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61608" y="5833872"/>
            <a:ext cx="10822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3계층 폴더 구조</a:t>
            </a:r>
            <a:endParaRPr lang="ko-KR" alt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7617054" y="5833872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17054" y="5833872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먼저 공유</a:t>
            </a:r>
            <a:endParaRPr lang="ko-KR" altLang="en-US" sz="950" dirty="0"/>
          </a:p>
        </p:txBody>
      </p:sp>
      <p:sp>
        <p:nvSpPr>
          <p:cNvPr id="57" name="Shape 51"/>
          <p:cNvSpPr/>
          <p:nvPr/>
        </p:nvSpPr>
        <p:spPr>
          <a:xfrm>
            <a:off x="8695284" y="5833872"/>
            <a:ext cx="77584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695284" y="5833872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14건</a:t>
            </a:r>
            <a:endParaRPr lang="ko-KR" altLang="en-US" sz="950" dirty="0"/>
          </a:p>
        </p:txBody>
      </p:sp>
      <p:sp>
        <p:nvSpPr>
          <p:cNvPr id="59" name="Shape 53"/>
          <p:cNvSpPr/>
          <p:nvPr/>
        </p:nvSpPr>
        <p:spPr>
          <a:xfrm>
            <a:off x="9544279" y="5833872"/>
            <a:ext cx="108470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9544279" y="5833872"/>
            <a:ext cx="10847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착수보고서 작성</a:t>
            </a:r>
            <a:endParaRPr lang="ko-KR" altLang="en-US" sz="950" dirty="0"/>
          </a:p>
        </p:txBody>
      </p:sp>
      <p:sp>
        <p:nvSpPr>
          <p:cNvPr id="61" name="Text 5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5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90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altLang="ko-KR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</a:rPr>
              <a:t>PROJECT LIST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프로젝트 목록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2025.06부터 2026.08까지 진행한 프로젝트 9건입니다. 웹 디자인에서 시작해 JSP, React + Express, Spring Boot, AI 서비스 순으로 사용 기술이 바뀌었습니다.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3634740"/>
            <a:ext cx="2108778" cy="45720"/>
          </a:xfrm>
          <a:prstGeom prst="rect">
            <a:avLst/>
          </a:prstGeom>
          <a:solidFill>
            <a:srgbClr val="8F6E1B"/>
          </a:solidFill>
          <a:ln/>
        </p:spPr>
      </p:sp>
      <p:sp>
        <p:nvSpPr>
          <p:cNvPr id="6" name="Shape 4"/>
          <p:cNvSpPr/>
          <p:nvPr/>
        </p:nvSpPr>
        <p:spPr>
          <a:xfrm>
            <a:off x="3343218" y="3634740"/>
            <a:ext cx="3303156" cy="45720"/>
          </a:xfrm>
          <a:prstGeom prst="rect">
            <a:avLst/>
          </a:prstGeom>
          <a:solidFill>
            <a:srgbClr val="1D7A70"/>
          </a:solidFill>
          <a:ln/>
        </p:spPr>
      </p:sp>
      <p:sp>
        <p:nvSpPr>
          <p:cNvPr id="7" name="Shape 5"/>
          <p:cNvSpPr/>
          <p:nvPr/>
        </p:nvSpPr>
        <p:spPr>
          <a:xfrm>
            <a:off x="6646374" y="3634740"/>
            <a:ext cx="4310882" cy="45720"/>
          </a:xfrm>
          <a:prstGeom prst="rect">
            <a:avLst/>
          </a:prstGeom>
          <a:solidFill>
            <a:srgbClr val="605191"/>
          </a:solidFill>
          <a:ln/>
        </p:spPr>
      </p:sp>
      <p:sp>
        <p:nvSpPr>
          <p:cNvPr id="8" name="Shape 6"/>
          <p:cNvSpPr/>
          <p:nvPr/>
        </p:nvSpPr>
        <p:spPr>
          <a:xfrm>
            <a:off x="1691640" y="3291840"/>
            <a:ext cx="0" cy="219456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</a:t>
            </a:r>
            <a:endParaRPr lang="ko-KR" alt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리뉴얼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SWOT · 페르소나 분석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커뮤니티 IA 재설계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5448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2"/>
          <p:cNvSpPr/>
          <p:nvPr/>
        </p:nvSpPr>
        <p:spPr>
          <a:xfrm>
            <a:off x="2792692" y="3803904"/>
            <a:ext cx="0" cy="237744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41132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2025.07</a:t>
            </a:r>
            <a:endParaRPr lang="ko-KR" alt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41132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리뉴얼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741132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개편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 동적 인터랙션</a:t>
            </a:r>
            <a:endParaRPr lang="ko-KR" alt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5532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19540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3744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2184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2026.02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42184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42184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Servlet · JDBC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인증과 마이페이지 담당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56584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0592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94796" y="3803904"/>
            <a:ext cx="0" cy="237744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3236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2026.03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43236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943236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Express · MongoDB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인증과 회원 도메인 담당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57636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1644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95848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44288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2026.04</a:t>
            </a:r>
            <a:endParaRPr lang="ko-KR" alt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044288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44288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Security · JPA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회원·인증과 상품 검색 담당</a:t>
            </a:r>
            <a:endParaRPr lang="ko-KR" alt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58688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7196900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45340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1453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145340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5종 비교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0.801</a:t>
            </a:r>
            <a:endParaRPr lang="ko-KR" alt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5974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23748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4" name="Shape 42"/>
          <p:cNvSpPr/>
          <p:nvPr/>
        </p:nvSpPr>
        <p:spPr>
          <a:xfrm>
            <a:off x="8297951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46391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246391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246391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3종 비교 · MLflow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 94.5%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160791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24799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0" name="Shape 48"/>
          <p:cNvSpPr/>
          <p:nvPr/>
        </p:nvSpPr>
        <p:spPr>
          <a:xfrm>
            <a:off x="9399003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443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347443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347443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 · RAG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구축</a:t>
            </a:r>
            <a:endParaRPr lang="ko-KR" alt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61843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25851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00055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448495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9448495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448495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</a:t>
            </a:r>
            <a:endParaRPr lang="ko-KR" alt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 · API 13 · ML 2종</a:t>
            </a:r>
            <a:endParaRPr lang="ko-KR" alt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362895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26903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05505" y="5760720"/>
            <a:ext cx="2731247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1809" y="5870448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4689" y="5760720"/>
            <a:ext cx="2365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  </a:t>
            </a: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08</a:t>
            </a:r>
            <a:endParaRPr lang="ko-KR" alt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619632" y="5760720"/>
            <a:ext cx="4085443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765936" y="5870448"/>
            <a:ext cx="109728" cy="1097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948816" y="5760720"/>
            <a:ext cx="37196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  </a:t>
            </a: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887955" y="5760720"/>
            <a:ext cx="3598235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34259" y="5870448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217139" y="5760720"/>
            <a:ext cx="32324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  </a:t>
            </a: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08</a:t>
            </a:r>
            <a:endParaRPr lang="ko-KR" alt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List</a:t>
            </a:r>
            <a:endParaRPr lang="ko-KR" altLang="en-US" sz="9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Frontend / Backend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기술로 무엇을 만들었는지와, 어떤 프로젝트에서 썼는지를 함께 적었습니다.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5333F"/>
          </a:solidFill>
          <a:ln w="9525">
            <a:solidFill>
              <a:srgbClr val="18566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kern="0" spc="15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203704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9화면 · 매물 탐색 · 가구몰 메인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398264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PPAP · 3H</a:t>
            </a:r>
            <a:endParaRPr lang="ko-KR" alt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86384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203704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응답 DTO 타입 정의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398264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203704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개발 서버 · 빌드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398264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203704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카드·배지 반응형 레이아웃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398264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6384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 · Bootstrap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03704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입력 폼 · 가구몰 화면 컴포넌트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398264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3H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203704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진행률·업무량 차트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398264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JSTL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203704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화면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398264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6205576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43320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2057400"/>
            <a:ext cx="182880" cy="182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937096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kern="0" spc="1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ko-KR" alt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443320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860640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집계 로직 · 회원 도메인</a:t>
            </a:r>
            <a:endParaRPr lang="ko-KR" alt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10055200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6443320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43320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7860640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API 13개 · 상품 조회 API</a:t>
            </a:r>
            <a:endParaRPr lang="ko-KR" altLang="en-US" sz="1050" dirty="0"/>
          </a:p>
        </p:txBody>
      </p:sp>
      <p:sp>
        <p:nvSpPr>
          <p:cNvPr id="46" name="Text 42"/>
          <p:cNvSpPr txBox="1"/>
          <p:nvPr/>
        </p:nvSpPr>
        <p:spPr>
          <a:xfrm>
            <a:off x="10055200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443320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443320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7860640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로그인 · OAuth2 소셜 로그인 · 권한 분리</a:t>
            </a:r>
            <a:endParaRPr lang="ko-KR" alt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10055200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443320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100" dirty="0"/>
          </a:p>
        </p:txBody>
      </p:sp>
      <p:sp>
        <p:nvSpPr>
          <p:cNvPr id="53" name="Text 49"/>
          <p:cNvSpPr txBox="1"/>
          <p:nvPr/>
        </p:nvSpPr>
        <p:spPr>
          <a:xfrm>
            <a:off x="7860640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업무·마일스톤·회원 테이블 접근</a:t>
            </a:r>
            <a:endParaRPr lang="ko-KR" altLang="en-US" sz="1050" dirty="0"/>
          </a:p>
        </p:txBody>
      </p:sp>
      <p:sp>
        <p:nvSpPr>
          <p:cNvPr id="54" name="Text 50"/>
          <p:cNvSpPr txBox="1"/>
          <p:nvPr/>
        </p:nvSpPr>
        <p:spPr>
          <a:xfrm>
            <a:off x="10055200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· WorkFlow AI</a:t>
            </a:r>
            <a:endParaRPr lang="ko-KR" alt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443320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7860640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· 보호 라우트 검증</a:t>
            </a:r>
            <a:endParaRPr lang="ko-KR" altLang="en-US" sz="1050" dirty="0"/>
          </a:p>
        </p:txBody>
      </p:sp>
      <p:sp>
        <p:nvSpPr>
          <p:cNvPr id="58" name="Text 54"/>
          <p:cNvSpPr txBox="1"/>
          <p:nvPr/>
        </p:nvSpPr>
        <p:spPr>
          <a:xfrm>
            <a:off x="10055200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WorkFlow AI</a:t>
            </a:r>
            <a:endParaRPr lang="ko-KR" alt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443320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· Express</a:t>
            </a:r>
            <a:endParaRPr lang="ko-KR" altLang="en-US" sz="1100" dirty="0"/>
          </a:p>
        </p:txBody>
      </p:sp>
      <p:sp>
        <p:nvSpPr>
          <p:cNvPr id="61" name="Text 57"/>
          <p:cNvSpPr txBox="1"/>
          <p:nvPr/>
        </p:nvSpPr>
        <p:spPr>
          <a:xfrm>
            <a:off x="7860640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매물·회원·상담 예약 REST API</a:t>
            </a:r>
            <a:endParaRPr lang="ko-KR" altLang="en-US" sz="1050" dirty="0"/>
          </a:p>
        </p:txBody>
      </p:sp>
      <p:sp>
        <p:nvSpPr>
          <p:cNvPr id="62" name="Text 58"/>
          <p:cNvSpPr txBox="1"/>
          <p:nvPr/>
        </p:nvSpPr>
        <p:spPr>
          <a:xfrm>
            <a:off x="10055200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443320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43320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 · JDBC</a:t>
            </a:r>
            <a:endParaRPr lang="ko-KR" alt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7860640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로그인 · DTO/DAO 계층</a:t>
            </a:r>
            <a:endParaRPr lang="ko-KR" alt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10055200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950" dirty="0"/>
          </a:p>
        </p:txBody>
      </p:sp>
      <p:sp>
        <p:nvSpPr>
          <p:cNvPr id="67" name="Text 6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6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AI/ML · Database · 협업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 사용한 AI/ML · 데이터베이스 · 테스트 · 협업 도구입니다.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kern="0" spc="1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/ ML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40864" y="247802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 · FastAPI 서빙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81144" y="247802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AI 프로젝트</a:t>
            </a:r>
            <a:endParaRPr lang="ko-KR" alt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6384" y="288747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288747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340864" y="288747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위험도·업무 편중 예측 서버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88747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2969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29692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40864" y="329692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사조 분류 모델 학습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81144" y="329692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370636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370636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340864" y="370636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비교 · MAD 이상치 탐지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70636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개인 · WorkFlow AI</a:t>
            </a:r>
            <a:endParaRPr lang="ko-KR" alt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86384" y="411581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115816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340864" y="4115816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8개 trial 기록·비교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4115816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452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452526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340864" y="452526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유사도 검색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81144" y="452526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49347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493471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340864" y="493471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근거 기반 도슨트 해설 생성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81144" y="493471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86384" y="53441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6384" y="534416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340864" y="534416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계산 흐름 트레이싱</a:t>
            </a:r>
            <a:endParaRPr lang="ko-KR" alt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81144" y="534416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786384" y="575360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86384" y="575360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2340864" y="575360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예측·작품 추천 프로토타입</a:t>
            </a:r>
            <a:endParaRPr lang="ko-KR" alt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581144" y="575360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Curatio</a:t>
            </a:r>
            <a:endParaRPr lang="ko-KR" alt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6205576" y="1783080"/>
            <a:ext cx="5437480" cy="1901952"/>
          </a:xfrm>
          <a:prstGeom prst="roundRect">
            <a:avLst>
              <a:gd name="adj" fmla="val 769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43320" y="19019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4760" y="1993392"/>
            <a:ext cx="182880" cy="18288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937096" y="1901952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kern="0" spc="15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ko-KR" altLang="en-US" sz="1150" dirty="0"/>
          </a:p>
        </p:txBody>
      </p:sp>
      <p:sp>
        <p:nvSpPr>
          <p:cNvPr id="48" name="Text 44"/>
          <p:cNvSpPr txBox="1"/>
          <p:nvPr/>
        </p:nvSpPr>
        <p:spPr>
          <a:xfrm>
            <a:off x="6443320" y="235000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89240" y="235000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업무·활동·ML 예측 이력 저장</a:t>
            </a:r>
            <a:endParaRPr lang="ko-KR" alt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10283800" y="2350008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443320" y="26517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26517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1050" dirty="0"/>
          </a:p>
        </p:txBody>
      </p:sp>
      <p:sp>
        <p:nvSpPr>
          <p:cNvPr id="53" name="Text 49"/>
          <p:cNvSpPr txBox="1"/>
          <p:nvPr/>
        </p:nvSpPr>
        <p:spPr>
          <a:xfrm>
            <a:off x="8089240" y="265176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상품·회원·게시판 테이블</a:t>
            </a:r>
            <a:endParaRPr lang="ko-KR" alt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10283800" y="2651760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3H(Cloud ADB) · 너의 곁에</a:t>
            </a:r>
            <a:endParaRPr lang="ko-KR" altLang="en-US" sz="750" dirty="0"/>
          </a:p>
        </p:txBody>
      </p:sp>
      <p:sp>
        <p:nvSpPr>
          <p:cNvPr id="55" name="Shape 51"/>
          <p:cNvSpPr/>
          <p:nvPr/>
        </p:nvSpPr>
        <p:spPr>
          <a:xfrm>
            <a:off x="6443320" y="29535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29535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· Mongoose</a:t>
            </a:r>
            <a:endParaRPr lang="ko-KR" altLang="en-US" sz="1050" dirty="0"/>
          </a:p>
        </p:txBody>
      </p:sp>
      <p:sp>
        <p:nvSpPr>
          <p:cNvPr id="57" name="Text 53"/>
          <p:cNvSpPr txBox="1"/>
          <p:nvPr/>
        </p:nvSpPr>
        <p:spPr>
          <a:xfrm>
            <a:off x="8089240" y="295351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매물·이미지·상담 예약 스키마</a:t>
            </a:r>
            <a:endParaRPr lang="ko-KR" altLang="en-US" sz="1000" dirty="0"/>
          </a:p>
        </p:txBody>
      </p:sp>
      <p:sp>
        <p:nvSpPr>
          <p:cNvPr id="58" name="Text 54"/>
          <p:cNvSpPr txBox="1"/>
          <p:nvPr/>
        </p:nvSpPr>
        <p:spPr>
          <a:xfrm>
            <a:off x="10283800" y="2953512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6443320" y="325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325526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pgvector</a:t>
            </a:r>
            <a:endParaRPr lang="ko-KR" alt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8089240" y="325526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임베딩 저장 · 유사도 검색</a:t>
            </a:r>
            <a:endParaRPr lang="ko-KR" alt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10283800" y="3255264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6205576" y="3867912"/>
            <a:ext cx="5437480" cy="2423160"/>
          </a:xfrm>
          <a:prstGeom prst="roundRect">
            <a:avLst>
              <a:gd name="adj" fmla="val 603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443320" y="398678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6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4760" y="4078224"/>
            <a:ext cx="182880" cy="182880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6937096" y="398678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kern="0" spc="1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· 품질</a:t>
            </a:r>
            <a:endParaRPr lang="ko-KR" altLang="en-US" sz="1150" dirty="0"/>
          </a:p>
        </p:txBody>
      </p:sp>
      <p:sp>
        <p:nvSpPr>
          <p:cNvPr id="67" name="Text 62"/>
          <p:cNvSpPr txBox="1"/>
          <p:nvPr/>
        </p:nvSpPr>
        <p:spPr>
          <a:xfrm>
            <a:off x="6443320" y="443484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GitHub</a:t>
            </a:r>
            <a:endParaRPr lang="ko-KR" altLang="en-US" sz="1050" dirty="0"/>
          </a:p>
        </p:txBody>
      </p:sp>
      <p:sp>
        <p:nvSpPr>
          <p:cNvPr id="68" name="Text 63"/>
          <p:cNvSpPr txBox="1"/>
          <p:nvPr/>
        </p:nvSpPr>
        <p:spPr>
          <a:xfrm>
            <a:off x="8089240" y="443484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브랜치 전략 · PR 리뷰</a:t>
            </a:r>
            <a:endParaRPr lang="ko-KR" alt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10283800" y="443484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프로젝트</a:t>
            </a:r>
            <a:endParaRPr lang="ko-KR" alt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6443320" y="472287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443320" y="472287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72" name="Text 67"/>
          <p:cNvSpPr txBox="1"/>
          <p:nvPr/>
        </p:nvSpPr>
        <p:spPr>
          <a:xfrm>
            <a:off x="8089240" y="4722876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 · 팀 알림</a:t>
            </a:r>
            <a:endParaRPr lang="ko-KR" alt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10283800" y="4722876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6443320" y="50109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443320" y="5010912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</a:t>
            </a:r>
            <a:endParaRPr lang="ko-KR" altLang="en-US" sz="1050" dirty="0"/>
          </a:p>
        </p:txBody>
      </p:sp>
      <p:sp>
        <p:nvSpPr>
          <p:cNvPr id="76" name="Text 71"/>
          <p:cNvSpPr txBox="1"/>
          <p:nvPr/>
        </p:nvSpPr>
        <p:spPr>
          <a:xfrm>
            <a:off x="8089240" y="5010912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훅·유틸 회귀 테스트</a:t>
            </a:r>
            <a:endParaRPr lang="ko-KR" altLang="en-US" sz="1000" dirty="0"/>
          </a:p>
        </p:txBody>
      </p:sp>
      <p:sp>
        <p:nvSpPr>
          <p:cNvPr id="77" name="Text 72"/>
          <p:cNvSpPr txBox="1"/>
          <p:nvPr/>
        </p:nvSpPr>
        <p:spPr>
          <a:xfrm>
            <a:off x="10283800" y="5010912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8" name="Shape 73"/>
          <p:cNvSpPr/>
          <p:nvPr/>
        </p:nvSpPr>
        <p:spPr>
          <a:xfrm>
            <a:off x="6443320" y="529894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443320" y="5298948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JUnit · MockMvc</a:t>
            </a:r>
            <a:endParaRPr lang="ko-KR" altLang="en-US" sz="1050" dirty="0"/>
          </a:p>
        </p:txBody>
      </p:sp>
      <p:sp>
        <p:nvSpPr>
          <p:cNvPr id="80" name="Text 75"/>
          <p:cNvSpPr txBox="1"/>
          <p:nvPr/>
        </p:nvSpPr>
        <p:spPr>
          <a:xfrm>
            <a:off x="8089240" y="5298948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API · 권한 검증 테스트</a:t>
            </a:r>
            <a:endParaRPr lang="ko-KR" altLang="en-US" sz="1000" dirty="0"/>
          </a:p>
        </p:txBody>
      </p:sp>
      <p:sp>
        <p:nvSpPr>
          <p:cNvPr id="81" name="Text 76"/>
          <p:cNvSpPr txBox="1"/>
          <p:nvPr/>
        </p:nvSpPr>
        <p:spPr>
          <a:xfrm>
            <a:off x="10283800" y="5298948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6443320" y="558698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6443320" y="5586984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pytest</a:t>
            </a:r>
            <a:endParaRPr lang="ko-KR" altLang="en-US" sz="1050" dirty="0"/>
          </a:p>
        </p:txBody>
      </p:sp>
      <p:sp>
        <p:nvSpPr>
          <p:cNvPr id="84" name="Text 79"/>
          <p:cNvSpPr txBox="1"/>
          <p:nvPr/>
        </p:nvSpPr>
        <p:spPr>
          <a:xfrm>
            <a:off x="8089240" y="5586984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예측 로직 테스트</a:t>
            </a:r>
            <a:endParaRPr lang="ko-KR" altLang="en-US" sz="1000" dirty="0"/>
          </a:p>
        </p:txBody>
      </p:sp>
      <p:sp>
        <p:nvSpPr>
          <p:cNvPr id="85" name="Text 80"/>
          <p:cNvSpPr txBox="1"/>
          <p:nvPr/>
        </p:nvSpPr>
        <p:spPr>
          <a:xfrm>
            <a:off x="10283800" y="5586984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6443320" y="58750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443320" y="587502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Discord · Slack</a:t>
            </a:r>
            <a:endParaRPr lang="ko-KR" altLang="en-US" sz="1000" dirty="0"/>
          </a:p>
        </p:txBody>
      </p:sp>
      <p:sp>
        <p:nvSpPr>
          <p:cNvPr id="88" name="Text 83"/>
          <p:cNvSpPr txBox="1"/>
          <p:nvPr/>
        </p:nvSpPr>
        <p:spPr>
          <a:xfrm>
            <a:off x="8089240" y="587502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추적 · PR 알림봇 연동</a:t>
            </a:r>
            <a:endParaRPr lang="ko-KR" altLang="en-US" sz="1000" dirty="0"/>
          </a:p>
        </p:txBody>
      </p:sp>
      <p:sp>
        <p:nvSpPr>
          <p:cNvPr id="89" name="Text 84"/>
          <p:cNvSpPr txBox="1"/>
          <p:nvPr/>
        </p:nvSpPr>
        <p:spPr>
          <a:xfrm>
            <a:off x="10283800" y="587502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90" name="Text 8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91" name="Text 8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9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231F35"/>
          </a:solidFill>
          <a:ln w="9525">
            <a:solidFill>
              <a:srgbClr val="5145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· DL · LLM 개인 프로젝트 3건과, 이를 서비스 기능으로 구현한 팀 프로젝트 1건입니다.</a:t>
            </a:r>
            <a:endParaRPr lang="ko-KR" alt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80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257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~ 2026.08 · 프로젝트 4건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538728"/>
            <a:ext cx="2389556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91921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919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71488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1488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회의·업무·기록·평가를 AI가 하나의 흐름으로 잇는 협업 플랫폼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377108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836" y="3538728"/>
            <a:ext cx="2389556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596564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96564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096436" y="4873752"/>
            <a:ext cx="98044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096436" y="4873752"/>
            <a:ext cx="98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3596564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96564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05576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5304" y="3538728"/>
            <a:ext cx="2389556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25032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425032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6924904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4904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6425032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25032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34043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143771" y="3538728"/>
            <a:ext cx="2389556" cy="1188720"/>
          </a:xfrm>
          <a:prstGeom prst="roundRect">
            <a:avLst>
              <a:gd name="adj" fmla="val 4615"/>
            </a:avLst>
          </a:prstGeom>
          <a:solidFill>
            <a:srgbClr val="222134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64229" y="3858768"/>
            <a:ext cx="548640" cy="54864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253499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253499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9753371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753371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9253499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253499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행동·수면·정서 데이터로 사회적 고립 수준을 예측하는 회귀 모델</a:t>
            </a:r>
            <a:endParaRPr lang="ko-KR" alt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968883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9067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9067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프로젝트의 회의·업무·기록·평가를 AI가 하나의 흐름으로 잇는 협업 플랫폼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2026.07.06 ~ 08.05 (4주)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3팀 · 6인 기능 오너제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FS-3 대시보드 담당 — 화면 · API · DB · ML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tooltip="https://github.com/rhantj/work-flow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789680"/>
            <a:ext cx="103784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859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789680"/>
            <a:ext cx="672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tooltip="https://youtu.be/D5jy2qbKh7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시연 영상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3" name="Shape 16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Shape 17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Shape 18"/>
          <p:cNvSpPr/>
          <p:nvPr/>
        </p:nvSpPr>
        <p:spPr>
          <a:xfrm>
            <a:off x="7040880" y="6080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040880" y="6080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2600" dirty="0"/>
          </a:p>
        </p:txBody>
      </p:sp>
      <p:sp>
        <p:nvSpPr>
          <p:cNvPr id="30" name="Text 22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33" name="Text 25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</a:t>
            </a:r>
            <a:endParaRPr lang="ko-KR" alt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6" name="Text 28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</a:t>
            </a:r>
            <a:endParaRPr lang="ko-KR" alt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9" name="Text 31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훅</a:t>
            </a:r>
            <a:endParaRPr lang="ko-KR" alt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3" name="Text 34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 AI가 만든 To-Do가 업무보드에 반영되면, 대시보드는 그 업무·활동 데이터로 지연 위험도와 업무 편중도를 계산해 보여줍니다. 다른 기능에서 쌓인 데이터를 조회·분석하는 부분입니다.</a:t>
            </a:r>
            <a:endParaRPr lang="ko-KR" alt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담당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홈 + 상세 8화면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 분석 · 블로커 관리 · 마감 임박 · 팀원별 업무량 · 최근 활동 · 전체 업무 관리를 역할(팀장/팀원)에 따라 다르게 노출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API 13개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6 · 마일스톤 3 · 재분석 작업 4. tasks · milestones · activities · ml_predictions 4개 테이블을 집계하고, @PreAuthorize로 팀장 전용(마일스톤 CRUD)과 멤버 권한을 분리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지연 위험도 예측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업무별 피처 약 35개를 생성해 정상/주의/위험 3분류. 체크리스트 진행률과 경과 시간의 차이(imbalance index)로 경과 시간 대비 진행이 더딘 업무를 탐지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96432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44" y="3454908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업무 편중 점수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규모에 따라 MAD 기반 Modified Z-score와 Isolation Forest를 자동 전환. 0~100 점수와 함께 과부하 의심 / 배정량 불균형을 구분해 판정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갱신 처리</a:t>
            </a:r>
            <a:endParaRPr lang="ko-KR" alt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371600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15초마다 시그니처만 비교해 실제 변경이 있을 때만 갱신하므로 스크롤·선택 상태가 유지됨. 요청 세대 번호로 프로젝트 전환 시 도착한 이전 응답(stale)을 폐기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96432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15888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1044" y="512216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9392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구조 · 문서화</a:t>
            </a:r>
            <a:endParaRPr lang="ko-KR" alt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019392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구조 설계를 자원해 Frontend(React) / Backend(Spring Boot) / AI Backend(FastAPI) 3계층 구조를 참고 자료와 함께 팀 채널에 공유했고, PL 검토 의견을 반영한 구조도를 다시 공유. 설계 · 개발 · 트러블슈팅 문서 14건과 착수보고서 「개발 수행 계획」 작성</a:t>
            </a:r>
            <a:endParaRPr lang="ko-KR" altLang="en-US" sz="95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수치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흐름과 담당 산출물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33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69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화면 · 훅 5개</a:t>
            </a:r>
            <a:endParaRPr lang="ko-KR" alt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220" y="206197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045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392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59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76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4776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권한 검증</a:t>
            </a:r>
            <a:endParaRPr lang="ko-KR" alt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06197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604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2951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949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35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63335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테이블</a:t>
            </a:r>
            <a:endParaRPr lang="ko-KR" altLang="en-US" sz="10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019" y="206197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116339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15109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189491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× 2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9189491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 · 업무 편중</a:t>
            </a:r>
            <a:endParaRPr lang="ko-KR" alt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48640" y="3118104"/>
            <a:ext cx="6309360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86384" y="330098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산출물</a:t>
            </a:r>
            <a:endParaRPr lang="ko-KR" altLang="en-US" sz="12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640080" y="3621024"/>
          <a:ext cx="6080760" cy="2505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0" name="Shape 20"/>
          <p:cNvSpPr/>
          <p:nvPr/>
        </p:nvSpPr>
        <p:spPr>
          <a:xfrm>
            <a:off x="7077456" y="3118104"/>
            <a:ext cx="4565599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315200" y="330098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7315200" y="3721608"/>
            <a:ext cx="81114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315200" y="3721608"/>
            <a:ext cx="811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ko-KR" alt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8217789" y="3721608"/>
            <a:ext cx="9631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217789" y="3721608"/>
            <a:ext cx="96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9272397" y="372160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272397" y="372160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9894951" y="3721608"/>
            <a:ext cx="12298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94951" y="3721608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ko-KR" altLang="en-US" sz="1050" dirty="0"/>
          </a:p>
        </p:txBody>
      </p:sp>
      <p:sp>
        <p:nvSpPr>
          <p:cNvPr id="40" name="Shape 30"/>
          <p:cNvSpPr/>
          <p:nvPr/>
        </p:nvSpPr>
        <p:spPr>
          <a:xfrm>
            <a:off x="7315200" y="4105656"/>
            <a:ext cx="80848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315200" y="4105656"/>
            <a:ext cx="808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8215122" y="4105656"/>
            <a:ext cx="126453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15122" y="4105656"/>
            <a:ext cx="12645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ko-KR" alt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9571101" y="4105656"/>
            <a:ext cx="74180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571101" y="4105656"/>
            <a:ext cx="7418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7315200" y="4489704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7315200" y="4489704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8705850" y="4489704"/>
            <a:ext cx="78714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8705850" y="4489704"/>
            <a:ext cx="78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9584436" y="4489704"/>
            <a:ext cx="105117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9584436" y="4489704"/>
            <a:ext cx="10511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050" dirty="0"/>
          </a:p>
        </p:txBody>
      </p:sp>
      <p:sp>
        <p:nvSpPr>
          <p:cNvPr id="52" name="Shape 42"/>
          <p:cNvSpPr/>
          <p:nvPr/>
        </p:nvSpPr>
        <p:spPr>
          <a:xfrm>
            <a:off x="7315200" y="4873752"/>
            <a:ext cx="169659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7315200" y="4873752"/>
            <a:ext cx="16965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9103233" y="4873752"/>
            <a:ext cx="89382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9103233" y="4873752"/>
            <a:ext cx="893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10088499" y="4873752"/>
            <a:ext cx="122720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10088499" y="4873752"/>
            <a:ext cx="12272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7315200" y="5257800"/>
            <a:ext cx="165658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315200" y="5257800"/>
            <a:ext cx="1656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Slack · Discord</a:t>
            </a:r>
            <a:endParaRPr lang="ko-KR" altLang="en-US" sz="1050" dirty="0"/>
          </a:p>
        </p:txBody>
      </p:sp>
      <p:sp>
        <p:nvSpPr>
          <p:cNvPr id="60" name="Text 5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1" name="Text 5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역할(팀장/팀원)에 따라 다르게 보이는 대시보드 상세 화면입니다. 카드 데이터는 Spring Boot 집계 API와 FastAPI 예측 결과를 사용합니다.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팀원별 업무량 — ML 업무 편중 점수와 과부하 판정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블로커 관리 — 심각도·지속시간·지연 위험 분석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진행률 — 일정 대비 진행률과 마일스톤 관리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관리 — 검색·필터·인라인 상태 변경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범위: 대시보드 API(Backend API), 지연 위험도 · 업무 편중 모델(AI/ML Backend)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760720" cy="4151376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2360490"/>
            <a:ext cx="5504688" cy="29965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구성도 — OCI Ubuntu 24.04 VM 한 대에서 컨테이너로 운영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47104" y="1783080"/>
            <a:ext cx="509595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36" y="203911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14032" y="199339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ko-KR" alt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812280" y="255917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514600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2713482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· React(TypeScript · Vite · Tailwind). /api/* 요청을 Backend로 리버스 프록시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812280" y="325412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209544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API</a:t>
            </a:r>
            <a:endParaRPr lang="ko-KR" alt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408426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21, JWT · RBAC. 인증 · 업무보드 · 회의록 · 대시보드 API, FastAPI 호출</a:t>
            </a:r>
            <a:endParaRPr lang="ko-KR" alt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12280" y="3949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3904488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AI/ML Backend</a:t>
            </a:r>
            <a:endParaRPr lang="ko-KR" alt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103370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Python 3.12. 회의록 분석 · To-Do 후보 추출, RAG Assistant, 지연 위험도 분석</a:t>
            </a:r>
            <a:endParaRPr lang="ko-KR" alt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12280" y="464400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004304" y="4599432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큐</a:t>
            </a:r>
            <a:endParaRPr lang="ko-KR" alt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004304" y="4798314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+ pgvector(업무 · 회의록 · RAG 벡터), Redis(회의록 분석 비동기 큐)</a:t>
            </a:r>
            <a:endParaRPr lang="ko-KR" alt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812280" y="5338953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04304" y="5294376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 · 배포</a:t>
            </a:r>
            <a:endParaRPr lang="ko-KR" alt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04304" y="5493258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Actions(main push → OCI 배포), Let's Encrypt, Google OAuth, Supabase Storage, Hugging Face</a:t>
            </a:r>
            <a:endParaRPr lang="ko-KR" alt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66162" cy="301656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517904"/>
            <a:ext cx="2256434" cy="2906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552760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079394" y="1463040"/>
            <a:ext cx="2366162" cy="2902020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4258" y="1517904"/>
            <a:ext cx="2256434" cy="27922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79394" y="443821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610149" y="1463040"/>
            <a:ext cx="2366162" cy="1823890"/>
          </a:xfrm>
          <a:prstGeom prst="roundRect">
            <a:avLst>
              <a:gd name="adj" fmla="val 4011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5013" y="1517904"/>
            <a:ext cx="2256434" cy="17141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10149" y="336008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214055" y="1463040"/>
            <a:ext cx="3429000" cy="4800600"/>
          </a:xfrm>
          <a:prstGeom prst="roundRect">
            <a:avLst>
              <a:gd name="adj" fmla="val 37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0087" y="171907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80983" y="1673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470087" y="2194560"/>
            <a:ext cx="2916936" cy="104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초반(당시 팀원 7명)에 같은 구조에서 작업할 수 있도록 3계층 구조의 방향을 참고 자료와 함께 먼저 공유했습니다. PL의 검토 의견을 반영한 구조도를 같은 날 다시 공유했고, 팀장이 일부를 수정해 프로젝트에 반영했습니다.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8479231" y="348996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671255" y="3445383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671255" y="3644265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폴더(components · hooks · libs · screen)와 공통 global 폴더(api · store · styles 등)로 구분</a:t>
            </a:r>
            <a:endParaRPr lang="ko-KR" alt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8479231" y="435063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71255" y="4306062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671255" y="4504944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 안에 entity → repository → service → DTO → controller, 공통은 global(config · queue · client · error)</a:t>
            </a:r>
            <a:endParaRPr lang="ko-KR" alt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8479231" y="5211318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671255" y="5166741"/>
            <a:ext cx="27157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8671255" y="5365623"/>
            <a:ext cx="2715768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설정 core(config · logging · exceptions · middleware · queue)와 모델별 폴더(routers · schema · services)</a:t>
            </a:r>
            <a:endParaRPr lang="ko-KR" alt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PROBLEM SOLVING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사례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개발 중 확인한 문제와 처리 과정입니다. 문제 · 분석 · 행동 · 결과 순으로 정리했습니다.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8308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17320" y="196961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2476" y="207477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11680" y="189280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조회 개선으로 대시보드 로딩 2분 → 10초</a:t>
            </a:r>
            <a:endParaRPr lang="ko-KR" alt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221992"/>
            <a:ext cx="756965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9개 화면의 로딩 시간이 2분에서 10초로 줄었습니다. 업무 140여 건 기준으로 업무 목록에서 약 140회 나가던 사용자 조회는 API당 1회로 고정됩니다.</a:t>
            </a:r>
            <a:endParaRPr lang="ko-KR" alt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855657" y="2056486"/>
            <a:ext cx="4645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55657" y="2056486"/>
            <a:ext cx="4645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393375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93375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935919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35919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704795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" y="2704795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417320" y="289133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2476" y="2996489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011680" y="2814523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011680" y="3143707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9467164" y="2978201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7164" y="2978201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10393375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393375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935919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35919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362651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86384" y="362651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31" name="Shape 27"/>
          <p:cNvSpPr/>
          <p:nvPr/>
        </p:nvSpPr>
        <p:spPr>
          <a:xfrm>
            <a:off x="1417320" y="381304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2476" y="3918204"/>
            <a:ext cx="210312" cy="210312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011680" y="373623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011680" y="4065422"/>
            <a:ext cx="6763715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9049715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049715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860102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9860102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0670489" y="3899916"/>
            <a:ext cx="7348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0670489" y="3899916"/>
            <a:ext cx="7348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48640" y="4548226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86384" y="4548226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3" name="Shape 38"/>
          <p:cNvSpPr/>
          <p:nvPr/>
        </p:nvSpPr>
        <p:spPr>
          <a:xfrm>
            <a:off x="1417320" y="473476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2476" y="4839919"/>
            <a:ext cx="210312" cy="21031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2011680" y="465795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2011680" y="4987138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9467164" y="4821631"/>
            <a:ext cx="58521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467164" y="4821631"/>
            <a:ext cx="5852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10125532" y="482163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0125532" y="482163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0668076" y="4821631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0668076" y="4821631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548640" y="5469941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786384" y="5469941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55" name="Shape 49"/>
          <p:cNvSpPr/>
          <p:nvPr/>
        </p:nvSpPr>
        <p:spPr>
          <a:xfrm>
            <a:off x="1417320" y="565647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2476" y="5761634"/>
            <a:ext cx="210312" cy="210312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011680" y="5579669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2011680" y="5908853"/>
            <a:ext cx="674923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9035237" y="5743346"/>
            <a:ext cx="66967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035237" y="5743346"/>
            <a:ext cx="6696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950" dirty="0"/>
          </a:p>
        </p:txBody>
      </p:sp>
      <p:sp>
        <p:nvSpPr>
          <p:cNvPr id="61" name="Shape 54"/>
          <p:cNvSpPr/>
          <p:nvPr/>
        </p:nvSpPr>
        <p:spPr>
          <a:xfrm>
            <a:off x="9778060" y="5743346"/>
            <a:ext cx="7010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778060" y="5743346"/>
            <a:ext cx="70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10552252" y="5743346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10552252" y="5743346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95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6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조회 개선으로 대시보드 로딩 2분 → 10초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DB에 연결하자 대시보드 9개 화면의 로딩에 2분이 걸렸습니다. 조회 API가 업무·활동·팀원마다 UserRepository.findById를 반복 호출해, DB 왕복이 레코드 수만큼 늘어난 것이 원인이었습니다.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필요한 값은 담당자 이름뿐이라 연관관계 매핑을 새로 추가할 필요는 없다고 보았습니다. 조회할 id를 먼저 모아 한 번에 가져오면 기존 도메인 구조를 바꾸지 않고 왕복 횟수만 줄일 수 있다고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업무·활동·팀원에서 필요한 user id를 Set으로 모아 findAllById 한 번으로 조회하고, 같은 방식을 조회 메서드 5곳에 적용했습니다. 읽기 메서드에는 @Transactional(readOnly = true)를 붙였습니다.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9개 화면의 로딩 시간이 2분에서 10초로 줄었습니다. 업무 140여 건 기준으로 업무 목록에서 약 140회 나가던 사용자 조회는 API당 1회로 고정됩니다.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476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47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678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78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23340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3340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177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17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206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이상치 탐지에서, 팀원이 5~9명일 때 과부하가 분명한 팀원을 이상치로 잡지 못하는 사례가 있었습니다.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02864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249168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Isolation Forest는 표본이 적으면 트리 분할이 불안정해집니다. 팀 규모는 바꿀 수 없으므로 표본 수에 맞는 방식이 필요하다고 보고, 소표본에서 안정적인 MAD 기반 Modified Z-score를 검토했습니다(임계값 3.5는 Iglewicz &amp; Hoaglin 권장치).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수가 15명 미만이면 MAD 기반으로 전환하도록 분기했습니다. MAD가 0이면 표준편차로 대체하고, 표준편차도 0인 피처는 구분에 쓸 수 없어 판단에서 제외했습니다.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08761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8761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4234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4234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03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두 대(지연 위험도·업무 편중)의 호출 실패를 같은 방식으로 처리하면, 한쪽은 화면 표시가 불필요하게 실패하고 다른 쪽은 잘못된 값을 보여주게 됩니다.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모델은 저장 방식이 다릅니다. 지연 위험도는 ml_predictions에 이력이 남아 이전 값을 쓸 수 있고, 업무 편중은 호출 시점마다 계산하는 값이라 캐시가 없습니다. 그래서 실패 처리도 저장 방식에 맞춰 나누기로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위험도는 예외를 처리하고 마지막으로 저장된 예측을 응답하도록, 업무 편중은 503 WORKLOAD_SCORE_UNAVAILABLE을 반환하도록 나눴습니다. 연결 3초·읽기 30초 타임아웃도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965692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5692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802368" y="5715000"/>
            <a:ext cx="7609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02368" y="5715000"/>
            <a:ext cx="76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04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231392"/>
          </a:xfrm>
          <a:prstGeom prst="roundRect">
            <a:avLst>
              <a:gd name="adj" fmla="val 1039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415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41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444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완료일과 경과일이 사용자의 브라우저 타임존에 따라 하루씩 다르게 표시됐습니다.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50464"/>
            <a:ext cx="7086600" cy="1688592"/>
          </a:xfrm>
          <a:prstGeom prst="roundRect">
            <a:avLst>
              <a:gd name="adj" fmla="val 758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96768"/>
            <a:ext cx="58521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JVM은 Asia/Seoul로 고정돼 있지만 LocalDateTime 문자열에는 오프셋이 없어, 브라우저가 로컬 타임존으로 해석한 것이 원인이었습니다. 응답 포맷을 바꾸면 다른 담당자의 API에도 영향이 있어 프론트엔드의 파싱 단계에서 보정하기로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오프셋이 없는 문자열에 +09:00을 붙여 파싱하고, "3일 이상 미업데이트" 같은 임계값 판정용(경과 시간 기준)과 화면 라벨용(날짜 경계 기준)을 별도 함수로 나눴습니다.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36040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6040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05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Boot에서 내부 ML 서버(FastAPI)로 보낸 요청이 응답을 받지 못하고 실패했습니다.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764792"/>
          </a:xfrm>
          <a:prstGeom prst="roundRect">
            <a:avLst>
              <a:gd name="adj" fmla="val 7254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JDK HttpClient가 plaintext(http://) 대상에도 기본적으로 HTTP/2(h2c) 업그레이드를 시도하는데, uvicorn이 이를 지원하지 않는 것이 원인이었습니다. 서버를 바꾸는 것보다 클라이언트에서 프로토콜을 지정하는 편이 영향 범위가 작다고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56048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812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812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841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102352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HttpClient에 HTTP_1_1을 지정하고, 응답을 무한정 기다리지 않도록 연결 3초·읽기 30초 타임아웃을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924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92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94572" y="5715000"/>
            <a:ext cx="7254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94572" y="5715000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93148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3148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106781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1067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2026.07.03 ~ 07.07 (5일)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데이터 구축 · 모델 · 앱 구현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112331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11233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446909" y="3844544"/>
            <a:ext cx="78308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446909" y="3844544"/>
            <a:ext cx="7830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303143" y="3844544"/>
            <a:ext cx="14587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03143" y="3844544"/>
            <a:ext cx="14587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SentenceTransformer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35017" y="3844544"/>
            <a:ext cx="107505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35017" y="3844544"/>
            <a:ext cx="1075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416458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416458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091184" y="416458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91184" y="416458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1981200" y="4164584"/>
            <a:ext cx="117640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981200" y="4164584"/>
            <a:ext cx="117640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DuckDuckGo API</a:t>
            </a:r>
            <a:endParaRPr lang="ko-KR" altLang="en-US" sz="95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48640"/>
            <a:ext cx="2843288" cy="3378625"/>
          </a:xfrm>
          <a:prstGeom prst="rect">
            <a:avLst/>
          </a:prstGeom>
        </p:spPr>
      </p:pic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6968" y="548640"/>
            <a:ext cx="2216088" cy="337862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0" y="4000417"/>
            <a:ext cx="320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대표 이미지 — 페르메이르, 회화의 기술</a:t>
            </a:r>
            <a:endParaRPr lang="ko-KR" alt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426968" y="4000417"/>
            <a:ext cx="2216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도슨트 해설 컨셉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42,500</a:t>
            </a:r>
            <a:endParaRPr lang="ko-KR" alt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특징 벡터</a:t>
            </a:r>
            <a:endParaRPr lang="ko-KR" alt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6,299</a:t>
            </a:r>
            <a:endParaRPr lang="ko-KR" altLang="en-US" sz="2600" dirty="0"/>
          </a:p>
        </p:txBody>
      </p:sp>
      <p:sp>
        <p:nvSpPr>
          <p:cNvPr id="40" name="Text 33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문서</a:t>
            </a:r>
            <a:endParaRPr lang="ko-KR" alt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43" name="Text 36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 사조</a:t>
            </a:r>
            <a:endParaRPr lang="ko-KR" alt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ko-KR" altLang="en-US" sz="2600" dirty="0"/>
          </a:p>
        </p:txBody>
      </p:sp>
      <p:sp>
        <p:nvSpPr>
          <p:cNvPr id="46" name="Text 39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차원</a:t>
            </a:r>
            <a:endParaRPr lang="ko-KR" alt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0" name="Text 42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분류 모델을 특징 추출기로 재활용하고, 검색 결과를 ML 추천과 LLM 해설에 연결했습니다. 한 사용자 흐름 안에서 ML·DL·LLM을 함께 사용합니다.</a:t>
            </a:r>
            <a:endParaRPr lang="ko-KR" altLang="en-US" sz="1150" dirty="0"/>
          </a:p>
        </p:txBody>
      </p:sp>
      <p:sp>
        <p:nvSpPr>
          <p:cNvPr id="51" name="Text 4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 · ML + DL + LLM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파이프라인과 구현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780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10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키워드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ko-KR" alt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40" y="203911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3336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252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682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0651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centroid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90651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· 대표 벡터</a:t>
            </a:r>
            <a:endParaRPr lang="ko-KR" alt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760" y="203911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11808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86724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154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9123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19123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Top-K</a:t>
            </a:r>
            <a:endParaRPr lang="ko-KR" altLang="en-US" sz="10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8480" y="203911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0280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815196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626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7595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747595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소장품 근거 검색</a:t>
            </a:r>
            <a:endParaRPr lang="ko-KR" altLang="en-US" sz="10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3199" y="2039112"/>
            <a:ext cx="219456" cy="219456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687519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1043668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50987" y="1796796"/>
            <a:ext cx="228600" cy="22860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0671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Gemma</a:t>
            </a:r>
            <a:endParaRPr lang="ko-KR" alt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60671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도슨트 해설</a:t>
            </a:r>
            <a:endParaRPr lang="ko-KR" alt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548640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768096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964" y="3360420"/>
            <a:ext cx="173736" cy="17373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1261872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분위기 기반 추천 (ML)</a:t>
            </a:r>
            <a:endParaRPr lang="ko-KR" alt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감성 키워드를 미술 사조에 매핑하고, 사조별 벡터 centroid를 query로 코사인 유사도 Top-K 검색. 별도의 자연어 임베딩 학습 없이 추천 근거를 제시할 수 있음</a:t>
            </a:r>
            <a:endParaRPr lang="ko-KR" altLang="en-US" sz="1000" dirty="0"/>
          </a:p>
        </p:txBody>
      </p:sp>
      <p:sp>
        <p:nvSpPr>
          <p:cNvPr id="38" name="Shape 26"/>
          <p:cNvSpPr/>
          <p:nvPr/>
        </p:nvSpPr>
        <p:spPr>
          <a:xfrm>
            <a:off x="4307738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4527194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4062" y="3360420"/>
            <a:ext cx="173736" cy="17373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5020970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유사도 검색 (DL)</a:t>
            </a:r>
            <a:endParaRPr lang="ko-KR" altLang="en-US" sz="1300" dirty="0"/>
          </a:p>
        </p:txBody>
      </p:sp>
      <p:sp>
        <p:nvSpPr>
          <p:cNvPr id="42" name="Text 29"/>
          <p:cNvSpPr txBox="1"/>
          <p:nvPr/>
        </p:nvSpPr>
        <p:spPr>
          <a:xfrm>
            <a:off x="4527194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ViT-B/32로 업로드 이미지를 임베딩해 ChromaDB에서 시각적으로 가까운 작품을 조회. 기존 분류 모델을 '특징 추출기'로 재활용</a:t>
            </a:r>
            <a:endParaRPr lang="ko-KR" alt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8066837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8286293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73161" y="3360420"/>
            <a:ext cx="173736" cy="17373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780069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47" name="Text 33"/>
          <p:cNvSpPr txBox="1"/>
          <p:nvPr/>
        </p:nvSpPr>
        <p:spPr>
          <a:xfrm>
            <a:off x="8286293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국립현대미술관·서울시립미술관 소장품 메타데이터를 다국어 임베딩으로 인덱싱해 해설의 근거로 사용</a:t>
            </a:r>
            <a:endParaRPr lang="ko-KR" altLang="en-US" sz="1000" dirty="0"/>
          </a:p>
        </p:txBody>
      </p:sp>
      <p:sp>
        <p:nvSpPr>
          <p:cNvPr id="48" name="Shape 34"/>
          <p:cNvSpPr/>
          <p:nvPr/>
        </p:nvSpPr>
        <p:spPr>
          <a:xfrm>
            <a:off x="548640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>
            <a:off x="768096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4964" y="5056632"/>
            <a:ext cx="173736" cy="173736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261872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큐레이션</a:t>
            </a:r>
            <a:endParaRPr lang="ko-KR" altLang="en-US" sz="1300" dirty="0"/>
          </a:p>
        </p:txBody>
      </p:sp>
      <p:sp>
        <p:nvSpPr>
          <p:cNvPr id="52" name="Text 37"/>
          <p:cNvSpPr txBox="1"/>
          <p:nvPr/>
        </p:nvSpPr>
        <p:spPr>
          <a:xfrm>
            <a:off x="768096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Gemma가 RAG 근거 + 이미지 후보 + 외부 검색을 종합해 한국어 해설 생성. "근거가 부족하면 확인 불가라고 답하라"는 프롬프트로 근거 없는 답변을 줄이도록 구성</a:t>
            </a:r>
            <a:endParaRPr lang="ko-KR" altLang="en-US" sz="950" dirty="0"/>
          </a:p>
        </p:txBody>
      </p:sp>
      <p:sp>
        <p:nvSpPr>
          <p:cNvPr id="53" name="Shape 38"/>
          <p:cNvSpPr/>
          <p:nvPr/>
        </p:nvSpPr>
        <p:spPr>
          <a:xfrm>
            <a:off x="4307738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Shape 39"/>
          <p:cNvSpPr/>
          <p:nvPr/>
        </p:nvSpPr>
        <p:spPr>
          <a:xfrm>
            <a:off x="4527194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14062" y="5056632"/>
            <a:ext cx="173736" cy="173736"/>
          </a:xfrm>
          <a:prstGeom prst="rect">
            <a:avLst/>
          </a:prstGeom>
        </p:spPr>
      </p:pic>
      <p:sp>
        <p:nvSpPr>
          <p:cNvPr id="56" name="Text 40"/>
          <p:cNvSpPr txBox="1"/>
          <p:nvPr/>
        </p:nvSpPr>
        <p:spPr>
          <a:xfrm>
            <a:off x="5020970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설계</a:t>
            </a:r>
            <a:endParaRPr lang="ko-KR" altLang="en-US" sz="1300" dirty="0"/>
          </a:p>
        </p:txBody>
      </p:sp>
      <p:sp>
        <p:nvSpPr>
          <p:cNvPr id="57" name="Text 41"/>
          <p:cNvSpPr txBox="1"/>
          <p:nvPr/>
        </p:nvSpPr>
        <p:spPr>
          <a:xfrm>
            <a:off x="4527194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없으면 실행 안내 표시, LLM 실패 시 규칙 기반 fallback, 외부 검색은 API 실패 시 HTML 파싱으로 이중화</a:t>
            </a:r>
            <a:endParaRPr lang="ko-KR" altLang="en-US" sz="1000" dirty="0"/>
          </a:p>
        </p:txBody>
      </p:sp>
      <p:sp>
        <p:nvSpPr>
          <p:cNvPr id="58" name="Shape 42"/>
          <p:cNvSpPr/>
          <p:nvPr/>
        </p:nvSpPr>
        <p:spPr>
          <a:xfrm>
            <a:off x="8066837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3"/>
          <p:cNvSpPr txBox="1"/>
          <p:nvPr/>
        </p:nvSpPr>
        <p:spPr>
          <a:xfrm>
            <a:off x="8304581" y="4933188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구축한 벡터 인덱스</a:t>
            </a:r>
            <a:endParaRPr lang="ko-KR" altLang="en-US" sz="1250" dirty="0"/>
          </a:p>
        </p:txBody>
      </p:sp>
      <p:graphicFrame>
        <p:nvGraphicFramePr>
          <p:cNvPr id="60" name="Chart 0"/>
          <p:cNvGraphicFramePr/>
          <p:nvPr/>
        </p:nvGraphicFramePr>
        <p:xfrm>
          <a:off x="8158277" y="5253228"/>
          <a:ext cx="3347618" cy="8732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61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2026.06.25 ~ 07.03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· 전처리 · 모델 학습 · 튜닝 · 프로토타입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595624"/>
            <a:ext cx="134048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595624"/>
            <a:ext cx="134048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664079" y="3595624"/>
            <a:ext cx="79756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664079" y="3595624"/>
            <a:ext cx="79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534791" y="3595624"/>
            <a:ext cx="11739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34791" y="3595624"/>
            <a:ext cx="11739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781931" y="3595624"/>
            <a:ext cx="64312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81931" y="3595624"/>
            <a:ext cx="643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391566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391566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595501" y="391566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595501" y="391566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7273567" y="548640"/>
            <a:ext cx="3496722" cy="3529584"/>
          </a:xfrm>
          <a:prstGeom prst="roundRect">
            <a:avLst>
              <a:gd name="adj" fmla="val 2615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19871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6"/>
          <p:cNvSpPr/>
          <p:nvPr/>
        </p:nvSpPr>
        <p:spPr>
          <a:xfrm>
            <a:off x="7566175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7"/>
          <p:cNvSpPr/>
          <p:nvPr/>
        </p:nvSpPr>
        <p:spPr>
          <a:xfrm>
            <a:off x="7712479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3" name="Shape 28"/>
          <p:cNvSpPr/>
          <p:nvPr/>
        </p:nvSpPr>
        <p:spPr>
          <a:xfrm>
            <a:off x="7913647" y="608076"/>
            <a:ext cx="154838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913647" y="608076"/>
            <a:ext cx="1548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artClassifier</a:t>
            </a:r>
            <a:endParaRPr lang="ko-KR" altLang="en-US" sz="8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571" y="822960"/>
            <a:ext cx="3432714" cy="32232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273567" y="4151376"/>
            <a:ext cx="3496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예측 화면 — 사조별 확률 출력</a:t>
            </a:r>
            <a:endParaRPr lang="ko-KR" alt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94.5%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ko-KR" altLang="en-US" sz="2600" dirty="0"/>
          </a:p>
        </p:txBody>
      </p:sp>
      <p:sp>
        <p:nvSpPr>
          <p:cNvPr id="45" name="Text 39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실험</a:t>
            </a:r>
            <a:endParaRPr lang="ko-KR" alt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84.8%</a:t>
            </a:r>
            <a:endParaRPr lang="ko-KR" altLang="en-US" sz="2600" dirty="0"/>
          </a:p>
        </p:txBody>
      </p:sp>
      <p:sp>
        <p:nvSpPr>
          <p:cNvPr id="48" name="Text 42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미술관 아카이브 분류, 작품 검색, 유사 작품 추천에 활용할 수 있는 모델입니다. 이후 Curatio에서 특징 추출기로 재사용했습니다.</a:t>
            </a:r>
            <a:endParaRPr lang="ko-KR" altLang="en-US" sz="1150" dirty="0"/>
          </a:p>
        </p:txBody>
      </p:sp>
      <p:sp>
        <p:nvSpPr>
          <p:cNvPr id="53" name="Text 4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 · 모델 비교 ·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1,000장을 224×224 RGB로 정규화하고 train 800 / validation 200으로 8:2 분할. TensorFlow Dataset으로 shuffle · batch · prefetch 파이프라인 구성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증강 기법 선정 기준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사조를 판단하는 단서(색감·질감·구도)를 훼손하지 않는 범위로 제한 — Flip, Rotation 0.06, Zoom 0.12, Translation 0.05, Contrast 0.12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3종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CNN(scratch) · EfficientNetB0 · ResNet50을 MLflow로 총 8개 trial 기록. validation loss 최소화와 accuracy 최대화를 동시에 기준으로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검증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선정 후 테스트 200장 기준 Accuracy 0.9450 / weighted F1 0.9446. 5-fold 교차검증으로 일반화 성능(평균 0.8480)을 별도 확인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Analysis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Nouveau의 장식적 곡선이 Japanese Art·Western Medieval과 겹치고, Baroque의 어두운 톤이 Realism과 혼동되는 패턴을 확인. 클래스별 데이터 확충과 Grad-CAM 분석을 개선안으로 제시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프로토타입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업로드하면 예측 사조와 클래스별 확률 그래프를 보여주는 앱으로 배포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결과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비교와 최종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459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Validation Accuracy</a:t>
            </a:r>
            <a:endParaRPr lang="ko-KR" altLang="en-US" sz="12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40080" y="1965960"/>
          <a:ext cx="3383280" cy="16596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963924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41468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교차검증 Accuracy</a:t>
            </a:r>
            <a:endParaRPr lang="ko-KR" altLang="en-US" sz="125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640080" y="4466844"/>
          <a:ext cx="3383280" cy="16596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Shape 6"/>
          <p:cNvSpPr/>
          <p:nvPr/>
        </p:nvSpPr>
        <p:spPr>
          <a:xfrm>
            <a:off x="4379976" y="1463040"/>
            <a:ext cx="4343400" cy="4800600"/>
          </a:xfrm>
          <a:prstGeom prst="roundRect">
            <a:avLst>
              <a:gd name="adj" fmla="val 294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4592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ResNet-50 혼동행렬 (테스트 200장)</a:t>
            </a:r>
            <a:endParaRPr lang="ko-KR" alt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2856" y="2066544"/>
          <a:ext cx="3977640" cy="914400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/ 예측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45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62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5B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9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617720" y="566013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= 실제 사조, 가로 = 예측 사조 · 대각선 189 / 전체 200건 정답 (94.5%)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942832" y="1463040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252338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80576" y="1645920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0.9450</a:t>
            </a:r>
            <a:endParaRPr lang="ko-KR" alt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9180576" y="2212848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Accuracy</a:t>
            </a:r>
            <a:endParaRPr lang="ko-KR" alt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180576" y="2468880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200장 기준</a:t>
            </a:r>
            <a:endParaRPr lang="ko-KR" alt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8942832" y="3130296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180576" y="331317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0.9446</a:t>
            </a:r>
            <a:endParaRPr lang="ko-KR" alt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9180576" y="3880104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180576" y="4136136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클래스별 표본 수 가중 평균</a:t>
            </a:r>
            <a:endParaRPr lang="ko-KR" alt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42832" y="4797552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180576" y="4980432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0.8480</a:t>
            </a:r>
            <a:endParaRPr lang="ko-KR" altLang="en-US" sz="28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4736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180576" y="5803392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 성능 별도 확인</a:t>
            </a:r>
            <a:endParaRPr lang="ko-KR" altLang="en-US" sz="1000" dirty="0"/>
          </a:p>
        </p:txBody>
      </p:sp>
      <p:sp>
        <p:nvSpPr>
          <p:cNvPr id="12" name="Text 21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곡선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학습 곡선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776" y="1591056"/>
            <a:ext cx="49244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trial별 train / validation Loss · Accuracy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MLflow로 기록한 8개 trial 중 3개의 epoch별 train / validation Loss · Accuracy 곡선입니다.</a:t>
            </a:r>
            <a:endParaRPr lang="ko-KR" alt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12280" y="28582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800858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07_resnet_dense128_dropout03</a:t>
            </a:r>
            <a:endParaRPr lang="ko-KR" alt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025458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Dense 128 · Dropout 0.3. train과 validation 곡선이 비슷한 간격을 유지하며 함께 개선됨</a:t>
            </a:r>
            <a:endParaRPr lang="ko-KR" alt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12280" y="363420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576765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08_resnet_unfreeze20_dense256</a:t>
            </a:r>
            <a:endParaRPr lang="ko-KR" alt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801364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unfreeze 20 · Dense 256. 7 epoch 이후 train loss는 계속 줄지만 validation loss는 더 줄지 않음</a:t>
            </a:r>
            <a:endParaRPr lang="ko-KR" alt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812280" y="44101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352671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04_efficientnet_dense128</a:t>
            </a:r>
            <a:endParaRPr lang="ko-KR" alt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577271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 · Dense 128. 5~6 epoch 이후 validation accuracy가 거의 오르지 않음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803136" y="5383149"/>
            <a:ext cx="4583887" cy="661035"/>
          </a:xfrm>
          <a:prstGeom prst="roundRect">
            <a:avLst>
              <a:gd name="adj" fmla="val 13833"/>
            </a:avLst>
          </a:prstGeom>
          <a:solidFill>
            <a:srgbClr val="222134"/>
          </a:solidFill>
          <a:ln w="9525">
            <a:solidFill>
              <a:srgbClr val="473E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67728" y="5383149"/>
            <a:ext cx="4254703" cy="661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모델은 validation loss 최소화와 accuracy 최대화를 함께 기준으로 삼아 ResNet50으로 선정했습니다.</a:t>
            </a:r>
            <a:endParaRPr lang="ko-KR" alt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데이터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626" y="1591056"/>
            <a:ext cx="41167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샘플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71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3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이미지 1,000장을 224×224 RGB로 정규화하고 train 800 / validation 200으로 8:2 분할했습니다.</a:t>
            </a:r>
            <a:endParaRPr lang="ko-KR" alt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12280" y="31884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3113913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대상 사조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372803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 · Baroque · Japanese Art · Realism · Western Medieval</a:t>
            </a:r>
            <a:endParaRPr lang="ko-KR" alt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12280" y="407235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997770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파이프라인</a:t>
            </a:r>
            <a:endParaRPr lang="ko-KR" alt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4256659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Dataset으로 shuffle · batch · prefetch 구성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12280" y="49562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881626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증강</a:t>
            </a:r>
            <a:endParaRPr lang="ko-KR" alt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5140516"/>
            <a:ext cx="4382719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Flip, Rotation 0.06, Zoom 0.12, Translation 0.05, Contrast 0.12. 사조를 판단하는 단서(색감 · 질감 · 구도)를 훼손하지 않는 범위로 제한</a:t>
            </a:r>
            <a:endParaRPr lang="ko-KR" alt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게이머의 행동·수면·정서 데이터로 사회적 고립 수준을 예측하는 회귀 모델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2026.06.22 ~ 06.25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전처리 · 모델 비교 · 평가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61417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6141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937766" y="384454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37766" y="384454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984627" y="3844544"/>
            <a:ext cx="72034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4627" y="3844544"/>
            <a:ext cx="720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778123" y="3844544"/>
            <a:ext cx="8651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78123" y="3844544"/>
            <a:ext cx="8651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matplotlib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716399" y="384454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16399" y="384454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3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638544" y="7315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R² (높을수록 좋음)</a:t>
            </a:r>
            <a:endParaRPr lang="ko-KR" altLang="en-US" sz="12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6492240" y="1051560"/>
          <a:ext cx="5013655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0" name="Shape 24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ko-KR" altLang="en-US" sz="2600" dirty="0"/>
          </a:p>
        </p:txBody>
      </p:sp>
      <p:sp>
        <p:nvSpPr>
          <p:cNvPr id="32" name="Text 26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(최고)</a:t>
            </a:r>
            <a:endParaRPr lang="ko-KR" alt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0.961</a:t>
            </a:r>
            <a:endParaRPr lang="ko-KR" altLang="en-US" sz="2600" dirty="0"/>
          </a:p>
        </p:txBody>
      </p:sp>
      <p:sp>
        <p:nvSpPr>
          <p:cNvPr id="35" name="Text 29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</a:t>
            </a:r>
            <a:endParaRPr lang="ko-KR" alt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ko-KR" altLang="en-US" sz="2600" dirty="0"/>
          </a:p>
        </p:txBody>
      </p:sp>
      <p:sp>
        <p:nvSpPr>
          <p:cNvPr id="38" name="Text 32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</a:t>
            </a:r>
            <a:endParaRPr lang="ko-KR" alt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41" name="Text 35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모델</a:t>
            </a:r>
            <a:endParaRPr lang="ko-KR" alt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5" name="Text 38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이용 패턴 데이터로 사회적 고립 수준을 예측하는 회귀 모델입니다. 데이터 확인부터 모델 평가까지 개인 프로젝트로 진행했습니다.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 · 분석 과정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과정과 모델 비교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 설계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게임 시간, 수면 시간·질, 학업/업무 성과, 기분 변화, 금단 증상, 대면 사회활동 시간 등 26개 변수로 사회적 고립도(1~10)를 예측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941064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6052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567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27448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범주형(gender, headset_usage)과 연속형 변수를 분리해 인코딩·스케일링 경로를 다르게 구성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35024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모델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8096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다중선형회귀 · Elastic Net · 결정트리 · 랜덤포레스트 · XGBoost를 동일 조건에서 학습하고 RMSE · MAE · R²로 비교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941064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16052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5676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727448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최적 모델 비교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160520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기준으로는 다중선형회귀(0.8011), MAE 기준으로는 랜덤포레스트(0.7615)가 가장 높았습니다. 두 결과를 모두 기록하고 어떤 지표를 기준으로 선택했는지 명시했습니다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351776" y="1463040"/>
            <a:ext cx="4291279" cy="4800600"/>
          </a:xfrm>
          <a:prstGeom prst="roundRect">
            <a:avLst>
              <a:gd name="adj" fmla="val 298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89520" y="164592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RMSE (낮을수록 좋음)</a:t>
            </a:r>
            <a:endParaRPr lang="ko-KR" altLang="en-US" sz="125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7443216" y="1965960"/>
          <a:ext cx="4062679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102B2C"/>
          </a:solidFill>
          <a:ln w="9525">
            <a:solidFill>
              <a:srgbClr val="1A65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3건입니다. 서버 렌더링(JSP) → 프론트/백엔드 분리(React + Express) → Spring Boot 순으로 구성이 바뀌었고, 세 프로젝트 모두 화면과 서버를 함께 담당했습니다.</a:t>
            </a:r>
            <a:endParaRPr lang="ko-KR" alt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~ 2026.06 · 프로젝트 3건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538728"/>
            <a:ext cx="3332378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09879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098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632839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632839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31993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538728"/>
            <a:ext cx="3332378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539386" y="4873752"/>
            <a:ext cx="978281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39386" y="4873752"/>
            <a:ext cx="9782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57253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57253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3938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3938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091221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0949" y="3538728"/>
            <a:ext cx="3332378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310677" y="4873752"/>
            <a:ext cx="410464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310677" y="4873752"/>
            <a:ext cx="410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8776005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776005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8310677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10677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877189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87718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498981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98981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2026.04.24 ~ 06.15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CMYK팀 · 5인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도메인 · 상품 검색 · 메인 페이지 · 최종 발표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4076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60476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54076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tooltip="https://github.com/alphaengneering02-dev/3H_Furnitur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540760"/>
            <a:ext cx="115976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8592" y="360476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540760"/>
            <a:ext cx="79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tooltip="https://cheerful-gecko-a85d13.netlify.ap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배포 사이트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396138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396138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24966" y="3961384"/>
            <a:ext cx="93027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24966" y="3961384"/>
            <a:ext cx="93027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128393" y="3961384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128393" y="3961384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382772" y="3961384"/>
            <a:ext cx="11981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382772" y="3961384"/>
            <a:ext cx="11981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654042" y="3961384"/>
            <a:ext cx="65760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654042" y="3961384"/>
            <a:ext cx="6576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5384800" y="396138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384800" y="396138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42814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48640" y="42814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91184" y="4281424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91184" y="4281424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9" name="Shape 32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40" name="Shape 33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1" name="Shape 34"/>
          <p:cNvSpPr/>
          <p:nvPr/>
        </p:nvSpPr>
        <p:spPr>
          <a:xfrm>
            <a:off x="7040880" y="608076"/>
            <a:ext cx="113792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040880" y="608076"/>
            <a:ext cx="1137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cmyk-furniture · /</a:t>
            </a:r>
            <a:endParaRPr lang="ko-KR" altLang="en-US" sz="80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6" name="Text 38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ko-KR" alt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ko-KR" altLang="en-US" sz="2600" dirty="0"/>
          </a:p>
        </p:txBody>
      </p:sp>
      <p:sp>
        <p:nvSpPr>
          <p:cNvPr id="49" name="Text 41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재개 기능</a:t>
            </a:r>
            <a:endParaRPr lang="ko-KR" alt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ko-KR" altLang="en-US" sz="2600" dirty="0"/>
          </a:p>
        </p:txBody>
      </p:sp>
      <p:sp>
        <p:nvSpPr>
          <p:cNvPr id="52" name="Text 44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6" name="Text 47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가입 · 로그인, 상품 검색, 메인 페이지를 API부터 화면까지 맡았습니다. 장바구니 · 마이페이지 · 관리자 기능이 모두 로그인한 사용자의 권한 정보를 사용합니다.</a:t>
            </a:r>
            <a:endParaRPr lang="ko-KR" altLang="en-US" sz="1150" dirty="0"/>
          </a:p>
        </p:txBody>
      </p:sp>
      <p:sp>
        <p:nvSpPr>
          <p:cNvPr id="57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· 상품 검색 · 메인 페이지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 로그인 연동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로그인을 React와 연동. 로그인 성공 · 실패 · 미인증을 JSON으로 응답하는 핸들러를 구현하고, 관리자 테이블 → 일반 회원 테이블 순으로 조회해 하나의 로그인 화면에서 두 역할을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· 네이버 · 카카오 계정으로 가입. 이메일 기준으로 신규 가입 또는 정보 갱신을 처리하고, 소셜 계정을 일반 회원과 동일한 권한 체계에 통합해 구매 · 장바구니 · 북마크를 그대로 사용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API · 계정 찾기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회원가입(아이디 · 이메일 · 전화번호 중복 검사, BCrypt 암호화), 조회 · 수정 · 탈퇴, 아이디 찾기, 비밀번호 재설정. 검증 실패를 필드명과 메시지 JSON으로 반환해 화면의 해당 입력칸에 표시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통합 검색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검색어와 카테고리 · 색상 · 가격대 필터를 함께 적용하는 검색 API 구현. React Context로 검색 조건을 전역 관리하고 URL 쿼리스트링과 동기화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· 푸터, 메인 배너 자동 슬라이드, 화면 폭에 따라 4 · 3 · 2개를 노출하는 상품 목록 무한 슬라이드, 카테고리 섹션 구현. MainController · MainService로 상품 조회 API를 함께 담당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북마크(찜)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엔티티 · Repository · Service · DTO를 작성해 관심 상품 저장/조회 기능의 바탕을 구현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구성과 담당 코드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요청을 React 화면에서 받아 Spring Boot API가 처리하고, Oracle Cloud DB와 외부 서비스(OAuth2 · Toss)를 연동합니다.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833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7698" y="21168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라우팅 · API 요청</a:t>
            </a:r>
            <a:endParaRPr lang="ko-KR" alt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0220" y="23820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045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392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598" y="211683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6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4776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Security · 세션</a:t>
            </a:r>
            <a:endParaRPr lang="ko-KR" alt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38201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04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2951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9498" y="211683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335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DB</a:t>
            </a:r>
            <a:endParaRPr lang="ko-KR" alt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3335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테이블 · 128개 컬럼</a:t>
            </a:r>
            <a:endParaRPr lang="ko-KR" alt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019" y="2382012"/>
            <a:ext cx="219456" cy="21945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16339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0151097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2116836"/>
            <a:ext cx="228600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189491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· Toss</a:t>
            </a:r>
            <a:endParaRPr lang="ko-KR" alt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9189491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· 결제</a:t>
            </a:r>
            <a:endParaRPr lang="ko-KR" alt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48640" y="3438144"/>
            <a:ext cx="6309360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86384" y="362102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코드 — 최종 코드에 남은 줄 수</a:t>
            </a:r>
            <a:endParaRPr lang="ko-KR" altLang="en-US" sz="125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640080" y="3941064"/>
          <a:ext cx="6080760" cy="2185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1" name="Shape 21"/>
          <p:cNvSpPr/>
          <p:nvPr/>
        </p:nvSpPr>
        <p:spPr>
          <a:xfrm>
            <a:off x="7077456" y="3438144"/>
            <a:ext cx="4565599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315200" y="362102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3" name="Shape 23"/>
          <p:cNvSpPr/>
          <p:nvPr/>
        </p:nvSpPr>
        <p:spPr>
          <a:xfrm>
            <a:off x="7315200" y="404164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7315200" y="404164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7937754" y="4041648"/>
            <a:ext cx="100317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937754" y="4041648"/>
            <a:ext cx="1003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9032367" y="4041648"/>
            <a:ext cx="128054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9032367" y="4041648"/>
            <a:ext cx="12805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7315200" y="4425696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315200" y="4425696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1" name="Shape 31"/>
          <p:cNvSpPr/>
          <p:nvPr/>
        </p:nvSpPr>
        <p:spPr>
          <a:xfrm>
            <a:off x="8705850" y="4425696"/>
            <a:ext cx="159258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8705850" y="4425696"/>
            <a:ext cx="15925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</a:t>
            </a:r>
            <a:endParaRPr lang="ko-KR" altLang="en-US" sz="1050" dirty="0"/>
          </a:p>
        </p:txBody>
      </p:sp>
      <p:sp>
        <p:nvSpPr>
          <p:cNvPr id="43" name="Shape 33"/>
          <p:cNvSpPr/>
          <p:nvPr/>
        </p:nvSpPr>
        <p:spPr>
          <a:xfrm>
            <a:off x="10389870" y="4425696"/>
            <a:ext cx="70180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10389870" y="4425696"/>
            <a:ext cx="7018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7315200" y="4809744"/>
            <a:ext cx="60045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315200" y="4809744"/>
            <a:ext cx="600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050" dirty="0"/>
          </a:p>
        </p:txBody>
      </p:sp>
      <p:sp>
        <p:nvSpPr>
          <p:cNvPr id="47" name="Shape 37"/>
          <p:cNvSpPr/>
          <p:nvPr/>
        </p:nvSpPr>
        <p:spPr>
          <a:xfrm>
            <a:off x="8007096" y="4809744"/>
            <a:ext cx="114185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8007096" y="4809744"/>
            <a:ext cx="114185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Context</a:t>
            </a:r>
            <a:endParaRPr lang="ko-KR" altLang="en-US" sz="1050" dirty="0"/>
          </a:p>
        </p:txBody>
      </p:sp>
      <p:sp>
        <p:nvSpPr>
          <p:cNvPr id="49" name="Shape 39"/>
          <p:cNvSpPr/>
          <p:nvPr/>
        </p:nvSpPr>
        <p:spPr>
          <a:xfrm>
            <a:off x="9240393" y="4809744"/>
            <a:ext cx="124053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9240393" y="4809744"/>
            <a:ext cx="1240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react-hook-form</a:t>
            </a:r>
            <a:endParaRPr lang="ko-KR" alt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10572369" y="4809744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10572369" y="4809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1050" dirty="0"/>
          </a:p>
        </p:txBody>
      </p:sp>
      <p:sp>
        <p:nvSpPr>
          <p:cNvPr id="53" name="Shape 43"/>
          <p:cNvSpPr/>
          <p:nvPr/>
        </p:nvSpPr>
        <p:spPr>
          <a:xfrm>
            <a:off x="7315200" y="5193792"/>
            <a:ext cx="134988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7315200" y="5193792"/>
            <a:ext cx="1349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 · Bootstrap</a:t>
            </a:r>
            <a:endParaRPr lang="ko-KR" alt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8756523" y="5193792"/>
            <a:ext cx="136855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8756523" y="5193792"/>
            <a:ext cx="1368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1050" dirty="0"/>
          </a:p>
        </p:txBody>
      </p:sp>
      <p:sp>
        <p:nvSpPr>
          <p:cNvPr id="57" name="Text 4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서비스 흐름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흐름과 DB 구조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탐색부터 후기 관리까지 이어지는 쇼핑몰 흐름입니다. 직접 배송·설치 기사를 배정하는 단계가 일반 쇼핑몰과 다른 점입니다.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6282E"/>
          </a:solidFill>
          <a:ln w="9525">
            <a:solidFill>
              <a:srgbClr val="1F6B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783080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상품 탐색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783080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· 통합 검색 · 필터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2044598"/>
            <a:ext cx="469392" cy="256032"/>
          </a:xfrm>
          <a:prstGeom prst="roundRect">
            <a:avLst>
              <a:gd name="adj" fmla="val 50000"/>
            </a:avLst>
          </a:prstGeom>
          <a:solidFill>
            <a:srgbClr val="183B3E"/>
          </a:solidFill>
          <a:ln w="9525">
            <a:solidFill>
              <a:srgbClr val="2075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2044598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ko-KR" alt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708453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708453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구매 선택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08453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· 바로 결제</a:t>
            </a:r>
            <a:endParaRPr lang="ko-KR" alt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33826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633826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결제 처리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633826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연동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59198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559198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배송 · 설치</a:t>
            </a:r>
            <a:endParaRPr lang="ko-KR" alt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559198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배송 관리 · 설치 기사 배정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84571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5484571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후기 관리</a:t>
            </a:r>
            <a:endParaRPr lang="ko-KR" alt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5484571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작성 · 수정 · 삭제</a:t>
            </a:r>
            <a:endParaRPr lang="ko-KR" alt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41464" y="1783080"/>
            <a:ext cx="450159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496" y="2039112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7708392" y="1993392"/>
            <a:ext cx="3678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구조 — 17개 테이블</a:t>
            </a:r>
            <a:endParaRPr lang="ko-KR" alt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97496" y="2514600"/>
            <a:ext cx="3989527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 도메인으로 나눴고, 회원/인증과 BOOKMARKS 테이블을 담당했습니다.</a:t>
            </a:r>
            <a:endParaRPr lang="ko-KR" alt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06640" y="3087529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598664" y="3047238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(담당)</a:t>
            </a:r>
            <a:endParaRPr lang="ko-KR" alt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598664" y="3237548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 · MEMBER_ADDRESS · ADMINS · SPRING_SESSION</a:t>
            </a:r>
            <a:endParaRPr lang="ko-KR" alt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7406640" y="3598958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98664" y="3558667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</a:t>
            </a:r>
            <a:endParaRPr lang="ko-KR" alt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598664" y="3748977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 · ITEM_IMG · BOOKMARKS(담당) · REVIEW · ARTICLE</a:t>
            </a:r>
            <a:endParaRPr lang="ko-KR" alt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406640" y="4110387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98664" y="4070096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ko-KR" alt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598664" y="4260406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CART · CART_ITEM · ORDERS · ORDER_ITEM · PAYMENT</a:t>
            </a:r>
            <a:endParaRPr lang="ko-KR" alt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406640" y="4621816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598664" y="4581525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배송/설치</a:t>
            </a:r>
            <a:endParaRPr lang="ko-KR" alt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598664" y="4771835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DELIVERY · 주문 배송상태 · 설치일/배송일</a:t>
            </a:r>
            <a:endParaRPr lang="ko-KR" alt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397496" y="5456809"/>
            <a:ext cx="3989527" cy="587375"/>
          </a:xfrm>
          <a:prstGeom prst="roundRect">
            <a:avLst>
              <a:gd name="adj" fmla="val 15568"/>
            </a:avLst>
          </a:prstGeom>
          <a:solidFill>
            <a:srgbClr val="16282E"/>
          </a:solidFill>
          <a:ln w="9525">
            <a:solidFill>
              <a:srgbClr val="1C585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62088" y="5456809"/>
            <a:ext cx="3660343" cy="5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JDBC로 세션을 SPRING_SESSION 테이블에 저장했습니다.</a:t>
            </a:r>
            <a:endParaRPr lang="ko-KR" alt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0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담당한 검색 · 로그인 · 회원가입 · 아이디 찾기 화면입니다. 최종 발표에서는 중간 발표 피드백을 반영해 1:1 상담창과 관리자 대시보드를 추가했고, 발표를 맡았습니다.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822960"/>
            <a:ext cx="2408834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필터 — 카테고리·색상·가격 슬라이더</a:t>
            </a:r>
            <a:endParaRPr lang="ko-KR" alt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630" y="822960"/>
            <a:ext cx="2408834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2217" y="822960"/>
            <a:ext cx="2408834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— OAuth2 소셜 로그인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749040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1044" y="3767328"/>
            <a:ext cx="2408834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459626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605930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5"/>
          <p:cNvSpPr/>
          <p:nvPr/>
        </p:nvSpPr>
        <p:spPr>
          <a:xfrm>
            <a:off x="6752234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6"/>
          <p:cNvSpPr/>
          <p:nvPr/>
        </p:nvSpPr>
        <p:spPr>
          <a:xfrm>
            <a:off x="6898538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1630" y="3767328"/>
            <a:ext cx="2408834" cy="208940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170213" y="3493008"/>
            <a:ext cx="2472842" cy="2395728"/>
          </a:xfrm>
          <a:prstGeom prst="roundRect">
            <a:avLst>
              <a:gd name="adj" fmla="val 458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7957" y="373075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718853" y="3694176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— 5명</a:t>
            </a:r>
            <a:endParaRPr lang="ko-KR" alt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9426245" y="413308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9645701" y="405993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endParaRPr lang="ko-KR" alt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9645701" y="4215384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· 메인 · 검색 · 북마크</a:t>
            </a:r>
            <a:endParaRPr lang="ko-KR" alt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9426245" y="4471416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9645701" y="439826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오현옥</a:t>
            </a:r>
            <a:endParaRPr lang="ko-KR" alt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9645701" y="4553712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목록 · 리뷰</a:t>
            </a:r>
            <a:endParaRPr lang="ko-KR" alt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9426245" y="4809744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9645701" y="4736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김태양</a:t>
            </a:r>
            <a:endParaRPr lang="ko-KR" alt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9645701" y="4892040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</a:t>
            </a:r>
            <a:endParaRPr lang="ko-KR" alt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9426245" y="5148072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9645701" y="50749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김인호</a:t>
            </a:r>
            <a:endParaRPr lang="ko-KR" alt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9645701" y="5230368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· 장바구니</a:t>
            </a:r>
            <a:endParaRPr lang="ko-KR" altLang="en-US" sz="850" dirty="0"/>
          </a:p>
        </p:txBody>
      </p:sp>
      <p:sp>
        <p:nvSpPr>
          <p:cNvPr id="50" name="Shape 42"/>
          <p:cNvSpPr/>
          <p:nvPr/>
        </p:nvSpPr>
        <p:spPr>
          <a:xfrm>
            <a:off x="9426245" y="5486400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9645701" y="5413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김승우</a:t>
            </a:r>
            <a:endParaRPr lang="ko-KR" alt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9645701" y="5568696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ko-KR" altLang="en-US" sz="850" dirty="0"/>
          </a:p>
        </p:txBody>
      </p:sp>
      <p:sp>
        <p:nvSpPr>
          <p:cNvPr id="53" name="Text 4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로그인 요청과 Spring Security 폼 로그인의 형식 충돌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1320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1320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349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되지 않아, 로그인한 사용자의 권한 정보가 필요한 팀 기능 4개(장바구니, 마이페이지, 관리자 대시보드, 관리자 상품관리)의 개발이 멈췄습니다. 로그인을 시도하면 화면에는 415 Unsupported Media Type, 서버에는 HttpMediaTypeNotSupportedException이 남았습니다.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331464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7947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976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477768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메시지를 직접 해석한 뒤 로그인 화면(Login.js), 회원 코드, SecurityConfig를 대조했습니다. React는 입력값을 JSON으로 보내는데 Spring Security 폼 로그인은 폼 파라미터만 읽고, 파라미터 이름도 서버 설정과 같아야 한다는 것이 원인이었습니다.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상황을 글로 정리해 팀 채팅방에 먼저 공유했습니다. 로그인 요청은 URLSearchParams로 폼 형식(x-www-form-urlencoded)으로 변환하고, 로그인 성공 · 실패 · 미인증 응답은 핸들러에서 JSON으로 돌려주도록 맞췄습니다.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 만에 로그인이 연동되어 멈춰 있던 팀 기능 4개의 개발이 재개됐습니다. 같은 구조 위에 관리자 로그인과 소셜 로그인 3종을 추가했습니다.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12308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1230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433052" y="5715000"/>
            <a:ext cx="5831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33052" y="5715000"/>
            <a:ext cx="58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08938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8938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형식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후 백엔드 서버 기동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코드를 병합한 뒤 백엔드 서버가 켜지지 않아, 팀 전체가 기능을 실행해 확인할 수 없었습니다.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ItemImgRepository에 파라미터 타입이 Long이 아닌 lombok.extern.java.Log로 잘못 지정된 조회 메서드가 있었고, 같은 역할의 메서드가 이미 따로 있는 중복 코드였습니다.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메서드를 주석 처리하고 원인을 주석으로 남겼으며, 사용하지 않는 import를 정리했습니다.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서버가 정상적으로 기동돼 팀원들이 다시 통합 테스트를 진행할 수 있었습니다.</a:t>
            </a:r>
            <a:endParaRPr lang="ko-KR" altLang="en-US" sz="18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124866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1248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12748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2748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65403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10654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8719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719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2026.03.16 ~ 04.03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PPAP팀 · 5인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tooltip="https://github.com/Polalise/Advanced_projec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0" name="Shape 1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1" name="Shape 1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Shape 16"/>
          <p:cNvSpPr/>
          <p:nvPr/>
        </p:nvSpPr>
        <p:spPr>
          <a:xfrm>
            <a:off x="7040880" y="608076"/>
            <a:ext cx="100584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040880" y="6080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ppap · 매물 상세</a:t>
            </a:r>
            <a:endParaRPr lang="ko-KR" altLang="en-US" sz="8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864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</a:t>
            </a:r>
            <a:endParaRPr lang="ko-KR" altLang="en-US" sz="26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방식</a:t>
            </a:r>
            <a:endParaRPr lang="ko-KR" alt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33756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338328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</a:t>
            </a:r>
            <a:endParaRPr lang="ko-KR" alt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회원과 사업자 회원을 구분하는 인증 · 회원 구조를 맡았습니다. 매물 등록과 상담 관리 권한이 이 구분에 따라 나뉩니다.</a:t>
            </a:r>
            <a:endParaRPr lang="ko-KR" alt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기반 로그인·인증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authMiddleware가 토큰이 없으면 비로그인 상태로 통과시키고 유효하지 않은 토큰에만 401을 반환해, 로그인 필수 기능과 공개 기능이 같은 미들웨어를 사용. 토큰은 응답 헤더로 발급하고 React 전역 컨텍스트로 인증 상태를 관리</a:t>
            </a:r>
            <a:endParaRPr lang="ko-KR" alt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3130296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3146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도메인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97224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정보 수정 · 탈퇴와 개별/전체 회원정보 조회 API 구현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797552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9872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/ 사업자 회원 구분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64480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유형에 따라 매물 등록·상담 관리 권한이 나뉘도록 회원 구분 기준을 설계하고 유형 선택 · 회원가입 화면을 구현. CSS 모듈로 화면 간 스타일 충돌을 방지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2207396"/>
            <a:ext cx="2419960" cy="21688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로그인·회원가입 화면 설계</a:t>
            </a:r>
            <a:endParaRPr lang="ko-KR" alt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040216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1656" y="2061442"/>
            <a:ext cx="2419960" cy="246079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40216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구조도</a:t>
            </a:r>
            <a:endParaRPr lang="ko-KR" alt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5522976"/>
            <a:ext cx="56591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217920" y="5522976"/>
            <a:ext cx="56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856984" y="5522976"/>
            <a:ext cx="993013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856984" y="5522976"/>
            <a:ext cx="9930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Router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923149" y="5522976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923149" y="5522976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8465693" y="5522976"/>
            <a:ext cx="1135380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465693" y="5522976"/>
            <a:ext cx="1135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API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674225" y="5522976"/>
            <a:ext cx="737235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674225" y="5522976"/>
            <a:ext cx="737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484612" y="5522976"/>
            <a:ext cx="674497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484612" y="5522976"/>
            <a:ext cx="6744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217920" y="5852160"/>
            <a:ext cx="691388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17920" y="5852160"/>
            <a:ext cx="6913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</a:t>
            </a:r>
            <a:endParaRPr lang="ko-KR" alt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982460" y="5852160"/>
            <a:ext cx="720344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82460" y="5852160"/>
            <a:ext cx="720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</a:t>
            </a:r>
            <a:endParaRPr lang="ko-KR" alt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7775956" y="5852160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775956" y="5852160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3078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3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52576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2576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2026.02.23 ~ 03.06 (약 2주)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무조건동의팀 · 5인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 관리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124966" y="35956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124966" y="35956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667510" y="359562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667510" y="359562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432050" y="359562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432050" y="359562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051810" y="3595624"/>
            <a:ext cx="81927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051810" y="3595624"/>
            <a:ext cx="81927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944239" y="3595624"/>
            <a:ext cx="16710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944239" y="3595624"/>
            <a:ext cx="16710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· CSS · JavaScript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9" name="Shape 2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0" name="Shape 2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Shape 26"/>
          <p:cNvSpPr/>
          <p:nvPr/>
        </p:nvSpPr>
        <p:spPr>
          <a:xfrm>
            <a:off x="7040880" y="608076"/>
            <a:ext cx="104648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608076"/>
            <a:ext cx="1046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nextto · /mypage</a:t>
            </a:r>
            <a:endParaRPr lang="ko-KR" altLang="en-US" sz="8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6" name="Text 30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MVC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종류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법률·의학·뉴스·상식 게시판과 자유게시판은 로그인 후 사용합니다. 회원 인증과 개인·반려견 정보 관리 기능을 맡았습니다.</a:t>
            </a:r>
            <a:endParaRPr lang="ko-KR" alt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HttpSession 기반 로그인과 입력값 검증, 아이디 중복 가입 방지를 포함한 가입 플로우. 회원정보와 반려견정보를 세션 객체로 전 페이지에서 공유하고, 일반 사용자 계정과 관리자 계정을 구분해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사진·닉네임·아이디를 묶은 사이드바와 연락처 영역, 등록한 반려견 정보 카드를 함께 배치. 홈 &gt; 마이페이지 &gt; 내 정보 관리 순의 브레드크럼으로 현재 위치를 표시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· 수정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화면과 수정 화면을 분리해 구현. 프로필 사진은 MultipartRequest로 등록 · 교체하고, 새 사진을 올리지 않고 수정하면 기존 사진이 사라지던 오류를 수정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정보 등록 · 수정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반려견 1마리의 이름·견종·나이·몸무게·성별·중성화 여부·건강 상태·사진을 등록하고 수정. 마이페이지에서는 태그 형태로 요약 표시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화면에서 탈퇴를 처리해 계정과 관련 정보를 정리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 · DAO 패턴과 테이블 설계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2(MVC) 구조에서 회원(MEMBER) · 반려견(PET) 테이블과 DTO · DAO · Servlet을 작성. 계정 종류 컬럼을 CHAR에서 VARCHAR로 바꿔 공백이 채워지던 문제를 해결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0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너의 곁에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내 정보 수정까지, 조회 화면과 수정 화면을 나눠 구현했습니다.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— 회원정보 조회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수정 — 비밀번호 재확인 · 사진 교체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312813"/>
          </a:solidFill>
          <a:ln w="9525">
            <a:solidFill>
              <a:srgbClr val="765C1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과정을 수강하기 전에 진행한 브랜드 웹사이트 리뉴얼 2건입니다. SWOT·페르소나 분석으로 문제를 정리하고 정보 구조(IA)를 다시 구성한 뒤, HTML·CSS·jQuery로 퍼블리싱했습니다.</a:t>
            </a:r>
            <a:endParaRPr lang="ko-KR" alt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 ~ 2025.08 · 개인 프로젝트 2건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538728"/>
            <a:ext cx="5218024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542161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42161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05576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304" y="3538728"/>
            <a:ext cx="5218024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25032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25032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7199097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199097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6425032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25032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2025.07.14 ~ 2025.08.04 (약 3주)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tooltip="https://plainaube.dothome.co.kr/hollys/index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tooltip="https://soeun-yu.github.io/assets/webdesign/HTML%20%EA%B8%B0%EB%B0%98_%ED%95%A0%EB%A6%AC%EC%8A%A4%EC%BB%A4%ED%94%BC%20%ED%99%88%ED%8E%98%EC%9D%B4%EC%A7%80%20%EB%A6%AC%EB%89%B4%EC%96%BC.pdf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89408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894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PowerPoint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515872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515872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405888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405888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421380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421380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118356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118356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38116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738116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hollys · renewal</a:t>
            </a:r>
            <a:endParaRPr lang="ko-KR" altLang="en-US" sz="8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SWOT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분석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브랜드 ‘할리스’의 홈페이지를 SWOT·페르소나 기법으로 분석했습니다. 메뉴와 매장 정보가 브랜드 색 없이 나열되어 있다는 점을 주요 문제로 정리했고, 브랜드 색과 서체를 화면 전반에 적용하면서 정보 구조와 동적 요소를 함께 수정했습니다.</a:t>
            </a:r>
            <a:endParaRPr lang="ko-KR" altLang="en-US" sz="11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정보 구조 · 인터랙션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기반 UI/UX 개편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색·타이포·여백 규칙을 다시 정했습니다. 전용 서체(카페24 단정해, 에스코어드림)를 적용해 화면 전체의 인상을 통일했습니다.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구조(IA) 재설계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메뉴·매장·브랜드로 흩어져 있던 항목을 사용자가 찾는 순서대로 다시 묶었습니다. 메뉴는 커피·음료·푸드·굿즈로 나누고, 매장은 지도와 목록을 한 화면에서 오갈 수 있게 했습니다.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인터랙션 적용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슬라이드, 메뉴 카테고리 탭, 매장찾기 지도 마커를 jQuery로 구현했습니다. 클릭 대상과 현재 상태가 항상 눈에 보이도록 활성 표시를 붙였습니다.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6432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44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맞춤형 기능 추가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상세 조건(드라이브스루·주차·24시간 등)으로 걸러 볼 수 있는 필터와, 관심 매장을 상단에 고정하는 흐름을 기획했습니다.</a:t>
            </a:r>
            <a:endParaRPr lang="ko-KR" alt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비주얼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메인 · 메뉴 · 매장찾기 3개 화면을 디자인하고 퍼블리싱했습니다.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822960"/>
            <a:ext cx="2408834" cy="50337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시즌 음료 슬라이드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630" y="822960"/>
            <a:ext cx="2408834" cy="50337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· 커피 — 카테고리 탭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2217" y="822960"/>
            <a:ext cx="2408834" cy="503377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매장찾기 — 지도 마커와 목록</a:t>
            </a:r>
            <a:endParaRPr lang="ko-KR" alt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10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2025.06.02 ~ 2025.06.16 (약 2주)</a:t>
            </a:r>
            <a:endParaRPr lang="ko-KR" altLang="en-US" sz="11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tooltip="https://plainaube.dothome.co.kr/ohouse/index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tooltip="https://soeun-yu.github.io/assets/webdesign/HTML%20%EA%B8%B0%EB%B0%98_%EC%98%A4%EB%8A%98%EC%9D%98%EC%A7%91%20%ED%99%88%ED%8E%98%EC%9D%B4%EC%A7%80%20%EB%A6%AC%EB%89%B4%EC%96%BC.pdf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87704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87704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077720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077720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093212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093212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790188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3790188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409948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09948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blurRad="177800" dist="508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ohouse · renewal</a:t>
            </a:r>
            <a:endParaRPr lang="ko-KR" altLang="en-US" sz="8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정보구조 재설계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플랫폼 ‘오늘의집’은 커뮤니티·쇼핑·전문가 서비스가 한 화면에 모여 있어, 처음 방문한 사용자가 무엇부터 봐야 할지 알기 어렵다고 보았습니다. SWOT으로 강점과 약점을 정리하고 페르소나의 사용 흐름을 따라가 본 뒤, 메인 화면의 정보 우선순위를 다시 정했습니다.</a:t>
            </a:r>
            <a:endParaRPr lang="ko-KR" altLang="en-US" sz="10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47</a:t>
            </a:fld>
            <a:endParaRPr lang="ko-KR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게시판 · 상세페이지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레이아웃 최적화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무엇을 먼저 보여줄지 기준을 정하고 블록 순서를 재배치했습니다. 통합검색에는 실시간 검색어를 접었다 펼치는 인터랙션을 붙여, 평소에는 공간을 차지하지 않도록 했습니다.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118104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3756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3442716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19272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커뮤니티(집들이) 게시판 개선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85032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사진이 주인공인 게시판이라 카드 비율과 여백을 먼저 맞추고, 정렬·필터 조건을 상단에 모았습니다. 페이지 이동은 번호 · 이전/다음 · 직접 입력 세 가지를 함께 제공합니다.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4773168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99262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5097780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74336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브랜드관 상품 상세페이지 기획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40096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상품을 소개하는 상세 페이지의 구성을 새로 짰습니다. 상품 정보와 후기, 연관 상품이 이어지는 순서를 정하고 각 구간의 역할을 나눴습니다.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12280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5858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6"/>
          <p:cNvSpPr/>
          <p:nvPr/>
        </p:nvSpPr>
        <p:spPr>
          <a:xfrm>
            <a:off x="710488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7"/>
          <p:cNvSpPr/>
          <p:nvPr/>
        </p:nvSpPr>
        <p:spPr>
          <a:xfrm>
            <a:off x="725119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4284" y="1737360"/>
            <a:ext cx="2241652" cy="398221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12280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통합검색·실시간 검색어부터 커뮤니티·쇼핑 블록까지</a:t>
            </a:r>
            <a:endParaRPr lang="ko-KR" alt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37396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483700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7" name="Shape 21"/>
          <p:cNvSpPr/>
          <p:nvPr/>
        </p:nvSpPr>
        <p:spPr>
          <a:xfrm>
            <a:off x="9630004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8" name="Shape 22"/>
          <p:cNvSpPr/>
          <p:nvPr/>
        </p:nvSpPr>
        <p:spPr>
          <a:xfrm>
            <a:off x="9776308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9400" y="1737360"/>
            <a:ext cx="2241652" cy="398221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337396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집들이 게시판 — 카드형 목록과 정렬·필터, 페이지 네비게이션</a:t>
            </a:r>
            <a:endParaRPr lang="ko-KR" alt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48</a:t>
            </a:fld>
            <a:endParaRPr lang="ko-KR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050" b="1" kern="0" spc="25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진행하면서 반복해서 적용한 방식입니다.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91002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59536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157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9536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 후 수정</a:t>
            </a:r>
            <a:endParaRPr lang="ko-KR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메시지와 코드를 화면과 서버 양쪽에서 대조해 원인을 먼저 특정한 뒤 수정했습니다. 로그인 형식 충돌과 N+1 조회 모두 이 순서로 해결했습니다.</a:t>
            </a:r>
            <a:endParaRPr lang="ko-KR" alt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6026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8389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4636922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3226" y="271576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36922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상황 처리</a:t>
            </a:r>
            <a:endParaRPr lang="ko-KR" alt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36922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장애, 응답 지연, 화면 전환 중 도착한 이전 응답을 각각 다르게 처리했고, 실패했을 때 화면에 표시할 내용도 정했습니다.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03413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45775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200" dirty="0"/>
          </a:p>
        </p:txBody>
      </p:sp>
      <p:sp>
        <p:nvSpPr>
          <p:cNvPr id="19" name="Shape 15"/>
          <p:cNvSpPr/>
          <p:nvPr/>
        </p:nvSpPr>
        <p:spPr>
          <a:xfrm>
            <a:off x="8414309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0613" y="2715768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4309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공유와 기록</a:t>
            </a:r>
            <a:endParaRPr lang="ko-KR" alt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14309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완성본이 아닌 초안을 먼저 공유해 피드백을 받았습니다. 선택한 이유는 코드 주석과 설계 · 개발 · 트러블슈팅 문서에 남겨, 팀이 같은 내용을 다시 조사하지 않게 했습니다.</a:t>
            </a:r>
            <a:endParaRPr lang="ko-KR" alt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ko-KR" altLang="en-US" b="0"/>
              <a:t>49</a:t>
            </a:fld>
            <a:endParaRPr lang="ko-KR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4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ko-KR" alt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r>
              <a:rPr lang="ko-KR" altLang="en-US" sz="18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웹 풀스택 개발자 · AI 활용</a:t>
            </a:r>
            <a:endParaRPr lang="ko-KR" alt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ko-KR" altLang="en-US" sz="180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 필요한 기능에 ML 모델을 붙입니다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903445" y="3977640"/>
            <a:ext cx="2384806" cy="457200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4613" y="40965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15509" y="3977640"/>
            <a:ext cx="1817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300" b="1" u="sng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967928" y="513892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87384" y="5029200"/>
            <a:ext cx="14852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18903" y="513892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38359" y="5029200"/>
            <a:ext cx="250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87871" y="5138928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07327" y="5029200"/>
            <a:ext cx="23682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421889" y="5029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9건</a:t>
            </a:r>
            <a:endParaRPr lang="ko-KR" alt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6916</Words>
  <Application>Microsoft Office PowerPoint</Application>
  <PresentationFormat>와이드스크린</PresentationFormat>
  <Paragraphs>1227</Paragraphs>
  <Slides>50</Slides>
  <Notes>50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4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유소은 · 웹 풀스택 개발자 포트폴리오</dc:title>
  <dc:subject>PptxGenJS Presentation</dc:subject>
  <dc:creator>유소은</dc:creator>
  <cp:lastModifiedBy>Eun Yu</cp:lastModifiedBy>
  <cp:revision>1</cp:revision>
  <dcterms:created xsi:type="dcterms:W3CDTF">2026-10-08T12:38:35Z</dcterms:created>
  <dcterms:modified xsi:type="dcterms:W3CDTF">2026-10-10T08:50:08Z</dcterms:modified>
</cp:coreProperties>
</file>