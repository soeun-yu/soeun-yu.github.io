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6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담당 산출물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&quot;개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Spring REST API</c:v>
                  </c:pt>
                  <c:pt idx="1">
                    <c:v>React 화면</c:v>
                  </c:pt>
                  <c:pt idx="2">
                    <c:v>공통 팝업·차트</c:v>
                  </c:pt>
                  <c:pt idx="3">
                    <c:v>데이터 훅</c:v>
                  </c:pt>
                  <c:pt idx="4">
                    <c:v>FastAPI ML 모델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</c:v>
                </c:pt>
                <c:pt idx="2">
                  <c:v>6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</c:ser>
        <c:dLbls>
          <c:numFmt formatCode="0&quot;개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구축한 벡터 인덱스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#,##0&quot;건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작품 벡터 (WikiArt)</c:v>
                  </c:pt>
                  <c:pt idx="1">
                    <c:v>RAG 문서 (MMCA·SeMA)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42500</c:v>
                </c:pt>
                <c:pt idx="1">
                  <c:v>6299</c:v>
                </c:pt>
              </c:numCache>
            </c:numRef>
          </c:val>
        </c:ser>
        <c:dLbls>
          <c:numFmt formatCode="#,##0&quot;건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모델별 Validation Accuracy</c:v>
                </c:pt>
              </c:strCache>
            </c:strRef>
          </c:tx>
          <c:spPr>
            <a:solidFill>
              <a:srgbClr val="5147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Custom CNN</c:v>
                  </c:pt>
                  <c:pt idx="1">
                    <c:v>EfficientNetB0</c:v>
                  </c:pt>
                  <c:pt idx="2">
                    <c:v>ResNet50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</c:v>
                </c:pt>
                <c:pt idx="1">
                  <c:v>83.5</c:v>
                </c:pt>
                <c:pt idx="2">
                  <c:v>84.5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5-fold 교차검증 Accuracy</c:v>
                </c:pt>
              </c:strCache>
            </c:strRef>
          </c:tx>
          <c:spPr>
            <a:solidFill>
              <a:srgbClr val="5147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Fold 1</c:v>
                  </c:pt>
                  <c:pt idx="1">
                    <c:v>Fold 2</c:v>
                  </c:pt>
                  <c:pt idx="2">
                    <c:v>Fold 3</c:v>
                  </c:pt>
                  <c:pt idx="3">
                    <c:v>Fold 4</c:v>
                  </c:pt>
                  <c:pt idx="4">
                    <c:v>Fold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</c:v>
                </c:pt>
                <c:pt idx="1">
                  <c:v>83.5</c:v>
                </c:pt>
                <c:pt idx="2">
                  <c:v>87.5</c:v>
                </c:pt>
                <c:pt idx="3">
                  <c:v>85</c:v>
                </c:pt>
                <c:pt idx="4">
                  <c:v>85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모델별 R² (높을수록 좋음)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다중선형회귀</c:v>
                  </c:pt>
                  <c:pt idx="1">
                    <c:v>랜덤포레스트</c:v>
                  </c:pt>
                  <c:pt idx="2">
                    <c:v>Elastic Net</c:v>
                  </c:pt>
                  <c:pt idx="3">
                    <c:v>XGBoost</c:v>
                  </c:pt>
                  <c:pt idx="4">
                    <c:v>결정트리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0.801</c:v>
                </c:pt>
                <c:pt idx="1">
                  <c:v>0.794</c:v>
                </c:pt>
                <c:pt idx="2">
                  <c:v>0.79</c:v>
                </c:pt>
                <c:pt idx="3">
                  <c:v>0.762</c:v>
                </c:pt>
                <c:pt idx="4">
                  <c:v>0.59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모델별 RMSE (낮을수록 좋음)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다중선형회귀</c:v>
                  </c:pt>
                  <c:pt idx="1">
                    <c:v>랜덤포레스트</c:v>
                  </c:pt>
                  <c:pt idx="2">
                    <c:v>Elastic Net</c:v>
                  </c:pt>
                  <c:pt idx="3">
                    <c:v>XGBoost</c:v>
                  </c:pt>
                  <c:pt idx="4">
                    <c:v>결정트리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0.961</c:v>
                </c:pt>
                <c:pt idx="1">
                  <c:v>0.979</c:v>
                </c:pt>
                <c:pt idx="2">
                  <c:v>0.986</c:v>
                </c:pt>
                <c:pt idx="3">
                  <c:v>1.051</c:v>
                </c:pt>
                <c:pt idx="4">
                  <c:v>1.379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oeun-yu" TargetMode="External"/><Relationship Id="rId1" Type="http://schemas.openxmlformats.org/officeDocument/2006/relationships/image" Target="../media/Slide-1-image-1.png"/><Relationship Id="rId3" Type="http://schemas.openxmlformats.org/officeDocument/2006/relationships/image" Target="../media/image-1-2.png"/><Relationship Id="rId4" Type="http://schemas.openxmlformats.org/officeDocument/2006/relationships/image" Target="../media/image-1-3.jpeg"/><Relationship Id="rId5" Type="http://schemas.openxmlformats.org/officeDocument/2006/relationships/image" Target="../media/image-1-4.png"/><Relationship Id="rId6" Type="http://schemas.openxmlformats.org/officeDocument/2006/relationships/image" Target="../media/image-1-5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hyperlink" Target="https://github.com/rhantj/work-flow" TargetMode="External"/><Relationship Id="rId8" Type="http://schemas.openxmlformats.org/officeDocument/2006/relationships/hyperlink" Target="https://youtu.be/D5jy2qbKh7g" TargetMode="External"/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7" Type="http://schemas.openxmlformats.org/officeDocument/2006/relationships/image" Target="../media/image-9-6.png"/><Relationship Id="rId9" Type="http://schemas.openxmlformats.org/officeDocument/2006/relationships/image" Target="../media/image-9-7.jpeg"/><Relationship Id="rId10" Type="http://schemas.openxmlformats.org/officeDocument/2006/relationships/image" Target="../media/image-9-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chart" Target="/ppt/charts/chart1.xml"/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jpeg"/><Relationship Id="rId4" Type="http://schemas.openxmlformats.org/officeDocument/2006/relationships/image" Target="../media/image-12-4.png"/><Relationship Id="rId5" Type="http://schemas.openxmlformats.org/officeDocument/2006/relationships/image" Target="../media/image-12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jpeg"/><Relationship Id="rId6" Type="http://schemas.openxmlformats.org/officeDocument/2006/relationships/image" Target="../media/image-21-6.jpe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6" Type="http://schemas.openxmlformats.org/officeDocument/2006/relationships/chart" Target="/ppt/charts/chart2.xml"/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image" Target="../media/image-22-9.png"/><Relationship Id="rId10" Type="http://schemas.openxmlformats.org/officeDocument/2006/relationships/image" Target="../media/image-22-10.pn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pn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png"/><Relationship Id="rId15" Type="http://schemas.openxmlformats.org/officeDocument/2006/relationships/image" Target="../media/image-22-15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1" Type="http://schemas.openxmlformats.org/officeDocument/2006/relationships/image" Target="../media/Slide-25-image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5.xml"/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6" Type="http://schemas.openxmlformats.org/officeDocument/2006/relationships/image" Target="../media/image-28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6.xml"/><Relationship Id="rId1" Type="http://schemas.openxmlformats.org/officeDocument/2006/relationships/image" Target="../media/Slide-29-image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jpeg"/><Relationship Id="rId4" Type="http://schemas.openxmlformats.org/officeDocument/2006/relationships/image" Target="../media/image-30-4.jpeg"/><Relationship Id="rId5" Type="http://schemas.openxmlformats.org/officeDocument/2006/relationships/image" Target="../media/image-30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jpe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jpeg"/><Relationship Id="rId4" Type="http://schemas.openxmlformats.org/officeDocument/2006/relationships/image" Target="../media/image-33-4.jpeg"/><Relationship Id="rId5" Type="http://schemas.openxmlformats.org/officeDocument/2006/relationships/image" Target="../media/image-33-5.jpeg"/><Relationship Id="rId6" Type="http://schemas.openxmlformats.org/officeDocument/2006/relationships/image" Target="../media/image-33-6.jpe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6" Type="http://schemas.openxmlformats.org/officeDocument/2006/relationships/hyperlink" Target="https://github.com/Polalise/Advanced_project" TargetMode="External"/><Relationship Id="rId1" Type="http://schemas.openxmlformats.org/officeDocument/2006/relationships/image" Target="../media/Slide-34-image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7" Type="http://schemas.openxmlformats.org/officeDocument/2006/relationships/image" Target="../media/image-34-6.jpeg"/><Relationship Id="rId8" Type="http://schemas.openxmlformats.org/officeDocument/2006/relationships/image" Target="../media/image-34-7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jpeg"/><Relationship Id="rId6" Type="http://schemas.openxmlformats.org/officeDocument/2006/relationships/image" Target="../media/image-3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image" Target="../media/image-38-2.jpeg"/><Relationship Id="rId3" Type="http://schemas.openxmlformats.org/officeDocument/2006/relationships/image" Target="../media/image-38-3.jpeg"/><Relationship Id="rId4" Type="http://schemas.openxmlformats.org/officeDocument/2006/relationships/image" Target="../media/image-38-4.jpeg"/><Relationship Id="rId5" Type="http://schemas.openxmlformats.org/officeDocument/2006/relationships/image" Target="../media/image-38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jpeg"/><Relationship Id="rId4" Type="http://schemas.openxmlformats.org/officeDocument/2006/relationships/image" Target="../media/image-39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6" Type="http://schemas.openxmlformats.org/officeDocument/2006/relationships/hyperlink" Target="https://plainaube.dothome.co.kr/hollys/index.html" TargetMode="External"/><Relationship Id="rId8" Type="http://schemas.openxmlformats.org/officeDocument/2006/relationships/hyperlink" Target="https://soeun-yu.github.io/assets/webdesign/HTML%20%EA%B8%B0%EB%B0%98_%ED%95%A0%EB%A6%AC%EC%8A%A4%EC%BB%A4%ED%94%BC%20%ED%99%88%ED%8E%98%EC%9D%B4%EC%A7%80%20%EB%A6%AC%EB%89%B4%EC%96%BC.pdf" TargetMode="External"/><Relationship Id="rId1" Type="http://schemas.openxmlformats.org/officeDocument/2006/relationships/image" Target="../media/Slide-40-image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7" Type="http://schemas.openxmlformats.org/officeDocument/2006/relationships/image" Target="../media/image-40-6.png"/><Relationship Id="rId9" Type="http://schemas.openxmlformats.org/officeDocument/2006/relationships/image" Target="../media/image-40-7.jpeg"/><Relationship Id="rId10" Type="http://schemas.openxmlformats.org/officeDocument/2006/relationships/image" Target="../media/image-40-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image" Target="../media/image-42-2.jpeg"/><Relationship Id="rId3" Type="http://schemas.openxmlformats.org/officeDocument/2006/relationships/image" Target="../media/image-42-3.jpeg"/><Relationship Id="rId4" Type="http://schemas.openxmlformats.org/officeDocument/2006/relationships/image" Target="../media/image-4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6" Type="http://schemas.openxmlformats.org/officeDocument/2006/relationships/hyperlink" Target="https://plainaube.dothome.co.kr/ohouse/index.html" TargetMode="External"/><Relationship Id="rId8" Type="http://schemas.openxmlformats.org/officeDocument/2006/relationships/hyperlink" Target="https://soeun-yu.github.io/assets/webdesign/HTML%20%EA%B8%B0%EB%B0%98_%EC%98%A4%EB%8A%98%EC%9D%98%EC%A7%91%20%ED%99%88%ED%8E%98%EC%9D%B4%EC%A7%80%20%EB%A6%AC%EB%89%B4%EC%96%BC.pdf" TargetMode="External"/><Relationship Id="rId1" Type="http://schemas.openxmlformats.org/officeDocument/2006/relationships/image" Target="../media/Slide-43-image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7" Type="http://schemas.openxmlformats.org/officeDocument/2006/relationships/image" Target="../media/image-43-6.png"/><Relationship Id="rId9" Type="http://schemas.openxmlformats.org/officeDocument/2006/relationships/image" Target="../media/image-43-7.jpeg"/><Relationship Id="rId10" Type="http://schemas.openxmlformats.org/officeDocument/2006/relationships/image" Target="../media/image-43-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jpeg"/><Relationship Id="rId6" Type="http://schemas.openxmlformats.org/officeDocument/2006/relationships/image" Target="../media/image-44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oeun-yu" TargetMode="External"/><Relationship Id="rId1" Type="http://schemas.openxmlformats.org/officeDocument/2006/relationships/image" Target="../media/Slide-46-image-1.png"/><Relationship Id="rId2" Type="http://schemas.openxmlformats.org/officeDocument/2006/relationships/image" Target="../media/image-4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77240"/>
            <a:ext cx="2921889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4088" y="900684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" y="777240"/>
            <a:ext cx="25561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휴먼AI교육센터 · 2025.06 ~ 2026.08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5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</a:t>
            </a:r>
            <a:pPr indent="0" marL="0">
              <a:lnSpc>
                <a:spcPct val="112000"/>
              </a:lnSpc>
              <a:buNone/>
            </a:pPr>
            <a:r>
              <a:rPr lang="ko-KR" altLang="en-US" sz="5200" b="1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</a:t>
            </a:r>
            <a:endParaRPr lang="ko-KR" alt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서비스 풀스택 개발자</a:t>
            </a:r>
            <a:endParaRPr lang="ko-KR" alt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718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ko-KR" altLang="en-US" sz="2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모델 학습, API 서빙, 화면 구현을</a:t>
            </a:r>
            <a:endParaRPr lang="ko-KR" alt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ko-KR" altLang="en-US" sz="2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프로젝트 안에서 함께 다뤄 왔습니다</a:t>
            </a:r>
            <a:endParaRPr lang="ko-KR" alt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434840"/>
            <a:ext cx="118872" cy="11887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34340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069080" y="43434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 ~ 2026.08</a:t>
            </a:r>
            <a:endParaRPr lang="ko-KR" alt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837176"/>
            <a:ext cx="118872" cy="118872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7457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069080" y="4745736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2025.12 ~ 2026.06</a:t>
            </a:r>
            <a:endParaRPr lang="ko-KR" alt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5239512"/>
            <a:ext cx="118872" cy="118872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148072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069080" y="514807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2025.06 ~ 2025.08</a:t>
            </a:r>
            <a:endParaRPr lang="ko-KR" alt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806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u="sng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github.com/soeun-yu</a:t>
            </a:r>
            <a:endParaRPr lang="ko-KR" alt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856732"/>
            <a:ext cx="173736" cy="173736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629400" y="1463040"/>
            <a:ext cx="5010912" cy="3108960"/>
          </a:xfrm>
          <a:prstGeom prst="roundRect">
            <a:avLst>
              <a:gd name="adj" fmla="val 294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775704" y="15590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1" name="Shape 18"/>
          <p:cNvSpPr/>
          <p:nvPr/>
        </p:nvSpPr>
        <p:spPr>
          <a:xfrm>
            <a:off x="6922008" y="15590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2" name="Shape 19"/>
          <p:cNvSpPr/>
          <p:nvPr/>
        </p:nvSpPr>
        <p:spPr>
          <a:xfrm>
            <a:off x="7068312" y="15590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3" name="Shape 20"/>
          <p:cNvSpPr/>
          <p:nvPr/>
        </p:nvSpPr>
        <p:spPr>
          <a:xfrm>
            <a:off x="7269480" y="1522476"/>
            <a:ext cx="1454912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69480" y="1522476"/>
            <a:ext cx="1454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workflow-ai · /dashboard</a:t>
            </a:r>
            <a:endParaRPr lang="ko-KR" altLang="en-US" sz="80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1404" y="1737360"/>
            <a:ext cx="4946904" cy="2802636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0012680" y="1097280"/>
            <a:ext cx="1377061" cy="420624"/>
          </a:xfrm>
          <a:prstGeom prst="roundRect">
            <a:avLst>
              <a:gd name="adj" fmla="val 2608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0696" y="1216152"/>
            <a:ext cx="182880" cy="18288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0396728" y="1097280"/>
            <a:ext cx="9564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  </a:t>
            </a:r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ko-KR" alt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6263640" y="3931920"/>
            <a:ext cx="1799971" cy="420624"/>
          </a:xfrm>
          <a:prstGeom prst="roundRect">
            <a:avLst>
              <a:gd name="adj" fmla="val 2608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656" y="4050792"/>
            <a:ext cx="182880" cy="18288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647688" y="3931920"/>
            <a:ext cx="137934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서빙  </a:t>
            </a:r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</a:t>
            </a:r>
            <a:endParaRPr lang="ko-KR" alt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9829800" y="4370832"/>
            <a:ext cx="1555877" cy="420624"/>
          </a:xfrm>
          <a:prstGeom prst="roundRect">
            <a:avLst>
              <a:gd name="adj" fmla="val 2608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4489704"/>
            <a:ext cx="182880" cy="18288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0213848" y="4370832"/>
            <a:ext cx="113525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 </a:t>
            </a:r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6002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</a:t>
            </a:r>
            <a:endParaRPr lang="ko-KR" alt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03704"/>
            <a:ext cx="4206240" cy="0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4028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402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주로 맡은 역할</a:t>
            </a:r>
            <a:endParaRPr lang="ko-KR" alt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43784"/>
            <a:ext cx="4206240" cy="0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8036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8036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진행 순서</a:t>
            </a:r>
            <a:endParaRPr lang="ko-KR" alt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483864"/>
            <a:ext cx="4206240" cy="0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2044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ko-KR" alt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5204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ko-KR" alt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4340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ko-KR" alt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43434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방식</a:t>
            </a:r>
            <a:endParaRPr lang="ko-KR" alt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94960" y="1600200"/>
            <a:ext cx="6248095" cy="1417320"/>
          </a:xfrm>
          <a:prstGeom prst="roundRect">
            <a:avLst>
              <a:gd name="adj" fmla="val 103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0" y="18379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ko-KR" alt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355080" y="1929384"/>
            <a:ext cx="637794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929384"/>
            <a:ext cx="6377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ko-KR" alt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1837944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55080" y="2441448"/>
            <a:ext cx="9972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55080" y="2441448"/>
            <a:ext cx="997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25436" y="2441448"/>
            <a:ext cx="71526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25436" y="2441448"/>
            <a:ext cx="71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213852" y="2441448"/>
            <a:ext cx="11115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13852" y="2441448"/>
            <a:ext cx="1111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398508" y="2441448"/>
            <a:ext cx="12893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98508" y="2441448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 고립도 예측</a:t>
            </a:r>
            <a:endParaRPr lang="ko-KR" alt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94960" y="3200400"/>
            <a:ext cx="6248095" cy="1417320"/>
          </a:xfrm>
          <a:prstGeom prst="roundRect">
            <a:avLst>
              <a:gd name="adj" fmla="val 103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0" y="34381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ko-KR" alt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355080" y="3529584"/>
            <a:ext cx="637794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5080" y="3529584"/>
            <a:ext cx="6377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ko-KR" alt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3438144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55080" y="4041648"/>
            <a:ext cx="10480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55080" y="4041648"/>
            <a:ext cx="1048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476236" y="4041648"/>
            <a:ext cx="56286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76236" y="4041648"/>
            <a:ext cx="56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12252" y="4041648"/>
            <a:ext cx="76352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112252" y="4041648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</a:t>
            </a:r>
            <a:endParaRPr lang="ko-KR" alt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394960" y="4800600"/>
            <a:ext cx="6248095" cy="1417320"/>
          </a:xfrm>
          <a:prstGeom prst="roundRect">
            <a:avLst>
              <a:gd name="adj" fmla="val 103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669280" y="50383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ko-KR" alt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6355080" y="5129784"/>
            <a:ext cx="637794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355080" y="5129784"/>
            <a:ext cx="6377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ko-KR" alt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178040" y="5038344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355080" y="5641848"/>
            <a:ext cx="84734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55080" y="5641848"/>
            <a:ext cx="847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275576" y="5641848"/>
            <a:ext cx="72542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275576" y="5641848"/>
            <a:ext cx="725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</a:t>
            </a:r>
            <a:endParaRPr lang="ko-KR" alt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ABOUT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1848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31C31"/>
          </a:solidFill>
          <a:ln w="9525">
            <a:solidFill>
              <a:srgbClr val="412F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ko-KR" alt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00200"/>
            <a:ext cx="61722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Spring Boot · FastAPI로 AI 웹 서비스를 개발했습니다.</a:t>
            </a:r>
            <a:endParaRPr lang="ko-KR" alt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0370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31C31"/>
          </a:solidFill>
          <a:ln w="9525">
            <a:solidFill>
              <a:srgbClr val="412F5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03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185416"/>
            <a:ext cx="6172200" cy="745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3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 WorkFlow AI에서 대시보드를 맡아 화면 9개, REST API 10개, ML 모델 2종을 구현했습니다. ML 서버 호출이 실패할 때의 처리 방식도 모델별로 정했습니다.</a:t>
            </a:r>
            <a:endParaRPr lang="ko-KR" alt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6896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31C31"/>
          </a:solidFill>
          <a:ln w="9525">
            <a:solidFill>
              <a:srgbClr val="412F5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68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ko-KR" alt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150680"/>
            <a:ext cx="6172200" cy="745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3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· DL · LLM 개인 프로젝트 3건을 진행했습니다. 회화 사조 분류 모델의 테스트 정확도는 94.5%(5-fold 평균 84.8%)였고, 작품 벡터 42,500건으로 유사도 검색을 구성했습니다.</a:t>
            </a:r>
            <a:endParaRPr lang="ko-KR" alt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543800" y="1600200"/>
            <a:ext cx="4099255" cy="2331720"/>
          </a:xfrm>
          <a:prstGeom prst="roundRect">
            <a:avLst>
              <a:gd name="adj" fmla="val 627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819656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0924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경로</a:t>
            </a:r>
            <a:endParaRPr lang="ko-KR" alt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799832" y="2194560"/>
            <a:ext cx="3587191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과정에서 웹사이트 리뉴얼 2건으로 UI/UX와 퍼블리싱을 익힌 뒤, Java 기반 풀스택 웹 개발자 과정에서 Java 웹 팀 프로젝트 3건(JSP → React+Express → Spring Boot)을, AI 기반 서비스 개발 심화 과정에서 ML·DL·LLM 개인 프로젝트 3건과 팀 프로젝트 1건을 진행했습니다.</a:t>
            </a:r>
            <a:endParaRPr lang="ko-KR" alt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462272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22960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</a:t>
            </a:r>
            <a:endParaRPr lang="ko-KR" alt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22960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진행한 프로젝트</a:t>
            </a:r>
            <a:endParaRPr lang="ko-KR" alt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822960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4 · 개인 5</a:t>
            </a:r>
            <a:endParaRPr lang="ko-KR" alt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3379394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714" y="4462272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653714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화면</a:t>
            </a:r>
            <a:endParaRPr lang="ko-KR" alt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3653714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담당 화면</a:t>
            </a:r>
            <a:endParaRPr lang="ko-KR" alt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3653714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10개 · ML 모델 2종</a:t>
            </a:r>
            <a:endParaRPr lang="ko-KR" alt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210148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468" y="4462272"/>
            <a:ext cx="274320" cy="27432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484468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94.5</a:t>
            </a:r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%</a:t>
            </a:r>
            <a:endParaRPr lang="ko-KR" alt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6484468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사조 분류 테스트 정확도</a:t>
            </a:r>
            <a:endParaRPr lang="ko-KR" alt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6484468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ResNet-50 · 테스트 200장</a:t>
            </a:r>
            <a:endParaRPr lang="ko-KR" alt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9040901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5221" y="4462272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315221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42,500</a:t>
            </a:r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</a:t>
            </a:r>
            <a:endParaRPr lang="ko-KR" alt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315221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특징 벡터</a:t>
            </a:r>
            <a:endParaRPr lang="ko-KR" alt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9315221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임베딩 · ChromaDB</a:t>
            </a:r>
            <a:endParaRPr lang="ko-KR" alt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About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주로 맡은 역할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프로젝트를 진행하며 여러 번 맡았던 역할을 네 가지로 정리했습니다. 구체적인 구현 내용은 프로젝트별 슬라이드에 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97400" y="18928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804672" y="2020824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213512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08176" y="2020824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API · DB · ML 구현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2642616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AI(6인 기능 오너제)에서 대시보드를 맡아 React 화면 9개, Spring Boot API 10개, PostgreSQL 4개 테이블 집계, FastAPI ML 서버 2개를 설계하고 연동했습니다.</a:t>
            </a:r>
            <a:endParaRPr lang="ko-KR" alt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04672" y="3470148"/>
            <a:ext cx="582803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" y="3470148"/>
            <a:ext cx="58280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9</a:t>
            </a:r>
            <a:endParaRPr lang="ko-KR" alt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460627" y="3470148"/>
            <a:ext cx="66001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460627" y="3470148"/>
            <a:ext cx="66001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10</a:t>
            </a:r>
            <a:endParaRPr lang="ko-KR" alt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193798" y="3470148"/>
            <a:ext cx="69862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193798" y="3470148"/>
            <a:ext cx="6986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9</a:t>
            </a:r>
            <a:endParaRPr lang="ko-KR" alt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2965577" y="3470148"/>
            <a:ext cx="77343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65577" y="3470148"/>
            <a:ext cx="77343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모델 2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205576" y="1783080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454335" y="18928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3600" dirty="0"/>
          </a:p>
        </p:txBody>
      </p:sp>
      <p:sp>
        <p:nvSpPr>
          <p:cNvPr id="21" name="Shape 18"/>
          <p:cNvSpPr/>
          <p:nvPr/>
        </p:nvSpPr>
        <p:spPr>
          <a:xfrm>
            <a:off x="6461608" y="2020824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908" y="2135124"/>
            <a:ext cx="228600" cy="2286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65112" y="2020824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학습한 모델을 API로 서빙</a:t>
            </a:r>
            <a:endParaRPr lang="ko-KR" alt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6461608" y="2642616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학습한 모델을 FastAPI로 서빙했습니다. 예측 이력 테이블, 호출 타임아웃, 장애 시 폴백 정책을 모델의 저장 방식에 따라 다르게 정해, ML 서버가 응답하지 않을 때도 대시보드 화면은 표시되도록 했습니다.</a:t>
            </a:r>
            <a:endParaRPr lang="ko-KR" alt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6461608" y="3470148"/>
            <a:ext cx="100266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61608" y="3470148"/>
            <a:ext cx="100266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서빙</a:t>
            </a:r>
            <a:endParaRPr lang="ko-KR" alt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7537425" y="3470148"/>
            <a:ext cx="100507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537425" y="3470148"/>
            <a:ext cx="100507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이력 적재</a:t>
            </a:r>
            <a:endParaRPr lang="ko-KR" alt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615655" y="3470148"/>
            <a:ext cx="100507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615655" y="3470148"/>
            <a:ext cx="100507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정책 분리</a:t>
            </a:r>
            <a:endParaRPr lang="ko-KR" alt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9693885" y="3470148"/>
            <a:ext cx="1330833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693885" y="3470148"/>
            <a:ext cx="133083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LangSmith 트레이싱</a:t>
            </a:r>
            <a:endParaRPr lang="ko-KR" alt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548640" y="4146804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797400" y="425653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3600" dirty="0"/>
          </a:p>
        </p:txBody>
      </p:sp>
      <p:sp>
        <p:nvSpPr>
          <p:cNvPr id="35" name="Shape 31"/>
          <p:cNvSpPr/>
          <p:nvPr/>
        </p:nvSpPr>
        <p:spPr>
          <a:xfrm>
            <a:off x="804672" y="4384548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498848"/>
            <a:ext cx="228600" cy="228600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1408176" y="4384548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원인을 확인한 뒤 수정</a:t>
            </a:r>
            <a:endParaRPr lang="ko-KR" altLang="en-US" sz="1600" dirty="0"/>
          </a:p>
        </p:txBody>
      </p:sp>
      <p:sp>
        <p:nvSpPr>
          <p:cNvPr id="38" name="Text 33"/>
          <p:cNvSpPr txBox="1"/>
          <p:nvPr/>
        </p:nvSpPr>
        <p:spPr>
          <a:xfrm>
            <a:off x="804672" y="5006340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조회로 늘어나던 DB 왕복을 한 번의 조회로 줄였습니다. 소규모 팀에서 Isolation Forest가 과부하 팀원을 탐지하지 못하는 사례를 확인해 MAD 기반 방식으로 바꿨습니다. 모델 성능은 K-fold로 다시 검증해 테스트 정확도와 함께 기록했습니다.</a:t>
            </a:r>
            <a:endParaRPr lang="ko-KR" alt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804672" y="5833872"/>
            <a:ext cx="73240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804672" y="5833872"/>
            <a:ext cx="7324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 제거</a:t>
            </a:r>
            <a:endParaRPr lang="ko-KR" alt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1610233" y="5833872"/>
            <a:ext cx="968883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1610233" y="5833872"/>
            <a:ext cx="96888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교체</a:t>
            </a:r>
            <a:endParaRPr lang="ko-KR" alt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2652268" y="5833872"/>
            <a:ext cx="87960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2652268" y="5833872"/>
            <a:ext cx="87960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K-fold 검증</a:t>
            </a:r>
            <a:endParaRPr lang="ko-KR" altLang="en-US" sz="950" dirty="0"/>
          </a:p>
        </p:txBody>
      </p:sp>
      <p:sp>
        <p:nvSpPr>
          <p:cNvPr id="45" name="Shape 40"/>
          <p:cNvSpPr/>
          <p:nvPr/>
        </p:nvSpPr>
        <p:spPr>
          <a:xfrm>
            <a:off x="3605022" y="5833872"/>
            <a:ext cx="126085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3605022" y="5833872"/>
            <a:ext cx="1260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Case 분석</a:t>
            </a:r>
            <a:endParaRPr lang="ko-KR" altLang="en-US" sz="950" dirty="0"/>
          </a:p>
        </p:txBody>
      </p:sp>
      <p:sp>
        <p:nvSpPr>
          <p:cNvPr id="47" name="Shape 42"/>
          <p:cNvSpPr/>
          <p:nvPr/>
        </p:nvSpPr>
        <p:spPr>
          <a:xfrm>
            <a:off x="6205576" y="4146804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10454335" y="425653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ko-KR" altLang="en-US" sz="3600" dirty="0"/>
          </a:p>
        </p:txBody>
      </p:sp>
      <p:sp>
        <p:nvSpPr>
          <p:cNvPr id="49" name="Shape 44"/>
          <p:cNvSpPr/>
          <p:nvPr/>
        </p:nvSpPr>
        <p:spPr>
          <a:xfrm>
            <a:off x="6461608" y="4384548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5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5908" y="4498848"/>
            <a:ext cx="228600" cy="228600"/>
          </a:xfrm>
          <a:prstGeom prst="rect">
            <a:avLst/>
          </a:prstGeom>
        </p:spPr>
      </p:pic>
      <p:sp>
        <p:nvSpPr>
          <p:cNvPr id="51" name="Text 45"/>
          <p:cNvSpPr txBox="1"/>
          <p:nvPr/>
        </p:nvSpPr>
        <p:spPr>
          <a:xfrm>
            <a:off x="7065112" y="4384548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공통 구조와 문서 작업</a:t>
            </a:r>
            <a:endParaRPr lang="ko-KR" altLang="en-US" sz="1600" dirty="0"/>
          </a:p>
        </p:txBody>
      </p:sp>
      <p:sp>
        <p:nvSpPr>
          <p:cNvPr id="52" name="Text 46"/>
          <p:cNvSpPr txBox="1"/>
          <p:nvPr/>
        </p:nvSpPr>
        <p:spPr>
          <a:xfrm>
            <a:off x="6461608" y="5006340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6명이 같은 구조에서 작업할 수 있도록 프로젝트 계층 구조를 제안했고, 팀 표준으로 확정되었습니다. 착수보고서의 개발 수행 계획(역할 분담·일정·협업 방식)을 작성했습니다.</a:t>
            </a:r>
            <a:endParaRPr lang="ko-KR" altLang="en-US" sz="1150" dirty="0"/>
          </a:p>
        </p:txBody>
      </p:sp>
      <p:sp>
        <p:nvSpPr>
          <p:cNvPr id="53" name="Shape 47"/>
          <p:cNvSpPr/>
          <p:nvPr/>
        </p:nvSpPr>
        <p:spPr>
          <a:xfrm>
            <a:off x="6461608" y="5833872"/>
            <a:ext cx="123672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461608" y="5833872"/>
            <a:ext cx="123672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계층 구조</a:t>
            </a:r>
            <a:endParaRPr lang="ko-KR" altLang="en-US" sz="950" dirty="0"/>
          </a:p>
        </p:txBody>
      </p:sp>
      <p:sp>
        <p:nvSpPr>
          <p:cNvPr id="55" name="Shape 49"/>
          <p:cNvSpPr/>
          <p:nvPr/>
        </p:nvSpPr>
        <p:spPr>
          <a:xfrm>
            <a:off x="7771486" y="5833872"/>
            <a:ext cx="108470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771486" y="5833872"/>
            <a:ext cx="108470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착수보고서 작성</a:t>
            </a:r>
            <a:endParaRPr lang="ko-KR" altLang="en-US" sz="950" dirty="0"/>
          </a:p>
        </p:txBody>
      </p:sp>
      <p:sp>
        <p:nvSpPr>
          <p:cNvPr id="57" name="Shape 51"/>
          <p:cNvSpPr/>
          <p:nvPr/>
        </p:nvSpPr>
        <p:spPr>
          <a:xfrm>
            <a:off x="8929345" y="5833872"/>
            <a:ext cx="92786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929345" y="5833872"/>
            <a:ext cx="92786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자동 점검</a:t>
            </a:r>
            <a:endParaRPr lang="ko-KR" altLang="en-US" sz="950" dirty="0"/>
          </a:p>
        </p:txBody>
      </p:sp>
      <p:sp>
        <p:nvSpPr>
          <p:cNvPr id="59" name="Shape 53"/>
          <p:cNvSpPr/>
          <p:nvPr/>
        </p:nvSpPr>
        <p:spPr>
          <a:xfrm>
            <a:off x="9930359" y="5833872"/>
            <a:ext cx="121742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9930359" y="5833872"/>
            <a:ext cx="121742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Jira · Slack 연동</a:t>
            </a:r>
            <a:endParaRPr lang="ko-KR" altLang="en-US" sz="950" dirty="0"/>
          </a:p>
        </p:txBody>
      </p:sp>
      <p:sp>
        <p:nvSpPr>
          <p:cNvPr id="61" name="Text 5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2" name="Text 5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 PATH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진행 순서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2025.06부터 2026.08까지 진행한 프로젝트 9건입니다. 웹 디자인에서 시작해 JSP, React + Express, Spring Boot, AI 서비스 순으로 사용 기술이 바뀌었습니다.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234440" y="3634740"/>
            <a:ext cx="2108778" cy="45720"/>
          </a:xfrm>
          <a:prstGeom prst="rect">
            <a:avLst/>
          </a:prstGeom>
          <a:solidFill>
            <a:srgbClr val="8F6E1B"/>
          </a:solidFill>
          <a:ln/>
        </p:spPr>
      </p:sp>
      <p:sp>
        <p:nvSpPr>
          <p:cNvPr id="6" name="Shape 4"/>
          <p:cNvSpPr/>
          <p:nvPr/>
        </p:nvSpPr>
        <p:spPr>
          <a:xfrm>
            <a:off x="3343218" y="3634740"/>
            <a:ext cx="3303156" cy="45720"/>
          </a:xfrm>
          <a:prstGeom prst="rect">
            <a:avLst/>
          </a:prstGeom>
          <a:solidFill>
            <a:srgbClr val="1D7A70"/>
          </a:solidFill>
          <a:ln/>
        </p:spPr>
      </p:sp>
      <p:sp>
        <p:nvSpPr>
          <p:cNvPr id="7" name="Shape 5"/>
          <p:cNvSpPr/>
          <p:nvPr/>
        </p:nvSpPr>
        <p:spPr>
          <a:xfrm>
            <a:off x="6646374" y="3634740"/>
            <a:ext cx="4310882" cy="45720"/>
          </a:xfrm>
          <a:prstGeom prst="rect">
            <a:avLst/>
          </a:prstGeom>
          <a:solidFill>
            <a:srgbClr val="605191"/>
          </a:solidFill>
          <a:ln/>
        </p:spPr>
      </p:sp>
      <p:sp>
        <p:nvSpPr>
          <p:cNvPr id="8" name="Shape 6"/>
          <p:cNvSpPr/>
          <p:nvPr/>
        </p:nvSpPr>
        <p:spPr>
          <a:xfrm>
            <a:off x="1691640" y="3291840"/>
            <a:ext cx="0" cy="219456"/>
          </a:xfrm>
          <a:prstGeom prst="line">
            <a:avLst/>
          </a:prstGeom>
          <a:noFill/>
          <a:ln w="12700">
            <a:solidFill>
              <a:srgbClr val="765C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2025.06</a:t>
            </a:r>
            <a:endParaRPr lang="ko-KR" alt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리뉴얼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SWOT · 페르소나 분석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커뮤니티 IA 재설계</a:t>
            </a:r>
            <a:endParaRPr lang="ko-KR" alt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554480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FBBF2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84448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2"/>
          <p:cNvSpPr/>
          <p:nvPr/>
        </p:nvSpPr>
        <p:spPr>
          <a:xfrm>
            <a:off x="2792692" y="3803904"/>
            <a:ext cx="0" cy="237744"/>
          </a:xfrm>
          <a:prstGeom prst="line">
            <a:avLst/>
          </a:prstGeom>
          <a:noFill/>
          <a:ln w="12700">
            <a:solidFill>
              <a:srgbClr val="765C1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741132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2025.07</a:t>
            </a:r>
            <a:endParaRPr lang="ko-KR" alt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741132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 리뉴얼</a:t>
            </a:r>
            <a:endParaRPr lang="ko-KR" alt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741132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 개편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jQuery 동적 인터랙션</a:t>
            </a:r>
            <a:endParaRPr lang="ko-KR" alt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655532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FBBF2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19540" y="3584448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3744" y="3291840"/>
            <a:ext cx="0" cy="219456"/>
          </a:xfrm>
          <a:prstGeom prst="line">
            <a:avLst/>
          </a:prstGeom>
          <a:noFill/>
          <a:ln w="12700">
            <a:solidFill>
              <a:srgbClr val="1A655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842184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2026.02</a:t>
            </a:r>
            <a:endParaRPr lang="ko-KR" alt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42184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</a:t>
            </a:r>
            <a:endParaRPr lang="ko-KR" alt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842184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JSP · Servlet · JDBC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인증과 마이페이지 담당</a:t>
            </a:r>
            <a:endParaRPr lang="ko-KR" alt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56584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2DD4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20592" y="35844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Shape 24"/>
          <p:cNvSpPr/>
          <p:nvPr/>
        </p:nvSpPr>
        <p:spPr>
          <a:xfrm>
            <a:off x="4994796" y="3803904"/>
            <a:ext cx="0" cy="237744"/>
          </a:xfrm>
          <a:prstGeom prst="line">
            <a:avLst/>
          </a:prstGeom>
          <a:noFill/>
          <a:ln w="12700">
            <a:solidFill>
              <a:srgbClr val="1A655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43236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2026.03</a:t>
            </a:r>
            <a:endParaRPr lang="ko-KR" alt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943236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943236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Express · MongoDB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인증과 회원 도메인 담당</a:t>
            </a:r>
            <a:endParaRPr lang="ko-KR" alt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57636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2DD4B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21644" y="35844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2" name="Shape 30"/>
          <p:cNvSpPr/>
          <p:nvPr/>
        </p:nvSpPr>
        <p:spPr>
          <a:xfrm>
            <a:off x="6095848" y="3291840"/>
            <a:ext cx="0" cy="219456"/>
          </a:xfrm>
          <a:prstGeom prst="line">
            <a:avLst/>
          </a:prstGeom>
          <a:noFill/>
          <a:ln w="12700">
            <a:solidFill>
              <a:srgbClr val="1A655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44288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2026.05</a:t>
            </a:r>
            <a:endParaRPr lang="ko-KR" alt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044288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044288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· Security · JPA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페이지와 OAuth2 인증 담당</a:t>
            </a:r>
            <a:endParaRPr lang="ko-KR" alt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958688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2DD4B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22696" y="35844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8" name="Shape 36"/>
          <p:cNvSpPr/>
          <p:nvPr/>
        </p:nvSpPr>
        <p:spPr>
          <a:xfrm>
            <a:off x="7196900" y="3803904"/>
            <a:ext cx="0" cy="237744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45340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</a:t>
            </a:r>
            <a:endParaRPr lang="ko-KR" alt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145340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 고립도 예측</a:t>
            </a:r>
            <a:endParaRPr lang="ko-KR" alt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145340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5종 비교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0.801</a:t>
            </a:r>
            <a:endParaRPr lang="ko-KR" alt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59740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123748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44" name="Shape 42"/>
          <p:cNvSpPr/>
          <p:nvPr/>
        </p:nvSpPr>
        <p:spPr>
          <a:xfrm>
            <a:off x="8297951" y="3291840"/>
            <a:ext cx="0" cy="219456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246391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</a:t>
            </a:r>
            <a:endParaRPr lang="ko-KR" alt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246391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246391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전이학습 3종 비교 · MLflow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정확도 94.5%</a:t>
            </a:r>
            <a:endParaRPr lang="ko-KR" alt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160791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224799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50" name="Shape 48"/>
          <p:cNvSpPr/>
          <p:nvPr/>
        </p:nvSpPr>
        <p:spPr>
          <a:xfrm>
            <a:off x="9399003" y="3803904"/>
            <a:ext cx="0" cy="237744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347443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2026.07</a:t>
            </a:r>
            <a:endParaRPr lang="ko-KR" alt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347443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8347443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· ChromaDB · RAG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벡터 42,500건 구축</a:t>
            </a:r>
            <a:endParaRPr lang="ko-KR" alt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61843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325851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56" name="Shape 54"/>
          <p:cNvSpPr/>
          <p:nvPr/>
        </p:nvSpPr>
        <p:spPr>
          <a:xfrm>
            <a:off x="10500055" y="3291840"/>
            <a:ext cx="0" cy="219456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448495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2026.07</a:t>
            </a:r>
            <a:endParaRPr lang="ko-KR" alt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9448495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9448495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Spring Boot · FastAPI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9 · API 10 · ML 2종</a:t>
            </a:r>
            <a:endParaRPr lang="ko-KR" alt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0362895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426903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2" name="Shape 60"/>
          <p:cNvSpPr/>
          <p:nvPr/>
        </p:nvSpPr>
        <p:spPr>
          <a:xfrm>
            <a:off x="705505" y="5760720"/>
            <a:ext cx="2731247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51809" y="5870448"/>
            <a:ext cx="109728" cy="109728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34689" y="5760720"/>
            <a:ext cx="2365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  </a:t>
            </a:r>
            <a:pPr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2025.06 ~ 08</a:t>
            </a:r>
            <a:endParaRPr lang="ko-KR" alt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3619632" y="5760720"/>
            <a:ext cx="4085443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765936" y="5870448"/>
            <a:ext cx="109728" cy="1097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948816" y="5760720"/>
            <a:ext cx="37196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  </a:t>
            </a:r>
            <a:pPr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2025.12 ~ 2026.06</a:t>
            </a:r>
            <a:endParaRPr lang="ko-KR" alt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7887955" y="5760720"/>
            <a:ext cx="3598235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34259" y="5870448"/>
            <a:ext cx="109728" cy="109728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217139" y="5760720"/>
            <a:ext cx="32324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  </a:t>
            </a:r>
            <a:pPr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 ~ 08</a:t>
            </a:r>
            <a:endParaRPr lang="ko-KR" alt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 Path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 · Frontend / Backend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기술로 무엇을 만들었는지와, 어떤 프로젝트에서 썼는지를 함께 적었습니다.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37480" cy="4507992"/>
          </a:xfrm>
          <a:prstGeom prst="roundRect">
            <a:avLst>
              <a:gd name="adj" fmla="val 324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96596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15333F"/>
          </a:solidFill>
          <a:ln w="9525">
            <a:solidFill>
              <a:srgbClr val="18566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057400"/>
            <a:ext cx="182880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965960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ko-KR" alt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2478024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203704" y="2478024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9화면 · 매물 탐색 · 가구몰 메인</a:t>
            </a:r>
            <a:endParaRPr lang="ko-KR" alt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398264" y="2478024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PPAP · 3H</a:t>
            </a:r>
            <a:endParaRPr lang="ko-KR" alt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786384" y="30044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6384" y="30044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</a:t>
            </a:r>
            <a:endParaRPr lang="ko-KR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203704" y="30044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응답 DTO 타입 정의</a:t>
            </a:r>
            <a:endParaRPr lang="ko-KR" alt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398264" y="30044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86384" y="35308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6384" y="35308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</a:t>
            </a:r>
            <a:endParaRPr lang="ko-KR" alt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203704" y="35308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 개발 서버 · 빌드</a:t>
            </a:r>
            <a:endParaRPr lang="ko-KR" alt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398264" y="35308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86384" y="40573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6384" y="40573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</a:t>
            </a:r>
            <a:endParaRPr lang="ko-KR" alt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2203704" y="40573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카드·배지 반응형 레이아웃</a:t>
            </a:r>
            <a:endParaRPr lang="ko-KR" alt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398264" y="40573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86384" y="45837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5837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MUI · Bootstrap</a:t>
            </a:r>
            <a:endParaRPr lang="ko-KR" alt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203704" y="45837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 입력 폼 · 가구몰 화면 컴포넌트</a:t>
            </a:r>
            <a:endParaRPr lang="ko-KR" alt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398264" y="45837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 · 3H</a:t>
            </a:r>
            <a:endParaRPr lang="ko-KR" alt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86384" y="51101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86384" y="51101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Recharts</a:t>
            </a:r>
            <a:endParaRPr lang="ko-KR" alt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2203704" y="51101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진행률·업무량 차트</a:t>
            </a:r>
            <a:endParaRPr lang="ko-KR" alt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4398264" y="51101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86384" y="56366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86384" y="56366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JSP · JSTL</a:t>
            </a:r>
            <a:endParaRPr lang="ko-KR" alt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203704" y="56366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인증 · 마이페이지 화면</a:t>
            </a:r>
            <a:endParaRPr lang="ko-KR" alt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398264" y="56366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</a:t>
            </a:r>
            <a:endParaRPr lang="ko-KR" alt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6205576" y="1783080"/>
            <a:ext cx="5437480" cy="4507992"/>
          </a:xfrm>
          <a:prstGeom prst="roundRect">
            <a:avLst>
              <a:gd name="adj" fmla="val 324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443320" y="196596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760" y="2057400"/>
            <a:ext cx="182880" cy="1828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6937096" y="1965960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ko-KR" alt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6443320" y="2478024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7860640" y="2478024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집계 로직 · 회원 도메인</a:t>
            </a:r>
            <a:endParaRPr lang="ko-KR" altLang="en-US" sz="1050" dirty="0"/>
          </a:p>
        </p:txBody>
      </p:sp>
      <p:sp>
        <p:nvSpPr>
          <p:cNvPr id="42" name="Text 38"/>
          <p:cNvSpPr txBox="1"/>
          <p:nvPr/>
        </p:nvSpPr>
        <p:spPr>
          <a:xfrm>
            <a:off x="10055200" y="2478024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3H</a:t>
            </a:r>
            <a:endParaRPr lang="ko-KR" alt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6443320" y="30044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443320" y="30044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7860640" y="30044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API 10개 · 상품 조회 API</a:t>
            </a:r>
            <a:endParaRPr lang="ko-KR" altLang="en-US" sz="1050" dirty="0"/>
          </a:p>
        </p:txBody>
      </p:sp>
      <p:sp>
        <p:nvSpPr>
          <p:cNvPr id="46" name="Text 42"/>
          <p:cNvSpPr txBox="1"/>
          <p:nvPr/>
        </p:nvSpPr>
        <p:spPr>
          <a:xfrm>
            <a:off x="10055200" y="30044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3H</a:t>
            </a:r>
            <a:endParaRPr lang="ko-KR" alt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6443320" y="35308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443320" y="35308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1100" dirty="0"/>
          </a:p>
        </p:txBody>
      </p:sp>
      <p:sp>
        <p:nvSpPr>
          <p:cNvPr id="49" name="Text 45"/>
          <p:cNvSpPr txBox="1"/>
          <p:nvPr/>
        </p:nvSpPr>
        <p:spPr>
          <a:xfrm>
            <a:off x="7860640" y="35308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 소셜 로그인 · 권한 분리</a:t>
            </a:r>
            <a:endParaRPr lang="ko-KR" altLang="en-US" sz="1050" dirty="0"/>
          </a:p>
        </p:txBody>
      </p:sp>
      <p:sp>
        <p:nvSpPr>
          <p:cNvPr id="50" name="Text 46"/>
          <p:cNvSpPr txBox="1"/>
          <p:nvPr/>
        </p:nvSpPr>
        <p:spPr>
          <a:xfrm>
            <a:off x="10055200" y="35308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950" dirty="0"/>
          </a:p>
        </p:txBody>
      </p:sp>
      <p:sp>
        <p:nvSpPr>
          <p:cNvPr id="51" name="Shape 47"/>
          <p:cNvSpPr/>
          <p:nvPr/>
        </p:nvSpPr>
        <p:spPr>
          <a:xfrm>
            <a:off x="6443320" y="40573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43320" y="40573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1100" dirty="0"/>
          </a:p>
        </p:txBody>
      </p:sp>
      <p:sp>
        <p:nvSpPr>
          <p:cNvPr id="53" name="Text 49"/>
          <p:cNvSpPr txBox="1"/>
          <p:nvPr/>
        </p:nvSpPr>
        <p:spPr>
          <a:xfrm>
            <a:off x="7860640" y="40573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업무·마일스톤·회원 테이블 접근</a:t>
            </a:r>
            <a:endParaRPr lang="ko-KR" altLang="en-US" sz="1050" dirty="0"/>
          </a:p>
        </p:txBody>
      </p:sp>
      <p:sp>
        <p:nvSpPr>
          <p:cNvPr id="54" name="Text 50"/>
          <p:cNvSpPr txBox="1"/>
          <p:nvPr/>
        </p:nvSpPr>
        <p:spPr>
          <a:xfrm>
            <a:off x="10055200" y="40573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· WorkFlow AI</a:t>
            </a:r>
            <a:endParaRPr lang="ko-KR" altLang="en-US" sz="950" dirty="0"/>
          </a:p>
        </p:txBody>
      </p:sp>
      <p:sp>
        <p:nvSpPr>
          <p:cNvPr id="55" name="Shape 51"/>
          <p:cNvSpPr/>
          <p:nvPr/>
        </p:nvSpPr>
        <p:spPr>
          <a:xfrm>
            <a:off x="6443320" y="45837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443320" y="45837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</a:t>
            </a:r>
            <a:endParaRPr lang="ko-KR" altLang="en-US" sz="1100" dirty="0"/>
          </a:p>
        </p:txBody>
      </p:sp>
      <p:sp>
        <p:nvSpPr>
          <p:cNvPr id="57" name="Text 53"/>
          <p:cNvSpPr txBox="1"/>
          <p:nvPr/>
        </p:nvSpPr>
        <p:spPr>
          <a:xfrm>
            <a:off x="7860640" y="45837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인증 · 보호 라우트 검증</a:t>
            </a:r>
            <a:endParaRPr lang="ko-KR" altLang="en-US" sz="1050" dirty="0"/>
          </a:p>
        </p:txBody>
      </p:sp>
      <p:sp>
        <p:nvSpPr>
          <p:cNvPr id="58" name="Text 54"/>
          <p:cNvSpPr txBox="1"/>
          <p:nvPr/>
        </p:nvSpPr>
        <p:spPr>
          <a:xfrm>
            <a:off x="10055200" y="45837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 · WorkFlow AI</a:t>
            </a:r>
            <a:endParaRPr lang="ko-KR" altLang="en-US" sz="950" dirty="0"/>
          </a:p>
        </p:txBody>
      </p:sp>
      <p:sp>
        <p:nvSpPr>
          <p:cNvPr id="59" name="Shape 55"/>
          <p:cNvSpPr/>
          <p:nvPr/>
        </p:nvSpPr>
        <p:spPr>
          <a:xfrm>
            <a:off x="6443320" y="51101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6443320" y="51101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 · Express</a:t>
            </a:r>
            <a:endParaRPr lang="ko-KR" altLang="en-US" sz="1100" dirty="0"/>
          </a:p>
        </p:txBody>
      </p:sp>
      <p:sp>
        <p:nvSpPr>
          <p:cNvPr id="61" name="Text 57"/>
          <p:cNvSpPr txBox="1"/>
          <p:nvPr/>
        </p:nvSpPr>
        <p:spPr>
          <a:xfrm>
            <a:off x="7860640" y="51101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매물·회원·상담 예약 REST API</a:t>
            </a:r>
            <a:endParaRPr lang="ko-KR" altLang="en-US" sz="1050" dirty="0"/>
          </a:p>
        </p:txBody>
      </p:sp>
      <p:sp>
        <p:nvSpPr>
          <p:cNvPr id="62" name="Text 58"/>
          <p:cNvSpPr txBox="1"/>
          <p:nvPr/>
        </p:nvSpPr>
        <p:spPr>
          <a:xfrm>
            <a:off x="10055200" y="51101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950" dirty="0"/>
          </a:p>
        </p:txBody>
      </p:sp>
      <p:sp>
        <p:nvSpPr>
          <p:cNvPr id="63" name="Shape 59"/>
          <p:cNvSpPr/>
          <p:nvPr/>
        </p:nvSpPr>
        <p:spPr>
          <a:xfrm>
            <a:off x="6443320" y="56366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443320" y="56366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Servlet · JDBC</a:t>
            </a:r>
            <a:endParaRPr lang="ko-KR" altLang="en-US" sz="1100" dirty="0"/>
          </a:p>
        </p:txBody>
      </p:sp>
      <p:sp>
        <p:nvSpPr>
          <p:cNvPr id="65" name="Text 61"/>
          <p:cNvSpPr txBox="1"/>
          <p:nvPr/>
        </p:nvSpPr>
        <p:spPr>
          <a:xfrm>
            <a:off x="7860640" y="56366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로그인 · DTO/DAO 계층</a:t>
            </a:r>
            <a:endParaRPr lang="ko-KR" altLang="en-US" sz="1050" dirty="0"/>
          </a:p>
        </p:txBody>
      </p:sp>
      <p:sp>
        <p:nvSpPr>
          <p:cNvPr id="66" name="Text 62"/>
          <p:cNvSpPr txBox="1"/>
          <p:nvPr/>
        </p:nvSpPr>
        <p:spPr>
          <a:xfrm>
            <a:off x="10055200" y="56366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</a:t>
            </a:r>
            <a:endParaRPr lang="ko-KR" altLang="en-US" sz="950" dirty="0"/>
          </a:p>
        </p:txBody>
      </p:sp>
      <p:sp>
        <p:nvSpPr>
          <p:cNvPr id="67" name="Text 6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 · AI/ML · Database · 협업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프로젝트에서 사용한 AI/ML · 데이터베이스 · 테스트 · 협업 도구입니다.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37480" cy="4507992"/>
          </a:xfrm>
          <a:prstGeom prst="roundRect">
            <a:avLst>
              <a:gd name="adj" fmla="val 324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96596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057400"/>
            <a:ext cx="182880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965960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/ ML</a:t>
            </a:r>
            <a:endParaRPr lang="ko-KR" alt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2478024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340864" y="2478024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모델 학습 · FastAPI 서빙</a:t>
            </a:r>
            <a:endParaRPr lang="ko-KR" alt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81144" y="2478024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AI 프로젝트</a:t>
            </a:r>
            <a:endParaRPr lang="ko-KR" alt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86384" y="288747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6384" y="2887472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340864" y="2887472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위험도·업무 편중 예측 서버</a:t>
            </a:r>
            <a:endParaRPr lang="ko-KR" alt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581144" y="2887472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86384" y="329692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6384" y="3296920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 · Keras</a:t>
            </a:r>
            <a:endParaRPr lang="ko-KR" alt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340864" y="3296920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사조 분류 모델 학습</a:t>
            </a:r>
            <a:endParaRPr lang="ko-KR" alt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581144" y="3296920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86384" y="3706368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6384" y="3706368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2340864" y="3706368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비교 · MAD 이상치 탐지</a:t>
            </a:r>
            <a:endParaRPr lang="ko-KR" alt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706368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개인 · WorkFlow AI</a:t>
            </a:r>
            <a:endParaRPr lang="ko-KR" alt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786384" y="4115816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115816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</a:t>
            </a:r>
            <a:endParaRPr lang="ko-KR" alt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340864" y="4115816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전이학습 8개 trial 기록·비교</a:t>
            </a:r>
            <a:endParaRPr lang="ko-KR" alt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581144" y="4115816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86384" y="4525264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86384" y="4525264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· ChromaDB</a:t>
            </a:r>
            <a:endParaRPr lang="ko-KR" alt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2340864" y="4525264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벡터 42,500건 유사도 검색</a:t>
            </a:r>
            <a:endParaRPr lang="ko-KR" alt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4581144" y="4525264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86384" y="493471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86384" y="4934712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· Gemma</a:t>
            </a:r>
            <a:endParaRPr lang="ko-KR" alt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340864" y="4934712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근거 기반 도슨트 해설 생성</a:t>
            </a:r>
            <a:endParaRPr lang="ko-KR" alt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81144" y="4934712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786384" y="534416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86384" y="5344160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LangSmith</a:t>
            </a:r>
            <a:endParaRPr lang="ko-KR" alt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340864" y="5344160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편중 계산 흐름 트레이싱</a:t>
            </a:r>
            <a:endParaRPr lang="ko-KR" alt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4581144" y="5344160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786384" y="5753608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86384" y="5753608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endParaRPr lang="ko-KR" alt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2340864" y="5753608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사조 예측·작품 추천 프로토타입</a:t>
            </a:r>
            <a:endParaRPr lang="ko-KR" alt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4581144" y="5753608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7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Curatio</a:t>
            </a:r>
            <a:endParaRPr lang="ko-KR" altLang="en-US" sz="750" dirty="0"/>
          </a:p>
        </p:txBody>
      </p:sp>
      <p:sp>
        <p:nvSpPr>
          <p:cNvPr id="44" name="Shape 41"/>
          <p:cNvSpPr/>
          <p:nvPr/>
        </p:nvSpPr>
        <p:spPr>
          <a:xfrm>
            <a:off x="6205576" y="1783080"/>
            <a:ext cx="5437480" cy="1901952"/>
          </a:xfrm>
          <a:prstGeom prst="roundRect">
            <a:avLst>
              <a:gd name="adj" fmla="val 769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443320" y="1901952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760" y="1993392"/>
            <a:ext cx="182880" cy="18288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6937096" y="1901952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</a:t>
            </a:r>
            <a:endParaRPr lang="ko-KR" altLang="en-US" sz="1150" dirty="0"/>
          </a:p>
        </p:txBody>
      </p:sp>
      <p:sp>
        <p:nvSpPr>
          <p:cNvPr id="48" name="Text 44"/>
          <p:cNvSpPr txBox="1"/>
          <p:nvPr/>
        </p:nvSpPr>
        <p:spPr>
          <a:xfrm>
            <a:off x="6443320" y="2350008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Supabase</a:t>
            </a:r>
            <a:endParaRPr lang="ko-KR" altLang="en-US" sz="1000" dirty="0"/>
          </a:p>
        </p:txBody>
      </p:sp>
      <p:sp>
        <p:nvSpPr>
          <p:cNvPr id="49" name="Text 45"/>
          <p:cNvSpPr txBox="1"/>
          <p:nvPr/>
        </p:nvSpPr>
        <p:spPr>
          <a:xfrm>
            <a:off x="8089240" y="235000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업무·활동·ML 예측 이력 저장</a:t>
            </a:r>
            <a:endParaRPr lang="ko-KR" altLang="en-US" sz="1000" dirty="0"/>
          </a:p>
        </p:txBody>
      </p:sp>
      <p:sp>
        <p:nvSpPr>
          <p:cNvPr id="50" name="Text 46"/>
          <p:cNvSpPr txBox="1"/>
          <p:nvPr/>
        </p:nvSpPr>
        <p:spPr>
          <a:xfrm>
            <a:off x="10283800" y="2350008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51" name="Shape 47"/>
          <p:cNvSpPr/>
          <p:nvPr/>
        </p:nvSpPr>
        <p:spPr>
          <a:xfrm>
            <a:off x="6443320" y="265176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43320" y="265176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DB</a:t>
            </a:r>
            <a:endParaRPr lang="ko-KR" altLang="en-US" sz="1050" dirty="0"/>
          </a:p>
        </p:txBody>
      </p:sp>
      <p:sp>
        <p:nvSpPr>
          <p:cNvPr id="53" name="Text 49"/>
          <p:cNvSpPr txBox="1"/>
          <p:nvPr/>
        </p:nvSpPr>
        <p:spPr>
          <a:xfrm>
            <a:off x="8089240" y="2651760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상품·회원·게시판 테이블 (3H: Cloud ADB)</a:t>
            </a:r>
            <a:endParaRPr lang="ko-KR" altLang="en-US" sz="850" dirty="0"/>
          </a:p>
        </p:txBody>
      </p:sp>
      <p:sp>
        <p:nvSpPr>
          <p:cNvPr id="54" name="Text 50"/>
          <p:cNvSpPr txBox="1"/>
          <p:nvPr/>
        </p:nvSpPr>
        <p:spPr>
          <a:xfrm>
            <a:off x="10283800" y="2651760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· 너와 함께</a:t>
            </a:r>
            <a:endParaRPr lang="ko-KR" altLang="en-US" sz="900" dirty="0"/>
          </a:p>
        </p:txBody>
      </p:sp>
      <p:sp>
        <p:nvSpPr>
          <p:cNvPr id="55" name="Shape 51"/>
          <p:cNvSpPr/>
          <p:nvPr/>
        </p:nvSpPr>
        <p:spPr>
          <a:xfrm>
            <a:off x="6443320" y="295351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443320" y="2953512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MongoDB · Mongoose</a:t>
            </a:r>
            <a:endParaRPr lang="ko-KR" altLang="en-US" sz="1050" dirty="0"/>
          </a:p>
        </p:txBody>
      </p:sp>
      <p:sp>
        <p:nvSpPr>
          <p:cNvPr id="57" name="Text 53"/>
          <p:cNvSpPr txBox="1"/>
          <p:nvPr/>
        </p:nvSpPr>
        <p:spPr>
          <a:xfrm>
            <a:off x="8089240" y="2953512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매물·이미지·상담 예약 스키마</a:t>
            </a:r>
            <a:endParaRPr lang="ko-KR" altLang="en-US" sz="1000" dirty="0"/>
          </a:p>
        </p:txBody>
      </p:sp>
      <p:sp>
        <p:nvSpPr>
          <p:cNvPr id="58" name="Text 54"/>
          <p:cNvSpPr txBox="1"/>
          <p:nvPr/>
        </p:nvSpPr>
        <p:spPr>
          <a:xfrm>
            <a:off x="10283800" y="2953512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900" dirty="0"/>
          </a:p>
        </p:txBody>
      </p:sp>
      <p:sp>
        <p:nvSpPr>
          <p:cNvPr id="59" name="Shape 55"/>
          <p:cNvSpPr/>
          <p:nvPr/>
        </p:nvSpPr>
        <p:spPr>
          <a:xfrm>
            <a:off x="6443320" y="3255264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6443320" y="325526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pgvector</a:t>
            </a:r>
            <a:endParaRPr lang="ko-KR" altLang="en-US" sz="1050" dirty="0"/>
          </a:p>
        </p:txBody>
      </p:sp>
      <p:sp>
        <p:nvSpPr>
          <p:cNvPr id="61" name="Text 57"/>
          <p:cNvSpPr txBox="1"/>
          <p:nvPr/>
        </p:nvSpPr>
        <p:spPr>
          <a:xfrm>
            <a:off x="8089240" y="3255264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임베딩 저장 · 유사도 검색</a:t>
            </a:r>
            <a:endParaRPr lang="ko-KR" altLang="en-US" sz="1000" dirty="0"/>
          </a:p>
        </p:txBody>
      </p:sp>
      <p:sp>
        <p:nvSpPr>
          <p:cNvPr id="62" name="Text 58"/>
          <p:cNvSpPr txBox="1"/>
          <p:nvPr/>
        </p:nvSpPr>
        <p:spPr>
          <a:xfrm>
            <a:off x="10283800" y="3255264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63" name="Shape 59"/>
          <p:cNvSpPr/>
          <p:nvPr/>
        </p:nvSpPr>
        <p:spPr>
          <a:xfrm>
            <a:off x="6205576" y="3867912"/>
            <a:ext cx="5437480" cy="2423160"/>
          </a:xfrm>
          <a:prstGeom prst="roundRect">
            <a:avLst>
              <a:gd name="adj" fmla="val 603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6443320" y="3986784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6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760" y="4078224"/>
            <a:ext cx="182880" cy="182880"/>
          </a:xfrm>
          <a:prstGeom prst="rect">
            <a:avLst/>
          </a:prstGeom>
        </p:spPr>
      </p:pic>
      <p:sp>
        <p:nvSpPr>
          <p:cNvPr id="66" name="Text 61"/>
          <p:cNvSpPr txBox="1"/>
          <p:nvPr/>
        </p:nvSpPr>
        <p:spPr>
          <a:xfrm>
            <a:off x="6937096" y="3986784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· 품질</a:t>
            </a:r>
            <a:endParaRPr lang="ko-KR" altLang="en-US" sz="1150" dirty="0"/>
          </a:p>
        </p:txBody>
      </p:sp>
      <p:sp>
        <p:nvSpPr>
          <p:cNvPr id="67" name="Text 62"/>
          <p:cNvSpPr txBox="1"/>
          <p:nvPr/>
        </p:nvSpPr>
        <p:spPr>
          <a:xfrm>
            <a:off x="6443320" y="4434840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· GitHub</a:t>
            </a:r>
            <a:endParaRPr lang="ko-KR" altLang="en-US" sz="1050" dirty="0"/>
          </a:p>
        </p:txBody>
      </p:sp>
      <p:sp>
        <p:nvSpPr>
          <p:cNvPr id="68" name="Text 63"/>
          <p:cNvSpPr txBox="1"/>
          <p:nvPr/>
        </p:nvSpPr>
        <p:spPr>
          <a:xfrm>
            <a:off x="8089240" y="4434840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브랜치 전략 · PR 리뷰</a:t>
            </a:r>
            <a:endParaRPr lang="ko-KR" altLang="en-US" sz="1000" dirty="0"/>
          </a:p>
        </p:txBody>
      </p:sp>
      <p:sp>
        <p:nvSpPr>
          <p:cNvPr id="69" name="Text 64"/>
          <p:cNvSpPr txBox="1"/>
          <p:nvPr/>
        </p:nvSpPr>
        <p:spPr>
          <a:xfrm>
            <a:off x="10283800" y="4434840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프로젝트</a:t>
            </a:r>
            <a:endParaRPr lang="ko-KR" altLang="en-US" sz="900" dirty="0"/>
          </a:p>
        </p:txBody>
      </p:sp>
      <p:sp>
        <p:nvSpPr>
          <p:cNvPr id="70" name="Shape 65"/>
          <p:cNvSpPr/>
          <p:nvPr/>
        </p:nvSpPr>
        <p:spPr>
          <a:xfrm>
            <a:off x="6443320" y="4722876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6443320" y="4722876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ko-KR" altLang="en-US" sz="1050" dirty="0"/>
          </a:p>
        </p:txBody>
      </p:sp>
      <p:sp>
        <p:nvSpPr>
          <p:cNvPr id="72" name="Text 67"/>
          <p:cNvSpPr txBox="1"/>
          <p:nvPr/>
        </p:nvSpPr>
        <p:spPr>
          <a:xfrm>
            <a:off x="8089240" y="4722876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자동 점검 · 팀 알림</a:t>
            </a:r>
            <a:endParaRPr lang="ko-KR" altLang="en-US" sz="1000" dirty="0"/>
          </a:p>
        </p:txBody>
      </p:sp>
      <p:sp>
        <p:nvSpPr>
          <p:cNvPr id="73" name="Text 68"/>
          <p:cNvSpPr txBox="1"/>
          <p:nvPr/>
        </p:nvSpPr>
        <p:spPr>
          <a:xfrm>
            <a:off x="10283800" y="4722876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6443320" y="501091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75" name="Text 70"/>
          <p:cNvSpPr txBox="1"/>
          <p:nvPr/>
        </p:nvSpPr>
        <p:spPr>
          <a:xfrm>
            <a:off x="6443320" y="5010912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Vitest</a:t>
            </a:r>
            <a:endParaRPr lang="ko-KR" altLang="en-US" sz="1050" dirty="0"/>
          </a:p>
        </p:txBody>
      </p:sp>
      <p:sp>
        <p:nvSpPr>
          <p:cNvPr id="76" name="Text 71"/>
          <p:cNvSpPr txBox="1"/>
          <p:nvPr/>
        </p:nvSpPr>
        <p:spPr>
          <a:xfrm>
            <a:off x="8089240" y="5010912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훅·유틸 회귀 테스트</a:t>
            </a:r>
            <a:endParaRPr lang="ko-KR" altLang="en-US" sz="1000" dirty="0"/>
          </a:p>
        </p:txBody>
      </p:sp>
      <p:sp>
        <p:nvSpPr>
          <p:cNvPr id="77" name="Text 72"/>
          <p:cNvSpPr txBox="1"/>
          <p:nvPr/>
        </p:nvSpPr>
        <p:spPr>
          <a:xfrm>
            <a:off x="10283800" y="5010912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78" name="Shape 73"/>
          <p:cNvSpPr/>
          <p:nvPr/>
        </p:nvSpPr>
        <p:spPr>
          <a:xfrm>
            <a:off x="6443320" y="5298948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79" name="Text 74"/>
          <p:cNvSpPr txBox="1"/>
          <p:nvPr/>
        </p:nvSpPr>
        <p:spPr>
          <a:xfrm>
            <a:off x="6443320" y="5298948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JUnit · MockMvc</a:t>
            </a:r>
            <a:endParaRPr lang="ko-KR" altLang="en-US" sz="1050" dirty="0"/>
          </a:p>
        </p:txBody>
      </p:sp>
      <p:sp>
        <p:nvSpPr>
          <p:cNvPr id="80" name="Text 75"/>
          <p:cNvSpPr txBox="1"/>
          <p:nvPr/>
        </p:nvSpPr>
        <p:spPr>
          <a:xfrm>
            <a:off x="8089240" y="5298948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API · 권한 검증 테스트</a:t>
            </a:r>
            <a:endParaRPr lang="ko-KR" altLang="en-US" sz="1000" dirty="0"/>
          </a:p>
        </p:txBody>
      </p:sp>
      <p:sp>
        <p:nvSpPr>
          <p:cNvPr id="81" name="Text 76"/>
          <p:cNvSpPr txBox="1"/>
          <p:nvPr/>
        </p:nvSpPr>
        <p:spPr>
          <a:xfrm>
            <a:off x="10283800" y="5298948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82" name="Shape 77"/>
          <p:cNvSpPr/>
          <p:nvPr/>
        </p:nvSpPr>
        <p:spPr>
          <a:xfrm>
            <a:off x="6443320" y="5586984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6443320" y="5586984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pytest</a:t>
            </a:r>
            <a:endParaRPr lang="ko-KR" altLang="en-US" sz="1050" dirty="0"/>
          </a:p>
        </p:txBody>
      </p:sp>
      <p:sp>
        <p:nvSpPr>
          <p:cNvPr id="84" name="Text 79"/>
          <p:cNvSpPr txBox="1"/>
          <p:nvPr/>
        </p:nvSpPr>
        <p:spPr>
          <a:xfrm>
            <a:off x="8089240" y="5586984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예측 로직 테스트</a:t>
            </a:r>
            <a:endParaRPr lang="ko-KR" altLang="en-US" sz="1000" dirty="0"/>
          </a:p>
        </p:txBody>
      </p:sp>
      <p:sp>
        <p:nvSpPr>
          <p:cNvPr id="85" name="Text 80"/>
          <p:cNvSpPr txBox="1"/>
          <p:nvPr/>
        </p:nvSpPr>
        <p:spPr>
          <a:xfrm>
            <a:off x="10283800" y="5586984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86" name="Shape 81"/>
          <p:cNvSpPr/>
          <p:nvPr/>
        </p:nvSpPr>
        <p:spPr>
          <a:xfrm>
            <a:off x="6443320" y="587502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6443320" y="5875020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Jira · Discord · Slack</a:t>
            </a:r>
            <a:endParaRPr lang="ko-KR" altLang="en-US" sz="1000" dirty="0"/>
          </a:p>
        </p:txBody>
      </p:sp>
      <p:sp>
        <p:nvSpPr>
          <p:cNvPr id="88" name="Text 83"/>
          <p:cNvSpPr txBox="1"/>
          <p:nvPr/>
        </p:nvSpPr>
        <p:spPr>
          <a:xfrm>
            <a:off x="8089240" y="5875020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추적 · PR 알림봇 연동</a:t>
            </a:r>
            <a:endParaRPr lang="ko-KR" altLang="en-US" sz="1000" dirty="0"/>
          </a:p>
        </p:txBody>
      </p:sp>
      <p:sp>
        <p:nvSpPr>
          <p:cNvPr id="89" name="Text 84"/>
          <p:cNvSpPr txBox="1"/>
          <p:nvPr/>
        </p:nvSpPr>
        <p:spPr>
          <a:xfrm>
            <a:off x="10283800" y="5875020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90" name="Text 8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91" name="Text 8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68680"/>
            <a:ext cx="726694" cy="310896"/>
          </a:xfrm>
          <a:prstGeom prst="roundRect">
            <a:avLst>
              <a:gd name="adj" fmla="val 50000"/>
            </a:avLst>
          </a:prstGeom>
          <a:solidFill>
            <a:srgbClr val="231F35"/>
          </a:solidFill>
          <a:ln w="9525">
            <a:solidFill>
              <a:srgbClr val="5145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68680"/>
            <a:ext cx="7266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ko-KR" alt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4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96012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· DL · LLM 개인 프로젝트 3건과, 이를 서비스 기능으로 구현한 팀 프로젝트 1건입니다.</a:t>
            </a:r>
            <a:endParaRPr lang="ko-KR" alt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0640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52577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 ~ 2026.08 · 프로젝트 4건</a:t>
            </a:r>
            <a:endParaRPr lang="ko-KR" alt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38728"/>
            <a:ext cx="2389556" cy="1188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68096" y="4873752"/>
            <a:ext cx="891921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" y="4873752"/>
            <a:ext cx="8919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프로젝트</a:t>
            </a:r>
            <a:endParaRPr lang="ko-KR" alt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1714881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714881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68096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회의·업무·기록·평가를 AI가 하나의 흐름으로 잇는 협업 플랫폼</a:t>
            </a:r>
            <a:endParaRPr lang="ko-KR" alt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377108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6836" y="3538728"/>
            <a:ext cx="2389556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3596564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596564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096436" y="4873752"/>
            <a:ext cx="980440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096436" y="4873752"/>
            <a:ext cx="98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LLM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3596564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3596564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벡터로 검색하고, LLM이 도슨트처럼 해설해 주는 미술 감상 서비스</a:t>
            </a:r>
            <a:endParaRPr lang="ko-KR" alt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205576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5304" y="3538728"/>
            <a:ext cx="2389556" cy="1188720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25032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425032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6924904" y="4873752"/>
            <a:ext cx="375920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24904" y="4873752"/>
            <a:ext cx="37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</a:t>
            </a:r>
            <a:endParaRPr lang="ko-KR" alt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6425032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6425032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5개 미술 사조로 분류하는 딥러닝 모델</a:t>
            </a:r>
            <a:endParaRPr lang="ko-KR" alt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9034043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9143771" y="3538728"/>
            <a:ext cx="2389556" cy="1188720"/>
          </a:xfrm>
          <a:prstGeom prst="roundRect">
            <a:avLst>
              <a:gd name="adj" fmla="val 4615"/>
            </a:avLst>
          </a:prstGeom>
          <a:solidFill>
            <a:srgbClr val="222134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64229" y="3858768"/>
            <a:ext cx="548640" cy="54864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253499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253499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37" name="Shape 30"/>
          <p:cNvSpPr/>
          <p:nvPr/>
        </p:nvSpPr>
        <p:spPr>
          <a:xfrm>
            <a:off x="9753371" y="4873752"/>
            <a:ext cx="375920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753371" y="4873752"/>
            <a:ext cx="37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</a:t>
            </a:r>
            <a:endParaRPr lang="ko-KR" altLang="en-US" sz="850" dirty="0"/>
          </a:p>
        </p:txBody>
      </p:sp>
      <p:sp>
        <p:nvSpPr>
          <p:cNvPr id="39" name="Text 32"/>
          <p:cNvSpPr txBox="1"/>
          <p:nvPr/>
        </p:nvSpPr>
        <p:spPr>
          <a:xfrm>
            <a:off x="9253499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게이머 사회적 고립도 예측</a:t>
            </a:r>
            <a:endParaRPr lang="ko-KR" alt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9253499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행동·수면·정서 데이터로 사회적 고립 수준을 예측하는 회귀 모델</a:t>
            </a:r>
            <a:endParaRPr lang="ko-KR" altLang="en-US" sz="1050" dirty="0"/>
          </a:p>
        </p:txBody>
      </p:sp>
      <p:sp>
        <p:nvSpPr>
          <p:cNvPr id="41" name="Text 3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2" name="Text 3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968883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96888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프로젝트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590675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90675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프로젝트의 회의·업무·기록·평가를 AI가 하나의 흐름으로 잇는 협업 플랫폼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2026.07.09 ~ 08.07 (4주)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3팀 · 6인 기능 오너제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FS-3 대시보드 담당 — 화면 · API · DB · ML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938784" cy="274320"/>
          </a:xfrm>
          <a:prstGeom prst="roundRect">
            <a:avLst>
              <a:gd name="adj" fmla="val 26667"/>
            </a:avLst>
          </a:prstGeom>
          <a:solidFill>
            <a:srgbClr val="222134"/>
          </a:solidFill>
          <a:ln w="9525">
            <a:solidFill>
              <a:srgbClr val="4E4476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57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github.com/rhantj/work-flow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578864" y="3789680"/>
            <a:ext cx="1037844" cy="274320"/>
          </a:xfrm>
          <a:prstGeom prst="roundRect">
            <a:avLst>
              <a:gd name="adj" fmla="val 26667"/>
            </a:avLst>
          </a:prstGeom>
          <a:solidFill>
            <a:srgbClr val="222134"/>
          </a:solidFill>
          <a:ln w="9525">
            <a:solidFill>
              <a:srgbClr val="4E4476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8592" y="385368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889760" y="3789680"/>
            <a:ext cx="672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https://youtu.be/D5jy2qbKh7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시연 영상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3" name="Shape 16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4" name="Shape 17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5" name="Shape 18"/>
          <p:cNvSpPr/>
          <p:nvPr/>
        </p:nvSpPr>
        <p:spPr>
          <a:xfrm>
            <a:off x="7040880" y="608076"/>
            <a:ext cx="1454912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040880" y="608076"/>
            <a:ext cx="1454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workflow-ai · /dashboard</a:t>
            </a:r>
            <a:endParaRPr lang="ko-KR" altLang="en-US" sz="8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ko-KR" altLang="en-US" sz="2600" dirty="0"/>
          </a:p>
        </p:txBody>
      </p:sp>
      <p:sp>
        <p:nvSpPr>
          <p:cNvPr id="30" name="Text 22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</a:t>
            </a:r>
            <a:endParaRPr lang="ko-KR" alt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ko-KR" altLang="en-US" sz="2600" dirty="0"/>
          </a:p>
        </p:txBody>
      </p:sp>
      <p:sp>
        <p:nvSpPr>
          <p:cNvPr id="33" name="Text 25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</a:t>
            </a:r>
            <a:endParaRPr lang="ko-KR" alt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36" name="Text 28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모델</a:t>
            </a:r>
            <a:endParaRPr lang="ko-KR" alt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ko-KR" altLang="en-US" sz="2600" dirty="0"/>
          </a:p>
        </p:txBody>
      </p:sp>
      <p:sp>
        <p:nvSpPr>
          <p:cNvPr id="39" name="Text 31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훅</a:t>
            </a:r>
            <a:endParaRPr lang="ko-KR" alt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43" name="Text 34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회의록 AI가 만든 To-Do가 업무보드에 반영되면, 대시보드는 그 업무·활동 데이터로 지연 위험도와 업무 편중도를 계산해 보여줍니다. 다른 기능에서 쌓인 데이터를 조회·분석하는 부분입니다.</a:t>
            </a:r>
            <a:endParaRPr lang="ko-KR" altLang="en-US" sz="1150" dirty="0"/>
          </a:p>
        </p:txBody>
      </p:sp>
      <p:sp>
        <p:nvSpPr>
          <p:cNvPr id="44" name="Text 3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담당 기능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홈 + 상세 8화면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진행률 분석 · 블로커 관리 · 마감 임박 · 팀원별 업무량 · 최근 활동 · 전체 업무 관리를 역할(팀장/팀원)에 따라 다르게 노출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96432" y="1463040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15888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044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19392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집계 API 10개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019392" y="2029968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tasks · milestones · activities · ml_predictions 4개 테이블을 한 번에 집계. @PreAuthorize로 팀장 전용(마일스톤 CRUD)과 멤버 권한을 분리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130296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3349752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3454908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3331464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지연 위험도 예측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3697224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업무별 피처 약 35개를 생성해 정상/주의/위험 3분류. 체크리스트 진행률과 경과 시간의 차이(imbalance index)로 경과 시간 대비 진행이 더딘 업무를 탐지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96432" y="3130296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15888" y="3349752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1044" y="3454908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19392" y="3331464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업무 편중 점수</a:t>
            </a:r>
            <a:endParaRPr lang="ko-KR" alt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019392" y="3697224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규모에 따라 MAD 기반 Modified Z-score와 Isolation Forest를 자동 전환. 0~100 점수와 함께 과부하 의심 / 배정량 불균형을 구분해 판정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4797552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68096" y="501700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" y="5122164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71600" y="4998720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갱신 처리</a:t>
            </a:r>
            <a:endParaRPr lang="ko-KR" alt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1371600" y="5364480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15초마다 시그니처만 비교해 실제 변경이 있을 때만 갱신하므로 스크롤·선택 상태가 유지됨. 요청 세대 번호로 프로젝트 전환 시 도착한 이전 응답(stale)을 폐기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196432" y="4797552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415888" y="501700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1044" y="5122164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019392" y="4998720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계층 구조 · 착수보고서</a:t>
            </a:r>
            <a:endParaRPr lang="ko-KR" alt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7019392" y="5364480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계층 구조 초안을 제안했고, Frontend(React) / Backend(Spring Boot) / AI Backend(FastAPI) 3계층 대분류가 팀 표준으로 확정됨. 착수보고서 「개발 수행 계획」 작성</a:t>
            </a:r>
            <a:endParaRPr lang="ko-KR" alt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수치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흐름과 담당 산출물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8339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698" y="1796796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1792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대시보드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화면 · 훅 5개</a:t>
            </a:r>
            <a:endParaRPr lang="ko-KR" alt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220" y="2061972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04540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3929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598" y="179679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77692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3477692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· 권한 검증</a:t>
            </a:r>
            <a:endParaRPr lang="ko-KR" alt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120" y="2061972"/>
            <a:ext cx="219456" cy="21945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60440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729519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9498" y="1796796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333592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</a:t>
            </a:r>
            <a:endParaRPr lang="ko-KR" alt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6333592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테이블</a:t>
            </a:r>
            <a:endParaRPr lang="ko-KR" altLang="en-US" sz="10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42019" y="2061972"/>
            <a:ext cx="219456" cy="21945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116339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10151097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65397" y="1796796"/>
            <a:ext cx="228600" cy="2286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9189491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× 2</a:t>
            </a:r>
            <a:endParaRPr lang="ko-KR" altLang="en-US" sz="1300" dirty="0"/>
          </a:p>
        </p:txBody>
      </p:sp>
      <p:sp>
        <p:nvSpPr>
          <p:cNvPr id="26" name="Text 17"/>
          <p:cNvSpPr txBox="1"/>
          <p:nvPr/>
        </p:nvSpPr>
        <p:spPr>
          <a:xfrm>
            <a:off x="9189491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위험 · 업무 편중</a:t>
            </a:r>
            <a:endParaRPr lang="ko-KR" alt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48640" y="3118104"/>
            <a:ext cx="6309360" cy="3145536"/>
          </a:xfrm>
          <a:prstGeom prst="roundRect">
            <a:avLst>
              <a:gd name="adj" fmla="val 407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786384" y="3300984"/>
            <a:ext cx="5833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산출물</a:t>
            </a:r>
            <a:endParaRPr lang="ko-KR" altLang="en-US" sz="12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40080" y="3621024"/>
          <a:ext cx="6080760" cy="25054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30" name="Shape 20"/>
          <p:cNvSpPr/>
          <p:nvPr/>
        </p:nvSpPr>
        <p:spPr>
          <a:xfrm>
            <a:off x="7077456" y="3118104"/>
            <a:ext cx="4565599" cy="3145536"/>
          </a:xfrm>
          <a:prstGeom prst="roundRect">
            <a:avLst>
              <a:gd name="adj" fmla="val 407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315200" y="3300984"/>
            <a:ext cx="40901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기술</a:t>
            </a:r>
            <a:endParaRPr lang="ko-KR" alt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7315200" y="3721608"/>
            <a:ext cx="811149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315200" y="3721608"/>
            <a:ext cx="81114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</a:t>
            </a:r>
            <a:endParaRPr lang="ko-KR" altLang="en-US" sz="1050" dirty="0"/>
          </a:p>
        </p:txBody>
      </p:sp>
      <p:sp>
        <p:nvSpPr>
          <p:cNvPr id="34" name="Shape 24"/>
          <p:cNvSpPr/>
          <p:nvPr/>
        </p:nvSpPr>
        <p:spPr>
          <a:xfrm>
            <a:off x="8217789" y="3721608"/>
            <a:ext cx="963168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8217789" y="3721608"/>
            <a:ext cx="96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</a:t>
            </a:r>
            <a:endParaRPr lang="ko-KR" altLang="en-US" sz="1050" dirty="0"/>
          </a:p>
        </p:txBody>
      </p:sp>
      <p:sp>
        <p:nvSpPr>
          <p:cNvPr id="36" name="Shape 26"/>
          <p:cNvSpPr/>
          <p:nvPr/>
        </p:nvSpPr>
        <p:spPr>
          <a:xfrm>
            <a:off x="9272397" y="3721608"/>
            <a:ext cx="531114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9272397" y="3721608"/>
            <a:ext cx="5311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</a:t>
            </a:r>
            <a:endParaRPr lang="ko-KR" altLang="en-US" sz="1050" dirty="0"/>
          </a:p>
        </p:txBody>
      </p:sp>
      <p:sp>
        <p:nvSpPr>
          <p:cNvPr id="38" name="Shape 28"/>
          <p:cNvSpPr/>
          <p:nvPr/>
        </p:nvSpPr>
        <p:spPr>
          <a:xfrm>
            <a:off x="9894951" y="3721608"/>
            <a:ext cx="1229868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9894951" y="3721608"/>
            <a:ext cx="1229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4</a:t>
            </a:r>
            <a:endParaRPr lang="ko-KR" altLang="en-US" sz="1050" dirty="0"/>
          </a:p>
        </p:txBody>
      </p:sp>
      <p:sp>
        <p:nvSpPr>
          <p:cNvPr id="40" name="Shape 30"/>
          <p:cNvSpPr/>
          <p:nvPr/>
        </p:nvSpPr>
        <p:spPr>
          <a:xfrm>
            <a:off x="7315200" y="4105656"/>
            <a:ext cx="808482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315200" y="4105656"/>
            <a:ext cx="8084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Recharts</a:t>
            </a:r>
            <a:endParaRPr lang="ko-KR" altLang="en-US" sz="1050" dirty="0"/>
          </a:p>
        </p:txBody>
      </p:sp>
      <p:sp>
        <p:nvSpPr>
          <p:cNvPr id="42" name="Shape 32"/>
          <p:cNvSpPr/>
          <p:nvPr/>
        </p:nvSpPr>
        <p:spPr>
          <a:xfrm>
            <a:off x="8215122" y="4105656"/>
            <a:ext cx="1264539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8215122" y="4105656"/>
            <a:ext cx="12645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3.5</a:t>
            </a:r>
            <a:endParaRPr lang="ko-KR" altLang="en-US" sz="1050" dirty="0"/>
          </a:p>
        </p:txBody>
      </p:sp>
      <p:sp>
        <p:nvSpPr>
          <p:cNvPr id="44" name="Shape 34"/>
          <p:cNvSpPr/>
          <p:nvPr/>
        </p:nvSpPr>
        <p:spPr>
          <a:xfrm>
            <a:off x="9571101" y="4105656"/>
            <a:ext cx="741807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571101" y="4105656"/>
            <a:ext cx="7418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21</a:t>
            </a:r>
            <a:endParaRPr lang="ko-KR" alt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7315200" y="4489704"/>
            <a:ext cx="1299210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7315200" y="4489704"/>
            <a:ext cx="1299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1050" dirty="0"/>
          </a:p>
        </p:txBody>
      </p:sp>
      <p:sp>
        <p:nvSpPr>
          <p:cNvPr id="48" name="Shape 38"/>
          <p:cNvSpPr/>
          <p:nvPr/>
        </p:nvSpPr>
        <p:spPr>
          <a:xfrm>
            <a:off x="8705850" y="4489704"/>
            <a:ext cx="78714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9" name="Text 39"/>
          <p:cNvSpPr txBox="1"/>
          <p:nvPr/>
        </p:nvSpPr>
        <p:spPr>
          <a:xfrm>
            <a:off x="8705850" y="4489704"/>
            <a:ext cx="78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1050" dirty="0"/>
          </a:p>
        </p:txBody>
      </p:sp>
      <p:sp>
        <p:nvSpPr>
          <p:cNvPr id="50" name="Shape 40"/>
          <p:cNvSpPr/>
          <p:nvPr/>
        </p:nvSpPr>
        <p:spPr>
          <a:xfrm>
            <a:off x="9584436" y="4489704"/>
            <a:ext cx="1051179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1" name="Text 41"/>
          <p:cNvSpPr txBox="1"/>
          <p:nvPr/>
        </p:nvSpPr>
        <p:spPr>
          <a:xfrm>
            <a:off x="9584436" y="4489704"/>
            <a:ext cx="10511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1050" dirty="0"/>
          </a:p>
        </p:txBody>
      </p:sp>
      <p:sp>
        <p:nvSpPr>
          <p:cNvPr id="52" name="Shape 42"/>
          <p:cNvSpPr/>
          <p:nvPr/>
        </p:nvSpPr>
        <p:spPr>
          <a:xfrm>
            <a:off x="7315200" y="4873752"/>
            <a:ext cx="1696593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3" name="Text 43"/>
          <p:cNvSpPr txBox="1"/>
          <p:nvPr/>
        </p:nvSpPr>
        <p:spPr>
          <a:xfrm>
            <a:off x="7315200" y="4873752"/>
            <a:ext cx="16965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Supabase</a:t>
            </a:r>
            <a:endParaRPr lang="ko-KR" altLang="en-US" sz="1050" dirty="0"/>
          </a:p>
        </p:txBody>
      </p:sp>
      <p:sp>
        <p:nvSpPr>
          <p:cNvPr id="54" name="Shape 44"/>
          <p:cNvSpPr/>
          <p:nvPr/>
        </p:nvSpPr>
        <p:spPr>
          <a:xfrm>
            <a:off x="9103233" y="4873752"/>
            <a:ext cx="89382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5" name="Text 45"/>
          <p:cNvSpPr txBox="1"/>
          <p:nvPr/>
        </p:nvSpPr>
        <p:spPr>
          <a:xfrm>
            <a:off x="9103233" y="4873752"/>
            <a:ext cx="8938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LangSmith</a:t>
            </a:r>
            <a:endParaRPr lang="ko-KR" altLang="en-US" sz="1050" dirty="0"/>
          </a:p>
        </p:txBody>
      </p:sp>
      <p:sp>
        <p:nvSpPr>
          <p:cNvPr id="56" name="Shape 46"/>
          <p:cNvSpPr/>
          <p:nvPr/>
        </p:nvSpPr>
        <p:spPr>
          <a:xfrm>
            <a:off x="10088499" y="4873752"/>
            <a:ext cx="1227201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10088499" y="4873752"/>
            <a:ext cx="12272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ko-KR" altLang="en-US" sz="1050" dirty="0"/>
          </a:p>
        </p:txBody>
      </p:sp>
      <p:sp>
        <p:nvSpPr>
          <p:cNvPr id="58" name="Shape 48"/>
          <p:cNvSpPr/>
          <p:nvPr/>
        </p:nvSpPr>
        <p:spPr>
          <a:xfrm>
            <a:off x="7315200" y="5257800"/>
            <a:ext cx="1656588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7315200" y="5257800"/>
            <a:ext cx="1656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Jira · Slack · Discord</a:t>
            </a:r>
            <a:endParaRPr lang="ko-KR" altLang="en-US" sz="1050" dirty="0"/>
          </a:p>
        </p:txBody>
      </p:sp>
      <p:sp>
        <p:nvSpPr>
          <p:cNvPr id="60" name="Text 5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1" name="Text 5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화면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역할(팀장/팀원)에 따라 다르게 보이는 대시보드 상세 화면입니다. 카드 데이터는 Spring Boot 집계 API와 FastAPI 예측 결과를 사용합니다.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044" y="822960"/>
            <a:ext cx="3764128" cy="20894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팀원별 업무량 — ML 업무 편중 점수와 과부하 판정</a:t>
            </a:r>
            <a:endParaRPr lang="ko-KR" alt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1492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96122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810752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825383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6924" y="822960"/>
            <a:ext cx="3764128" cy="20894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81492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블로커 관리 — 심각도·지속시간·지연 위험 분석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4904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89534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404164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418795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1044" y="3767328"/>
            <a:ext cx="3764128" cy="20894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4904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진행률 — 일정 대비 진행률과 마일스톤 관리</a:t>
            </a:r>
            <a:endParaRPr lang="ko-KR" alt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81492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96122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5" name="Shape 20"/>
          <p:cNvSpPr/>
          <p:nvPr/>
        </p:nvSpPr>
        <p:spPr>
          <a:xfrm>
            <a:off x="810752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6" name="Shape 21"/>
          <p:cNvSpPr/>
          <p:nvPr/>
        </p:nvSpPr>
        <p:spPr>
          <a:xfrm>
            <a:off x="825383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924" y="3767328"/>
            <a:ext cx="3764128" cy="20894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81492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업무 관리 — 검색·필터·인라인 상태 변경</a:t>
            </a:r>
            <a:endParaRPr lang="ko-KR" alt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구조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구성도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범위: 대시보드 API(Backend API), 지연 위험도 · 업무 편중 모델(AI/ML Backend)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760720" cy="4151376"/>
          </a:xfrm>
          <a:prstGeom prst="roundRect">
            <a:avLst>
              <a:gd name="adj" fmla="val 1762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360490"/>
            <a:ext cx="5504688" cy="299655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구성도 — OCI Ubuntu 24.04 VM 한 대에서 컨테이너로 운영</a:t>
            </a:r>
            <a:endParaRPr lang="ko-KR" alt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547104" y="1783080"/>
            <a:ext cx="5095951" cy="4480560"/>
          </a:xfrm>
          <a:prstGeom prst="roundRect">
            <a:avLst>
              <a:gd name="adj" fmla="val 285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2039112"/>
            <a:ext cx="201168" cy="2011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114032" y="199339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lang="ko-KR" alt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812280" y="2559177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004304" y="2514600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ko-KR" alt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004304" y="2713482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 · React(TypeScript · Vite · Tailwind). /api/* 요청을 Backend로 리버스 프록시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812280" y="3254121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004304" y="3209544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API</a:t>
            </a:r>
            <a:endParaRPr lang="ko-KR" alt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004304" y="3408426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3.5 · Java 21, JWT · RBAC. 인증 · 업무보드 · 회의록 · 대시보드 API, FastAPI 호출</a:t>
            </a:r>
            <a:endParaRPr lang="ko-KR" alt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812280" y="3949065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04304" y="3904488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AI/ML Backend</a:t>
            </a:r>
            <a:endParaRPr lang="ko-KR" alt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004304" y="4103370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· Python 3.12. 회의록 분석 · To-Do 후보 추출, RAG Assistant, 지연 위험도 분석</a:t>
            </a:r>
            <a:endParaRPr lang="ko-KR" alt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812280" y="4644009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004304" y="4599432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큐</a:t>
            </a:r>
            <a:endParaRPr lang="ko-KR" alt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004304" y="4798314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+ pgvector(업무 · 회의록 · RAG 벡터), Redis(회의록 분석 비동기 큐)</a:t>
            </a:r>
            <a:endParaRPr lang="ko-KR" alt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6812280" y="5338953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004304" y="5294376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연동 · 배포</a:t>
            </a:r>
            <a:endParaRPr lang="ko-KR" alt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004304" y="5493258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Actions(main push → OCI 배포), Let's Encrypt, Google OAuth, Supabase Storage, Hugging Face</a:t>
            </a:r>
            <a:endParaRPr lang="ko-KR" alt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구조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계층 구조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366162" cy="3016568"/>
          </a:xfrm>
          <a:prstGeom prst="roundRect">
            <a:avLst>
              <a:gd name="adj" fmla="val 3092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17904"/>
            <a:ext cx="2256434" cy="2906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552760"/>
            <a:ext cx="2366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(React)</a:t>
            </a:r>
            <a:endParaRPr lang="ko-KR" alt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079394" y="1463040"/>
            <a:ext cx="2366162" cy="2902020"/>
          </a:xfrm>
          <a:prstGeom prst="roundRect">
            <a:avLst>
              <a:gd name="adj" fmla="val 3092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4258" y="1517904"/>
            <a:ext cx="2256434" cy="27922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079394" y="4438212"/>
            <a:ext cx="2366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(Spring Boot)</a:t>
            </a:r>
            <a:endParaRPr lang="ko-KR" alt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610149" y="1463040"/>
            <a:ext cx="2366162" cy="1823890"/>
          </a:xfrm>
          <a:prstGeom prst="roundRect">
            <a:avLst>
              <a:gd name="adj" fmla="val 4011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5013" y="1517904"/>
            <a:ext cx="2256434" cy="171416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610149" y="3360082"/>
            <a:ext cx="2366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Backend (FastAPI)</a:t>
            </a:r>
            <a:endParaRPr lang="ko-KR" alt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8214055" y="1463040"/>
            <a:ext cx="3429000" cy="4800600"/>
          </a:xfrm>
          <a:prstGeom prst="roundRect">
            <a:avLst>
              <a:gd name="adj" fmla="val 37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0087" y="1719072"/>
            <a:ext cx="201168" cy="20116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780983" y="167335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계층 구조</a:t>
            </a:r>
            <a:endParaRPr lang="ko-KR" altLang="en-US" sz="1350" dirty="0"/>
          </a:p>
        </p:txBody>
      </p:sp>
      <p:sp>
        <p:nvSpPr>
          <p:cNvPr id="16" name="Text 10"/>
          <p:cNvSpPr txBox="1"/>
          <p:nvPr/>
        </p:nvSpPr>
        <p:spPr>
          <a:xfrm>
            <a:off x="8470087" y="2194560"/>
            <a:ext cx="2916936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00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6명이 같은 구조에서 작업할 수 있도록 초안을 제안했고, Frontend / Backend / AI Backend 3계층 대분류가 팀 표준으로 확정되었습니다.</a:t>
            </a:r>
            <a:endParaRPr lang="ko-KR" alt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8479231" y="3181191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671255" y="3132328"/>
            <a:ext cx="2715768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(React)</a:t>
            </a:r>
            <a:endParaRPr lang="ko-KR" alt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8671255" y="3339783"/>
            <a:ext cx="2715768" cy="524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폴더(components · hooks · libs · screen)와 공통 global 폴더(api · store · styles 등)로 구분</a:t>
            </a:r>
            <a:endParaRPr lang="ko-KR" alt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8479231" y="4078065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671255" y="4029202"/>
            <a:ext cx="2715768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(Spring Boot)</a:t>
            </a:r>
            <a:endParaRPr lang="ko-KR" alt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8671255" y="4236657"/>
            <a:ext cx="2715768" cy="524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폴더 안에 entity → repository → service → DTO → controller, 공통은 global(config · queue · client · error)</a:t>
            </a:r>
            <a:endParaRPr lang="ko-KR" alt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8479231" y="4974939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8671255" y="4926076"/>
            <a:ext cx="2715768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Backend (FastAPI)</a:t>
            </a:r>
            <a:endParaRPr lang="ko-KR" alt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8671255" y="5133531"/>
            <a:ext cx="2715768" cy="524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설정 core(config · logging · exceptions · middleware · queue)와 모델별 폴더(routers · schema · services)</a:t>
            </a:r>
            <a:endParaRPr lang="ko-KR" alt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PROBLEM SOLVING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해결 사례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개발 중 확인한 문제와 처리 과정입니다. 문제 · 분석 · 행동 · 결과 순으로 정리했습니다.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783080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417320" y="196961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2074774"/>
            <a:ext cx="210312" cy="2103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011680" y="189280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요약 API의 N+1 조회</a:t>
            </a:r>
            <a:endParaRPr lang="ko-KR" alt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011680" y="2221992"/>
            <a:ext cx="7569657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업무·활동 건수와 관계없이 사용자 조회가 1회로 고정됩니다.</a:t>
            </a:r>
            <a:endParaRPr lang="ko-KR" alt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855657" y="2056486"/>
            <a:ext cx="46456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855657" y="2056486"/>
            <a:ext cx="46456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</a:t>
            </a:r>
            <a:endParaRPr lang="ko-KR" alt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0393375" y="2056486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393375" y="2056486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</a:t>
            </a:r>
            <a:endParaRPr lang="ko-KR" alt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0935919" y="2056486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935919" y="2056486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</a:t>
            </a:r>
            <a:endParaRPr lang="ko-KR" alt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2704795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6384" y="2704795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417320" y="2891333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476" y="2996489"/>
            <a:ext cx="210312" cy="21031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011680" y="2814523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팀에서 Isolation Forest의 과부하 미탐지</a:t>
            </a:r>
            <a:endParaRPr lang="ko-KR" alt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2011680" y="3143707"/>
            <a:ext cx="7181164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5~9명 규모에서도 과부하 팀원이 이상치로 탐지됩니다.</a:t>
            </a:r>
            <a:endParaRPr lang="ko-KR" alt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9467164" y="2978201"/>
            <a:ext cx="85305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467164" y="2978201"/>
            <a:ext cx="8530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탐지</a:t>
            </a:r>
            <a:endParaRPr lang="ko-KR" alt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10393375" y="2978201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393375" y="2978201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</a:t>
            </a:r>
            <a:endParaRPr lang="ko-KR" alt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10935919" y="2978201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35919" y="2978201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</a:t>
            </a:r>
            <a:endParaRPr lang="ko-KR" alt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3626510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86384" y="3626510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2000" dirty="0"/>
          </a:p>
        </p:txBody>
      </p:sp>
      <p:sp>
        <p:nvSpPr>
          <p:cNvPr id="31" name="Shape 27"/>
          <p:cNvSpPr/>
          <p:nvPr/>
        </p:nvSpPr>
        <p:spPr>
          <a:xfrm>
            <a:off x="1417320" y="381304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2476" y="3918204"/>
            <a:ext cx="210312" cy="210312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2011680" y="373623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장애 시 모델별 처리 방식</a:t>
            </a:r>
            <a:endParaRPr lang="ko-KR" alt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2011680" y="4065422"/>
            <a:ext cx="6763715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서버가 응답하지 않아도 대시보드 화면은 표시되고, 값을 불러오지 못한 카드는 "0명" 대신 "…명"으로 표시됩니다.</a:t>
            </a:r>
            <a:endParaRPr lang="ko-KR" alt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9049715" y="3899916"/>
            <a:ext cx="73723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9049715" y="3899916"/>
            <a:ext cx="7372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</a:t>
            </a:r>
            <a:endParaRPr lang="ko-KR" alt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9860102" y="3899916"/>
            <a:ext cx="73723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9860102" y="3899916"/>
            <a:ext cx="7372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설계</a:t>
            </a:r>
            <a:endParaRPr lang="ko-KR" alt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10670489" y="3899916"/>
            <a:ext cx="73482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0670489" y="3899916"/>
            <a:ext cx="73482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548640" y="4548226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86384" y="4548226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ko-KR" altLang="en-US" sz="2000" dirty="0"/>
          </a:p>
        </p:txBody>
      </p:sp>
      <p:sp>
        <p:nvSpPr>
          <p:cNvPr id="43" name="Shape 38"/>
          <p:cNvSpPr/>
          <p:nvPr/>
        </p:nvSpPr>
        <p:spPr>
          <a:xfrm>
            <a:off x="1417320" y="4734763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2476" y="4839919"/>
            <a:ext cx="210312" cy="210312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2011680" y="4657954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타임존에 따른 날짜 표시 차이</a:t>
            </a:r>
            <a:endParaRPr lang="ko-KR" altLang="en-US" sz="1400" dirty="0"/>
          </a:p>
        </p:txBody>
      </p:sp>
      <p:sp>
        <p:nvSpPr>
          <p:cNvPr id="46" name="Text 40"/>
          <p:cNvSpPr txBox="1"/>
          <p:nvPr/>
        </p:nvSpPr>
        <p:spPr>
          <a:xfrm>
            <a:off x="2011680" y="4987138"/>
            <a:ext cx="7181164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타임존과 관계없이 모든 사용자에게 같은 날짜가 표시됩니다.</a:t>
            </a:r>
            <a:endParaRPr lang="ko-KR" alt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9467164" y="4821631"/>
            <a:ext cx="58521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9467164" y="4821631"/>
            <a:ext cx="5852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타임존</a:t>
            </a:r>
            <a:endParaRPr lang="ko-KR" alt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10125532" y="4821631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10125532" y="4821631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KST</a:t>
            </a:r>
            <a:endParaRPr lang="ko-KR" altLang="en-US" sz="950" dirty="0"/>
          </a:p>
        </p:txBody>
      </p:sp>
      <p:sp>
        <p:nvSpPr>
          <p:cNvPr id="51" name="Shape 45"/>
          <p:cNvSpPr/>
          <p:nvPr/>
        </p:nvSpPr>
        <p:spPr>
          <a:xfrm>
            <a:off x="10668076" y="4821631"/>
            <a:ext cx="73723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0668076" y="4821631"/>
            <a:ext cx="7372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처리</a:t>
            </a:r>
            <a:endParaRPr lang="ko-KR" altLang="en-US" sz="950" dirty="0"/>
          </a:p>
        </p:txBody>
      </p:sp>
      <p:sp>
        <p:nvSpPr>
          <p:cNvPr id="53" name="Shape 47"/>
          <p:cNvSpPr/>
          <p:nvPr/>
        </p:nvSpPr>
        <p:spPr>
          <a:xfrm>
            <a:off x="548640" y="5469941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786384" y="5469941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ko-KR" altLang="en-US" sz="2000" dirty="0"/>
          </a:p>
        </p:txBody>
      </p:sp>
      <p:sp>
        <p:nvSpPr>
          <p:cNvPr id="55" name="Shape 49"/>
          <p:cNvSpPr/>
          <p:nvPr/>
        </p:nvSpPr>
        <p:spPr>
          <a:xfrm>
            <a:off x="1417320" y="565647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2476" y="5761634"/>
            <a:ext cx="210312" cy="210312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011680" y="5579669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→ FastAPI 호출 실패</a:t>
            </a:r>
            <a:endParaRPr lang="ko-KR" altLang="en-US" sz="1400" dirty="0"/>
          </a:p>
        </p:txBody>
      </p:sp>
      <p:sp>
        <p:nvSpPr>
          <p:cNvPr id="58" name="Text 51"/>
          <p:cNvSpPr txBox="1"/>
          <p:nvPr/>
        </p:nvSpPr>
        <p:spPr>
          <a:xfrm>
            <a:off x="2011680" y="5908853"/>
            <a:ext cx="6749237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ML 서버 호출이 정상적으로 응답을 받고, 장애 시 대기 시간은 최대 30초로 제한됩니다.</a:t>
            </a:r>
            <a:endParaRPr lang="ko-KR" alt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9035237" y="5743346"/>
            <a:ext cx="669671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9035237" y="5743346"/>
            <a:ext cx="66967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</a:t>
            </a:r>
            <a:endParaRPr lang="ko-KR" altLang="en-US" sz="950" dirty="0"/>
          </a:p>
        </p:txBody>
      </p:sp>
      <p:sp>
        <p:nvSpPr>
          <p:cNvPr id="61" name="Shape 54"/>
          <p:cNvSpPr/>
          <p:nvPr/>
        </p:nvSpPr>
        <p:spPr>
          <a:xfrm>
            <a:off x="9778060" y="5743346"/>
            <a:ext cx="70104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2" name="Text 55"/>
          <p:cNvSpPr txBox="1"/>
          <p:nvPr/>
        </p:nvSpPr>
        <p:spPr>
          <a:xfrm>
            <a:off x="9778060" y="5743346"/>
            <a:ext cx="70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</a:t>
            </a:r>
            <a:endParaRPr lang="ko-KR" alt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10552252" y="5743346"/>
            <a:ext cx="85305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4" name="Text 57"/>
          <p:cNvSpPr txBox="1"/>
          <p:nvPr/>
        </p:nvSpPr>
        <p:spPr>
          <a:xfrm>
            <a:off x="10552252" y="5743346"/>
            <a:ext cx="8530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연동</a:t>
            </a:r>
            <a:endParaRPr lang="ko-KR" altLang="en-US" sz="950" dirty="0"/>
          </a:p>
        </p:txBody>
      </p:sp>
      <p:sp>
        <p:nvSpPr>
          <p:cNvPr id="65" name="Text 5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6" name="Text 5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01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요약 API의 N+1 조회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307592"/>
          </a:xfrm>
          <a:prstGeom prst="roundRect">
            <a:avLst>
              <a:gd name="adj" fmla="val 979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796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796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825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요약 API가 업무·활동·팀원마다 UserRepository.findById를 반복 호출해, DB 왕복이 레코드 수만큼 늘어났습니다.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7086600" cy="1536192"/>
          </a:xfrm>
          <a:prstGeom prst="roundRect">
            <a:avLst>
              <a:gd name="adj" fmla="val 8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5661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690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172968"/>
            <a:ext cx="5852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필요한 값은 담당자 이름뿐이라 연관관계 매핑을 새로 추가할 필요는 없다고 보았습니다. 조회할 id를 먼저 모아 한 번에 가져오면 기존 도메인 구조를 바꾸지 않고 왕복 횟수만 줄일 수 있다고 판단했습니다.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7086600" cy="1536192"/>
          </a:xfrm>
          <a:prstGeom prst="roundRect">
            <a:avLst>
              <a:gd name="adj" fmla="val 8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2669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7698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73752"/>
            <a:ext cx="5852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업무·활동·팀원에서 필요한 user id를 Set으로 모아 findAllById 한 번으로 조회하고, 같은 방식을 조회 메서드 5곳에 적용했습니다. 읽기 메서드에는 @Transactional(readOnly = true)를 붙였습니다.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업무·활동 건수와 관계없이 사용자 조회가 1회로 고정됩니다.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4765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476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678672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78672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233408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233408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02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팀에서 Isolation Forest의 과부하 미탐지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383792"/>
          </a:xfrm>
          <a:prstGeom prst="roundRect">
            <a:avLst>
              <a:gd name="adj" fmla="val 925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0177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17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206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091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편중 이상치 탐지에서, 팀원이 5~9명일 때 과부하가 분명한 팀원을 이상치로 잡지 못하는 사례가 있었습니다.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02864"/>
            <a:ext cx="7086600" cy="1612392"/>
          </a:xfrm>
          <a:prstGeom prst="roundRect">
            <a:avLst>
              <a:gd name="adj" fmla="val 79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804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33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249168"/>
            <a:ext cx="5852160" cy="13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Isolation Forest는 표본이 적으면 트리 분할이 불안정해집니다. 팀 규모는 바꿀 수 없으므로 표본 수에 맞는 방식이 필요하다고 보고, 소표본에서 안정적인 MAD 기반 Modified Z-score를 검토했습니다(임계값 3.5는 Iglewicz &amp; Hoaglin 권장치).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79848"/>
            <a:ext cx="7086600" cy="1383792"/>
          </a:xfrm>
          <a:prstGeom prst="roundRect">
            <a:avLst>
              <a:gd name="adj" fmla="val 925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431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43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460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5026152"/>
            <a:ext cx="5852160" cy="1091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수가 15명 미만이면 MAD 기반으로 전환하도록 분기했습니다. MAD가 0이면 표준편차로 대체하고, 표준편차도 0인 피처는 구분에 쓸 수 없어 판단에서 제외했습니다.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5~9명 규모에서도 과부하 팀원이 이상치로 탐지됩니다.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88544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885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탐지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9087612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87612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642348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42348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03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장애 시 모델별 처리 방식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307592"/>
          </a:xfrm>
          <a:prstGeom prst="roundRect">
            <a:avLst>
              <a:gd name="adj" fmla="val 979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796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796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825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두 대(지연 위험도·업무 편중)의 호출 실패를 같은 방식으로 처리하면, 한쪽은 화면 표시가 불필요하게 실패하고 다른 쪽은 잘못된 값을 보여주게 됩니다.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7086600" cy="1536192"/>
          </a:xfrm>
          <a:prstGeom prst="roundRect">
            <a:avLst>
              <a:gd name="adj" fmla="val 8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5661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690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172968"/>
            <a:ext cx="5852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모델은 저장 방식이 다릅니다. 지연 위험도는 ml_predictions에 이력이 남아 이전 값을 쓸 수 있고, 업무 편중은 호출 시점마다 계산하는 값이라 캐시가 없습니다. 그래서 실패 처리도 저장 방식에 맞춰 나누기로 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7086600" cy="1536192"/>
          </a:xfrm>
          <a:prstGeom prst="roundRect">
            <a:avLst>
              <a:gd name="adj" fmla="val 8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2669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7698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73752"/>
            <a:ext cx="5852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위험도는 예외를 처리하고 마지막으로 저장된 예측을 응답하도록, 업무 편중은 503 WORKLOAD_SCORE_UNAVAILABLE을 반환하도록 나눴습니다. 연결 3초·읽기 30초 타임아웃도 설정했습니다.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서버가 응답하지 않아도 대시보드 화면은 표시되고, 값을 불러오지 못한 카드는 "0명" 대신 "…명"으로 표시됩니다.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7635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965692" y="5715000"/>
            <a:ext cx="7635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65692" y="5715000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설계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802368" y="5715000"/>
            <a:ext cx="7609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02368" y="5715000"/>
            <a:ext cx="76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04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타임존에 따른 날짜 표시 차이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231392"/>
          </a:xfrm>
          <a:prstGeom prst="roundRect">
            <a:avLst>
              <a:gd name="adj" fmla="val 1039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415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41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444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완료일과 경과일이 사용자의 브라우저 타임존에 따라 하루씩 다르게 표시됐습니다.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950464"/>
            <a:ext cx="7086600" cy="1688592"/>
          </a:xfrm>
          <a:prstGeom prst="roundRect">
            <a:avLst>
              <a:gd name="adj" fmla="val 758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5661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690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96768"/>
            <a:ext cx="58521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JVM은 Asia/Seoul로 고정돼 있지만 LocalDateTime 문자열에는 오프셋이 없어, 브라우저가 로컬 타임존으로 해석한 것이 원인이었습니다. 응답 포맷을 바꾸면 다른 담당자의 API에도 영향이 있어 프론트엔드의 파싱 단계에서 보정하기로 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03648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050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05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079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949952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오프셋이 없는 문자열에 +09:00을 붙여 파싱하고, "3일 이상 미업데이트" 같은 임계값 판정용(경과 시간 기준)과 화면 라벨용(날짜 경계 기준)을 별도 함수로 나눴습니다.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타임존과 관계없이 모든 사용자에게 같은 날짜가 표시됩니다.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6035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타임존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805672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805672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KST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360408" y="5715000"/>
            <a:ext cx="7635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360408" y="5715000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처리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05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→ FastAPI 호출 실패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307592"/>
          </a:xfrm>
          <a:prstGeom prst="roundRect">
            <a:avLst>
              <a:gd name="adj" fmla="val 979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796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796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825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Boot에서 내부 ML 서버(FastAPI)로 보낸 요청이 응답을 받지 못하고 실패했습니다.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7086600" cy="1764792"/>
          </a:xfrm>
          <a:prstGeom prst="roundRect">
            <a:avLst>
              <a:gd name="adj" fmla="val 7254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804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33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172968"/>
            <a:ext cx="585216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JDK HttpClient가 plaintext(http://) 대상에도 기본적으로 HTTP/2(h2c) 업그레이드를 시도하는데, uvicorn이 이를 지원하지 않는 것이 원인이었습니다. 서버를 바꾸는 것보다 클라이언트에서 프로토콜을 지정하는 편이 영향 범위가 작다고 판단했습니다.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956048"/>
            <a:ext cx="7086600" cy="1307592"/>
          </a:xfrm>
          <a:prstGeom prst="roundRect">
            <a:avLst>
              <a:gd name="adj" fmla="val 979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812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812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841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5102352"/>
            <a:ext cx="5852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HttpClient에 HTTP_1_1을 지정하고, 응답을 무한정 기다리지 않도록 연결 3초·읽기 30초 타임아웃을 설정했습니다.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ML 서버 호출이 정상적으로 응답을 받고, 장애 시 대기 시간은 최대 30초로 제한됩니다.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6924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692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894572" y="5715000"/>
            <a:ext cx="7254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894572" y="5715000"/>
            <a:ext cx="725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693148" y="5715000"/>
            <a:ext cx="88544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93148" y="5715000"/>
            <a:ext cx="885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연동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20</a:t>
            </a:fld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91184" y="868680"/>
            <a:ext cx="1067816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1184" y="868680"/>
            <a:ext cx="1067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LLM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벡터로 검색하고, LLM이 도슨트처럼 해설해 주는 미술 감상 서비스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2026.07.03 ~ 07.07 (5일)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데이터 구축 · 모델 · 앱 구현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84454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84454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250442" y="3844544"/>
            <a:ext cx="112331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250442" y="3844544"/>
            <a:ext cx="112331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ViT-B/32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2446909" y="3844544"/>
            <a:ext cx="78308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446909" y="3844544"/>
            <a:ext cx="78308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303143" y="3844544"/>
            <a:ext cx="145872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03143" y="3844544"/>
            <a:ext cx="145872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SentenceTransformer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835017" y="3844544"/>
            <a:ext cx="107505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835017" y="3844544"/>
            <a:ext cx="10750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· Gemma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548640" y="4164584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48640" y="4164584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1091184" y="416458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091184" y="416458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endParaRPr lang="ko-KR" alt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1981200" y="4164584"/>
            <a:ext cx="1176401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981200" y="4164584"/>
            <a:ext cx="117640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DuckDuckGo API</a:t>
            </a:r>
            <a:endParaRPr lang="ko-KR" alt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548640"/>
            <a:ext cx="2843288" cy="3378625"/>
          </a:xfrm>
          <a:prstGeom prst="rect">
            <a:avLst/>
          </a:prstGeom>
        </p:spPr>
      </p:pic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6968" y="548640"/>
            <a:ext cx="2216088" cy="337862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400800" y="4000417"/>
            <a:ext cx="3209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대표 이미지 — 페르메이르, 회화의 기술</a:t>
            </a:r>
            <a:endParaRPr lang="ko-KR" alt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9426968" y="4000417"/>
            <a:ext cx="2216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도슨트 해설 컨셉</a:t>
            </a:r>
            <a:endParaRPr lang="ko-KR" alt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42,500</a:t>
            </a:r>
            <a:endParaRPr lang="ko-KR" altLang="en-US" sz="2600" dirty="0"/>
          </a:p>
        </p:txBody>
      </p:sp>
      <p:sp>
        <p:nvSpPr>
          <p:cNvPr id="37" name="Text 30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특징 벡터</a:t>
            </a:r>
            <a:endParaRPr lang="ko-KR" alt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6,299</a:t>
            </a:r>
            <a:endParaRPr lang="ko-KR" altLang="en-US" sz="2600" dirty="0"/>
          </a:p>
        </p:txBody>
      </p:sp>
      <p:sp>
        <p:nvSpPr>
          <p:cNvPr id="40" name="Text 33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문서</a:t>
            </a:r>
            <a:endParaRPr lang="ko-KR" altLang="en-US" sz="1050" dirty="0"/>
          </a:p>
        </p:txBody>
      </p:sp>
      <p:sp>
        <p:nvSpPr>
          <p:cNvPr id="41" name="Shape 34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ko-KR" altLang="en-US" sz="2600" dirty="0"/>
          </a:p>
        </p:txBody>
      </p:sp>
      <p:sp>
        <p:nvSpPr>
          <p:cNvPr id="43" name="Text 36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미술 사조</a:t>
            </a:r>
            <a:endParaRPr lang="ko-KR" altLang="en-US" sz="1050" dirty="0"/>
          </a:p>
        </p:txBody>
      </p:sp>
      <p:sp>
        <p:nvSpPr>
          <p:cNvPr id="44" name="Shape 37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</a:t>
            </a:r>
            <a:endParaRPr lang="ko-KR" altLang="en-US" sz="2600" dirty="0"/>
          </a:p>
        </p:txBody>
      </p:sp>
      <p:sp>
        <p:nvSpPr>
          <p:cNvPr id="46" name="Text 39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차원</a:t>
            </a:r>
            <a:endParaRPr lang="ko-KR" alt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50" name="Text 42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분류 모델을 특징 추출기로 재활용하고, 검색 결과를 ML 추천과 LLM 해설에 연결했습니다. 한 사용자 흐름 안에서 ML·DL·LLM을 함께 사용합니다.</a:t>
            </a:r>
            <a:endParaRPr lang="ko-KR" altLang="en-US" sz="1150" dirty="0"/>
          </a:p>
        </p:txBody>
      </p:sp>
      <p:sp>
        <p:nvSpPr>
          <p:cNvPr id="51" name="Text 4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2" name="Text 4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21</a:t>
            </a:fld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 · ML + DL + LLM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파이프라인과 구현 기능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9780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08" y="1796796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179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/ 키워드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입력</a:t>
            </a:r>
            <a:endParaRPr lang="ko-KR" alt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9040" y="2039112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83336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58252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6828" y="179679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0651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· centroid</a:t>
            </a:r>
            <a:endParaRPr lang="ko-KR" alt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290651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 · 대표 벡터</a:t>
            </a:r>
            <a:endParaRPr lang="ko-KR" alt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3760" y="2039112"/>
            <a:ext cx="219456" cy="21945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511808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586724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1548" y="1796796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19123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</a:t>
            </a:r>
            <a:endParaRPr lang="ko-KR" alt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519123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유사도 Top-K</a:t>
            </a:r>
            <a:endParaRPr lang="ko-KR" altLang="en-US" sz="10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8480" y="2039112"/>
            <a:ext cx="219456" cy="21945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740280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8151967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6267" y="1796796"/>
            <a:ext cx="228600" cy="2286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47595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RAG</a:t>
            </a:r>
            <a:endParaRPr lang="ko-KR" altLang="en-US" sz="1300" dirty="0"/>
          </a:p>
        </p:txBody>
      </p:sp>
      <p:sp>
        <p:nvSpPr>
          <p:cNvPr id="26" name="Text 17"/>
          <p:cNvSpPr txBox="1"/>
          <p:nvPr/>
        </p:nvSpPr>
        <p:spPr>
          <a:xfrm>
            <a:off x="747595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소장품 근거 검색</a:t>
            </a:r>
            <a:endParaRPr lang="ko-KR" altLang="en-US" sz="10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13199" y="2039112"/>
            <a:ext cx="219456" cy="219456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687519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10436687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0987" y="1796796"/>
            <a:ext cx="228600" cy="22860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0671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Gemma</a:t>
            </a:r>
            <a:endParaRPr lang="ko-KR" altLang="en-US" sz="1300" dirty="0"/>
          </a:p>
        </p:txBody>
      </p:sp>
      <p:sp>
        <p:nvSpPr>
          <p:cNvPr id="32" name="Text 21"/>
          <p:cNvSpPr txBox="1"/>
          <p:nvPr/>
        </p:nvSpPr>
        <p:spPr>
          <a:xfrm>
            <a:off x="9760671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도슨트 해설</a:t>
            </a:r>
            <a:endParaRPr lang="ko-KR" altLang="en-US" sz="1000" dirty="0"/>
          </a:p>
        </p:txBody>
      </p:sp>
      <p:sp>
        <p:nvSpPr>
          <p:cNvPr id="33" name="Shape 22"/>
          <p:cNvSpPr/>
          <p:nvPr/>
        </p:nvSpPr>
        <p:spPr>
          <a:xfrm>
            <a:off x="548640" y="3054096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Shape 23"/>
          <p:cNvSpPr/>
          <p:nvPr/>
        </p:nvSpPr>
        <p:spPr>
          <a:xfrm>
            <a:off x="768096" y="3273552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4964" y="3360420"/>
            <a:ext cx="173736" cy="17373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1261872" y="3273552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분위기 기반 추천 (ML)</a:t>
            </a:r>
            <a:endParaRPr lang="ko-KR" altLang="en-US" sz="13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" y="3749040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감성 키워드를 미술 사조에 매핑하고, 사조별 벡터 centroid를 query로 코사인 유사도 Top-K 검색. 별도의 자연어 임베딩 학습 없이 추천 근거를 제시할 수 있음</a:t>
            </a:r>
            <a:endParaRPr lang="ko-KR" altLang="en-US" sz="1000" dirty="0"/>
          </a:p>
        </p:txBody>
      </p:sp>
      <p:sp>
        <p:nvSpPr>
          <p:cNvPr id="38" name="Shape 26"/>
          <p:cNvSpPr/>
          <p:nvPr/>
        </p:nvSpPr>
        <p:spPr>
          <a:xfrm>
            <a:off x="4307738" y="3054096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9" name="Shape 27"/>
          <p:cNvSpPr/>
          <p:nvPr/>
        </p:nvSpPr>
        <p:spPr>
          <a:xfrm>
            <a:off x="4527194" y="3273552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14062" y="3360420"/>
            <a:ext cx="173736" cy="17373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5020970" y="3273552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유사도 검색 (DL)</a:t>
            </a:r>
            <a:endParaRPr lang="ko-KR" altLang="en-US" sz="1300" dirty="0"/>
          </a:p>
        </p:txBody>
      </p:sp>
      <p:sp>
        <p:nvSpPr>
          <p:cNvPr id="42" name="Text 29"/>
          <p:cNvSpPr txBox="1"/>
          <p:nvPr/>
        </p:nvSpPr>
        <p:spPr>
          <a:xfrm>
            <a:off x="4527194" y="3749040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ViT-B/32로 업로드 이미지를 임베딩해 ChromaDB에서 시각적으로 가까운 작품을 조회. 기존 분류 모델을 '특징 추출기'로 재활용</a:t>
            </a:r>
            <a:endParaRPr lang="ko-KR" alt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8066837" y="3054096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4" name="Shape 31"/>
          <p:cNvSpPr/>
          <p:nvPr/>
        </p:nvSpPr>
        <p:spPr>
          <a:xfrm>
            <a:off x="8286293" y="3273552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45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73161" y="3360420"/>
            <a:ext cx="173736" cy="17373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8780069" y="3273552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RAG</a:t>
            </a:r>
            <a:endParaRPr lang="ko-KR" altLang="en-US" sz="1300" dirty="0"/>
          </a:p>
        </p:txBody>
      </p:sp>
      <p:sp>
        <p:nvSpPr>
          <p:cNvPr id="47" name="Text 33"/>
          <p:cNvSpPr txBox="1"/>
          <p:nvPr/>
        </p:nvSpPr>
        <p:spPr>
          <a:xfrm>
            <a:off x="8286293" y="3749040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국립현대미술관·서울시립미술관 소장품 메타데이터를 다국어 임베딩으로 인덱싱해 해설의 근거로 사용</a:t>
            </a:r>
            <a:endParaRPr lang="ko-KR" altLang="en-US" sz="1000" dirty="0"/>
          </a:p>
        </p:txBody>
      </p:sp>
      <p:sp>
        <p:nvSpPr>
          <p:cNvPr id="48" name="Shape 34"/>
          <p:cNvSpPr/>
          <p:nvPr/>
        </p:nvSpPr>
        <p:spPr>
          <a:xfrm>
            <a:off x="548640" y="4750308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9" name="Shape 35"/>
          <p:cNvSpPr/>
          <p:nvPr/>
        </p:nvSpPr>
        <p:spPr>
          <a:xfrm>
            <a:off x="768096" y="4969764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4964" y="5056632"/>
            <a:ext cx="173736" cy="173736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1261872" y="4969764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큐레이션</a:t>
            </a:r>
            <a:endParaRPr lang="ko-KR" altLang="en-US" sz="1300" dirty="0"/>
          </a:p>
        </p:txBody>
      </p:sp>
      <p:sp>
        <p:nvSpPr>
          <p:cNvPr id="52" name="Text 37"/>
          <p:cNvSpPr txBox="1"/>
          <p:nvPr/>
        </p:nvSpPr>
        <p:spPr>
          <a:xfrm>
            <a:off x="768096" y="5445252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Gemma가 RAG 근거 + 이미지 후보 + 외부 검색을 종합해 한국어 해설 생성. "근거가 부족하면 확인 불가라고 답하라"는 프롬프트로 근거 없는 답변을 줄이도록 구성</a:t>
            </a:r>
            <a:endParaRPr lang="ko-KR" altLang="en-US" sz="950" dirty="0"/>
          </a:p>
        </p:txBody>
      </p:sp>
      <p:sp>
        <p:nvSpPr>
          <p:cNvPr id="53" name="Shape 38"/>
          <p:cNvSpPr/>
          <p:nvPr/>
        </p:nvSpPr>
        <p:spPr>
          <a:xfrm>
            <a:off x="4307738" y="4750308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Shape 39"/>
          <p:cNvSpPr/>
          <p:nvPr/>
        </p:nvSpPr>
        <p:spPr>
          <a:xfrm>
            <a:off x="4527194" y="4969764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5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14062" y="5056632"/>
            <a:ext cx="173736" cy="173736"/>
          </a:xfrm>
          <a:prstGeom prst="rect">
            <a:avLst/>
          </a:prstGeom>
        </p:spPr>
      </p:pic>
      <p:sp>
        <p:nvSpPr>
          <p:cNvPr id="56" name="Text 40"/>
          <p:cNvSpPr txBox="1"/>
          <p:nvPr/>
        </p:nvSpPr>
        <p:spPr>
          <a:xfrm>
            <a:off x="5020970" y="4969764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 설계</a:t>
            </a:r>
            <a:endParaRPr lang="ko-KR" altLang="en-US" sz="1300" dirty="0"/>
          </a:p>
        </p:txBody>
      </p:sp>
      <p:sp>
        <p:nvSpPr>
          <p:cNvPr id="57" name="Text 41"/>
          <p:cNvSpPr txBox="1"/>
          <p:nvPr/>
        </p:nvSpPr>
        <p:spPr>
          <a:xfrm>
            <a:off x="4527194" y="5445252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 없으면 실행 안내 표시, LLM 실패 시 규칙 기반 fallback, 외부 검색은 API 실패 시 HTML 파싱으로 이중화</a:t>
            </a:r>
            <a:endParaRPr lang="ko-KR" altLang="en-US" sz="1000" dirty="0"/>
          </a:p>
        </p:txBody>
      </p:sp>
      <p:sp>
        <p:nvSpPr>
          <p:cNvPr id="58" name="Shape 42"/>
          <p:cNvSpPr/>
          <p:nvPr/>
        </p:nvSpPr>
        <p:spPr>
          <a:xfrm>
            <a:off x="8066837" y="4750308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9" name="Text 43"/>
          <p:cNvSpPr txBox="1"/>
          <p:nvPr/>
        </p:nvSpPr>
        <p:spPr>
          <a:xfrm>
            <a:off x="8304581" y="4933188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구축한 벡터 인덱스</a:t>
            </a:r>
            <a:endParaRPr lang="ko-KR" altLang="en-US" sz="1250" dirty="0"/>
          </a:p>
        </p:txBody>
      </p:sp>
      <p:graphicFrame>
        <p:nvGraphicFramePr>
          <p:cNvPr id="60" name="Chart 0" descr=""/>
          <p:cNvGraphicFramePr/>
          <p:nvPr/>
        </p:nvGraphicFramePr>
        <p:xfrm>
          <a:off x="8158277" y="5253228"/>
          <a:ext cx="3347618" cy="8732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61" name="Text 4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2" name="Text 4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22</a:t>
            </a:fld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91184" y="868680"/>
            <a:ext cx="392176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1184" y="868680"/>
            <a:ext cx="392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5개 미술 사조로 분류하는 딥러닝 모델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2577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46176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2026.06.25 ~ 07.03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496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279095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8414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12013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· 전처리 · 모델 학습 · 튜닝 · 프로토타입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59562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59562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250442" y="3595624"/>
            <a:ext cx="134048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250442" y="3595624"/>
            <a:ext cx="134048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 · Keras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2664079" y="3595624"/>
            <a:ext cx="79756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664079" y="3595624"/>
            <a:ext cx="797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ResNet50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534791" y="3595624"/>
            <a:ext cx="117398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34791" y="3595624"/>
            <a:ext cx="11739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EfficientNetB0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781931" y="3595624"/>
            <a:ext cx="64312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781931" y="3595624"/>
            <a:ext cx="6431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548640" y="3915664"/>
            <a:ext cx="97370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48640" y="3915664"/>
            <a:ext cx="9737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1595501" y="391566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595501" y="391566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endParaRPr lang="ko-KR" alt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7273567" y="548640"/>
            <a:ext cx="3496722" cy="3529584"/>
          </a:xfrm>
          <a:prstGeom prst="roundRect">
            <a:avLst>
              <a:gd name="adj" fmla="val 2615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419871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1" name="Shape 26"/>
          <p:cNvSpPr/>
          <p:nvPr/>
        </p:nvSpPr>
        <p:spPr>
          <a:xfrm>
            <a:off x="7566175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2" name="Shape 27"/>
          <p:cNvSpPr/>
          <p:nvPr/>
        </p:nvSpPr>
        <p:spPr>
          <a:xfrm>
            <a:off x="7712479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3" name="Shape 28"/>
          <p:cNvSpPr/>
          <p:nvPr/>
        </p:nvSpPr>
        <p:spPr>
          <a:xfrm>
            <a:off x="7913647" y="608076"/>
            <a:ext cx="1548384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913647" y="608076"/>
            <a:ext cx="15483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· artClassifier</a:t>
            </a:r>
            <a:endParaRPr lang="ko-KR" altLang="en-US" sz="80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5571" y="822960"/>
            <a:ext cx="3432714" cy="322326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7273567" y="4151376"/>
            <a:ext cx="3496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예측 화면 — 사조별 확률 출력</a:t>
            </a:r>
            <a:endParaRPr lang="ko-KR" alt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94.5%</a:t>
            </a:r>
            <a:endParaRPr lang="ko-KR" altLang="en-US" sz="2600" dirty="0"/>
          </a:p>
        </p:txBody>
      </p:sp>
      <p:sp>
        <p:nvSpPr>
          <p:cNvPr id="39" name="Text 33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정확도</a:t>
            </a:r>
            <a:endParaRPr lang="ko-KR" alt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0.945</a:t>
            </a:r>
            <a:endParaRPr lang="ko-KR" altLang="en-US" sz="2600" dirty="0"/>
          </a:p>
        </p:txBody>
      </p:sp>
      <p:sp>
        <p:nvSpPr>
          <p:cNvPr id="42" name="Text 36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weighted F1</a:t>
            </a:r>
            <a:endParaRPr lang="ko-KR" alt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ko-KR" altLang="en-US" sz="2600" dirty="0"/>
          </a:p>
        </p:txBody>
      </p:sp>
      <p:sp>
        <p:nvSpPr>
          <p:cNvPr id="45" name="Text 39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 실험</a:t>
            </a:r>
            <a:endParaRPr lang="ko-KR" altLang="en-US" sz="1050" dirty="0"/>
          </a:p>
        </p:txBody>
      </p:sp>
      <p:sp>
        <p:nvSpPr>
          <p:cNvPr id="46" name="Shape 40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84.8%</a:t>
            </a:r>
            <a:endParaRPr lang="ko-KR" altLang="en-US" sz="2600" dirty="0"/>
          </a:p>
        </p:txBody>
      </p:sp>
      <p:sp>
        <p:nvSpPr>
          <p:cNvPr id="48" name="Text 42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5-fold 평균</a:t>
            </a:r>
            <a:endParaRPr lang="ko-KR" altLang="en-US" sz="1050" dirty="0"/>
          </a:p>
        </p:txBody>
      </p:sp>
      <p:sp>
        <p:nvSpPr>
          <p:cNvPr id="49" name="Shape 43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50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1" name="Text 44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미술관 아카이브 분류, 작품 검색, 유사 작품 추천에 활용할 수 있는 모델입니다. 이후 Curatio에서 특징 추출기로 재사용했습니다.</a:t>
            </a:r>
            <a:endParaRPr lang="ko-KR" altLang="en-US" sz="1150" dirty="0"/>
          </a:p>
        </p:txBody>
      </p:sp>
      <p:sp>
        <p:nvSpPr>
          <p:cNvPr id="53" name="Text 4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23</a:t>
            </a:fld>
            <a:endParaRPr lang="ko-KR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 · 모델 비교 · 검증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WikiArt 5개 사조 1,000장을 224×224 RGB로 정규화하고 train 800 / validation 200으로 8:2 분할. TensorFlow Dataset으로 shuffle · batch · prefetch 파이프라인 구성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3834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3329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844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00218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증강 기법 선정 기준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33290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사조를 판단하는 단서(색감·질감·구도)를 훼손하지 않는 범위로 제한 — Flip, Rotation 0.06, Zoom 0.12, Translation 0.05, Contrast 0.12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79029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98485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641" y="178765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5413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3종 비교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98485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 CNN(scratch) · EfficientNetB0 · ResNet50을 MLflow로 총 8개 trial 기록. validation loss 최소화와 accuracy 최대화를 동시에 기준으로 사용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35024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검증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ResNet-50 선정 후 테스트 200장 기준 Accuracy 0.9450 / weighted F1 0.9446. 5-fold 교차검증으로 일반화 성능(평균 0.8480)을 별도 확인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13834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3329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446" y="4288536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00218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Case Analysis</a:t>
            </a:r>
            <a:endParaRPr lang="ko-KR" alt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33290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 Nouveau의 장식적 곡선이 Japanese Art·Western Medieval과 겹치고, Baroque의 어두운 톤이 Realism과 혼동되는 패턴을 확인. 클래스별 데이터 확충과 Grad-CAM 분석을 개선안으로 제시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79029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98485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641" y="4288536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5413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프로토타입</a:t>
            </a:r>
            <a:endParaRPr lang="ko-KR" alt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98485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이미지를 업로드하면 예측 사조와 클래스별 확률 그래프를 보여주는 앱으로 배포</a:t>
            </a:r>
            <a:endParaRPr lang="ko-KR" alt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24</a:t>
            </a:fld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결과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비교와 최종 검증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611880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64592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Validation Accuracy</a:t>
            </a:r>
            <a:endParaRPr lang="ko-KR" alt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965960"/>
          <a:ext cx="3383280" cy="16596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963924"/>
            <a:ext cx="3611880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4146804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5-fold 교차검증 Accuracy</a:t>
            </a:r>
            <a:endParaRPr lang="ko-KR" altLang="en-US" sz="12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40080" y="4466844"/>
          <a:ext cx="3383280" cy="16596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6"/>
          <p:cNvSpPr/>
          <p:nvPr/>
        </p:nvSpPr>
        <p:spPr>
          <a:xfrm>
            <a:off x="4379976" y="1463040"/>
            <a:ext cx="4343400" cy="4800600"/>
          </a:xfrm>
          <a:prstGeom prst="roundRect">
            <a:avLst>
              <a:gd name="adj" fmla="val 294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617720" y="164592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ResNet-50 혼동행렬 (테스트 200장)</a:t>
            </a:r>
            <a:endParaRPr lang="ko-KR" altLang="en-US" sz="12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62856" y="2066544"/>
          <a:ext cx="39776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603504"/>
                <a:gridCol w="603504"/>
                <a:gridCol w="603504"/>
                <a:gridCol w="603504"/>
                <a:gridCol w="603504"/>
              </a:tblGrid>
              <a:tr h="579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/ 예측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Art Nouveau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Baroque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Japanese Art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Realism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W. Medieval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Art Nouveau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45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Baroque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54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Japanese Art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362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Realism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38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5B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W. Medieval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69BA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4617720" y="566013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= 실제 사조, 가로 = 예측 사조 · 대각선 189 / 전체 200건 정답 (94.5%)</a:t>
            </a:r>
            <a:endParaRPr lang="ko-KR" alt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942832" y="1463040"/>
            <a:ext cx="2700223" cy="1466088"/>
          </a:xfrm>
          <a:prstGeom prst="roundRect">
            <a:avLst>
              <a:gd name="adj" fmla="val 8732"/>
            </a:avLst>
          </a:prstGeom>
          <a:solidFill>
            <a:srgbClr val="252338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180576" y="1645920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0.9450</a:t>
            </a:r>
            <a:endParaRPr lang="ko-KR" altLang="en-US" sz="2800" dirty="0"/>
          </a:p>
        </p:txBody>
      </p:sp>
      <p:sp>
        <p:nvSpPr>
          <p:cNvPr id="16" name="Text 11"/>
          <p:cNvSpPr txBox="1"/>
          <p:nvPr/>
        </p:nvSpPr>
        <p:spPr>
          <a:xfrm>
            <a:off x="9180576" y="2212848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Accuracy</a:t>
            </a:r>
            <a:endParaRPr lang="ko-KR" alt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9180576" y="2468880"/>
            <a:ext cx="2224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200장 기준</a:t>
            </a:r>
            <a:endParaRPr lang="ko-KR" alt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8942832" y="3130296"/>
            <a:ext cx="2700223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9180576" y="3313176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0.9446</a:t>
            </a:r>
            <a:endParaRPr lang="ko-KR" alt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9180576" y="3880104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weighted F1</a:t>
            </a:r>
            <a:endParaRPr lang="ko-KR" alt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9180576" y="4136136"/>
            <a:ext cx="2224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클래스별 표본 수 가중 평균</a:t>
            </a:r>
            <a:endParaRPr lang="ko-KR" alt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942832" y="4797552"/>
            <a:ext cx="2700223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9180576" y="4980432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0.8480</a:t>
            </a:r>
            <a:endParaRPr lang="ko-KR" altLang="en-US" sz="2800" dirty="0"/>
          </a:p>
        </p:txBody>
      </p:sp>
      <p:sp>
        <p:nvSpPr>
          <p:cNvPr id="24" name="Text 19"/>
          <p:cNvSpPr txBox="1"/>
          <p:nvPr/>
        </p:nvSpPr>
        <p:spPr>
          <a:xfrm>
            <a:off x="9180576" y="5547360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5-fold 평균</a:t>
            </a:r>
            <a:endParaRPr lang="ko-KR" alt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180576" y="5803392"/>
            <a:ext cx="2224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일반화 성능 별도 확인</a:t>
            </a:r>
            <a:endParaRPr lang="ko-KR" alt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7" name="Text 22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25</a:t>
            </a:fld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학습 곡선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학습 곡선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760720" cy="4471416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76" y="1591056"/>
            <a:ext cx="4924448" cy="42153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0760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trial별 train / validation Loss · Accuracy</a:t>
            </a:r>
            <a:endParaRPr lang="ko-KR" alt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547104" y="1463040"/>
            <a:ext cx="5095951" cy="4800600"/>
          </a:xfrm>
          <a:prstGeom prst="roundRect">
            <a:avLst>
              <a:gd name="adj" fmla="val 26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1719072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14032" y="167335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곡선</a:t>
            </a:r>
            <a:endParaRPr lang="ko-KR" alt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6803136" y="2194560"/>
            <a:ext cx="4583887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10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MLflow로 기록한 8개 trial 중 3개의 epoch별 train / validation Loss · Accuracy 곡선입니다.</a:t>
            </a:r>
            <a:endParaRPr lang="ko-KR" alt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12280" y="2858294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004304" y="2800858"/>
            <a:ext cx="4382719" cy="19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07_resnet_dense128_dropout03</a:t>
            </a:r>
            <a:endParaRPr lang="ko-KR" alt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004304" y="3025458"/>
            <a:ext cx="438271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ResNet50 · Dense 128 · Dropout 0.3. train과 validation 곡선이 비슷한 간격을 유지하며 함께 개선됨</a:t>
            </a:r>
            <a:endParaRPr lang="ko-KR" alt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812280" y="3634200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004304" y="3576765"/>
            <a:ext cx="4382719" cy="19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08_resnet_unfreeze20_dense256</a:t>
            </a:r>
            <a:endParaRPr lang="ko-KR" alt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004304" y="3801364"/>
            <a:ext cx="438271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ResNet50 · unfreeze 20 · Dense 256. 7 epoch 이후 train loss는 계속 줄지만 validation loss는 더 줄지 않음</a:t>
            </a:r>
            <a:endParaRPr lang="ko-KR" alt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812280" y="4410107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04304" y="4352671"/>
            <a:ext cx="4382719" cy="19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04_efficientnet_dense128</a:t>
            </a:r>
            <a:endParaRPr lang="ko-KR" alt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004304" y="4577271"/>
            <a:ext cx="438271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EfficientNetB0 · Dense 128. 5~6 epoch 이후 validation accuracy가 거의 오르지 않음</a:t>
            </a:r>
            <a:endParaRPr lang="ko-KR" alt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803136" y="5383149"/>
            <a:ext cx="4583887" cy="661035"/>
          </a:xfrm>
          <a:prstGeom prst="roundRect">
            <a:avLst>
              <a:gd name="adj" fmla="val 13833"/>
            </a:avLst>
          </a:prstGeom>
          <a:solidFill>
            <a:srgbClr val="222134"/>
          </a:solidFill>
          <a:ln w="9525">
            <a:solidFill>
              <a:srgbClr val="473E6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67728" y="5383149"/>
            <a:ext cx="4254703" cy="661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모델은 validation loss 최소화와 accuracy 최대화를 함께 기준으로 삼아 ResNet50으로 선정했습니다.</a:t>
            </a:r>
            <a:endParaRPr lang="ko-KR" alt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26</a:t>
            </a:fld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학습 데이터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데이터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760720" cy="4471416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626" y="1591056"/>
            <a:ext cx="4116748" cy="42153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0760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데이터 샘플</a:t>
            </a:r>
            <a:endParaRPr lang="ko-KR" alt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547104" y="1463040"/>
            <a:ext cx="5095951" cy="4800600"/>
          </a:xfrm>
          <a:prstGeom prst="roundRect">
            <a:avLst>
              <a:gd name="adj" fmla="val 26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1719072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14032" y="167335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</a:t>
            </a:r>
            <a:endParaRPr lang="ko-KR" alt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6803136" y="2194560"/>
            <a:ext cx="4583887" cy="71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30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WikiArt 5개 사조 이미지 1,000장을 224×224 RGB로 정규화하고 train 800 / validation 200으로 8:2 분할했습니다.</a:t>
            </a:r>
            <a:endParaRPr lang="ko-KR" alt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812280" y="3188494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004304" y="3113913"/>
            <a:ext cx="4382719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대상 사조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004304" y="3372803"/>
            <a:ext cx="4382719" cy="460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 Nouveau · Baroque · Japanese Art · Realism · Western Medieval</a:t>
            </a:r>
            <a:endParaRPr lang="ko-KR" alt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812280" y="4072350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004304" y="3997770"/>
            <a:ext cx="4382719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파이프라인</a:t>
            </a:r>
            <a:endParaRPr lang="ko-KR" alt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7004304" y="4256659"/>
            <a:ext cx="4382719" cy="460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 Dataset으로 shuffle · batch · prefetch 구성</a:t>
            </a:r>
            <a:endParaRPr lang="ko-KR" alt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12280" y="4956207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04304" y="4881626"/>
            <a:ext cx="4382719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증강</a:t>
            </a:r>
            <a:endParaRPr lang="ko-KR" alt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7004304" y="5140516"/>
            <a:ext cx="4382719" cy="690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Flip, Rotation 0.06, Zoom 0.12, Translation 0.05, Contrast 0.12. 사조를 판단하는 단서(색감 · 질감 · 구도)를 훼손하지 않는 범위로 제한</a:t>
            </a:r>
            <a:endParaRPr lang="ko-KR" alt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27</a:t>
            </a:fld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91184" y="868680"/>
            <a:ext cx="392176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1184" y="868680"/>
            <a:ext cx="392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게이머 사회적 고립도 예측</a:t>
            </a:r>
            <a:endParaRPr lang="ko-KR" alt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게이머의 행동·수면·정서 데이터로 사회적 고립 수준을 예측하는 회귀 모델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2026.06.22 ~ 06.25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· 전처리 · 모델 비교 · 평가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84454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84454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250442" y="3844544"/>
            <a:ext cx="61417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250442" y="3844544"/>
            <a:ext cx="6141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pandas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1937766" y="3844544"/>
            <a:ext cx="97370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937766" y="3844544"/>
            <a:ext cx="9737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2984627" y="3844544"/>
            <a:ext cx="72034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984627" y="3844544"/>
            <a:ext cx="720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3778123" y="3844544"/>
            <a:ext cx="86512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778123" y="3844544"/>
            <a:ext cx="8651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matplotlib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4716399" y="3844544"/>
            <a:ext cx="69138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16399" y="3844544"/>
            <a:ext cx="6913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Jupyter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3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638544" y="731520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R² (높을수록 좋음)</a:t>
            </a:r>
            <a:endParaRPr lang="ko-KR" altLang="en-US" sz="12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492240" y="1051560"/>
          <a:ext cx="501365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0" name="Shape 24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0.801</a:t>
            </a:r>
            <a:endParaRPr lang="ko-KR" altLang="en-US" sz="2600" dirty="0"/>
          </a:p>
        </p:txBody>
      </p:sp>
      <p:sp>
        <p:nvSpPr>
          <p:cNvPr id="32" name="Text 26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(최고)</a:t>
            </a:r>
            <a:endParaRPr lang="ko-KR" alt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0.961</a:t>
            </a:r>
            <a:endParaRPr lang="ko-KR" altLang="en-US" sz="2600" dirty="0"/>
          </a:p>
        </p:txBody>
      </p:sp>
      <p:sp>
        <p:nvSpPr>
          <p:cNvPr id="35" name="Text 29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RMSE</a:t>
            </a:r>
            <a:endParaRPr lang="ko-KR" alt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ko-KR" altLang="en-US" sz="2600" dirty="0"/>
          </a:p>
        </p:txBody>
      </p:sp>
      <p:sp>
        <p:nvSpPr>
          <p:cNvPr id="38" name="Text 32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피처</a:t>
            </a:r>
            <a:endParaRPr lang="ko-KR" alt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ko-KR" altLang="en-US" sz="2600" dirty="0"/>
          </a:p>
        </p:txBody>
      </p:sp>
      <p:sp>
        <p:nvSpPr>
          <p:cNvPr id="41" name="Text 35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모델</a:t>
            </a:r>
            <a:endParaRPr lang="ko-KR" alt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45" name="Text 38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이용 패턴 데이터로 사회적 고립 수준을 예측하는 회귀 모델입니다. 데이터 확인부터 모델 평가까지 개인 프로젝트로 진행했습니다.</a:t>
            </a:r>
            <a:endParaRPr lang="ko-KR" alt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7" name="Text 40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28</a:t>
            </a:fld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 고립도 예측 · 분석 과정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과정과 모델 비교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 설계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게임 시간, 수면 시간·질, 학업/업무 성과, 기분 변화, 금단 증상, 대면 사회활동 시간 등 26개 변수로 사회적 고립도(1~10)를 예측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941064" y="1463040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6052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567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27448" y="168249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160520" y="2231136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범주형(gender, headset_usage)과 연속형 변수를 분리해 인코딩·스케일링 경로를 다르게 구성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963924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35024" y="418338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모델 비교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768096" y="4732020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다중선형회귀 · Elastic Net · 결정트리 · 랜덤포레스트 · XGBoost를 동일 조건에서 학습하고 RMSE · MAE · R²로 비교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941064" y="3963924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16052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5676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727448" y="418338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최적 모델 비교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160520" y="4732020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기준으로는 다중선형회귀(0.8011), MAE 기준으로는 랜덤포레스트(0.7615)가 가장 높았습니다. 두 결과를 모두 기록하고 어떤 지표를 기준으로 선택했는지 명시했습니다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7351776" y="1463040"/>
            <a:ext cx="4291279" cy="4800600"/>
          </a:xfrm>
          <a:prstGeom prst="roundRect">
            <a:avLst>
              <a:gd name="adj" fmla="val 298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589520" y="1645920"/>
            <a:ext cx="3815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RMSE (낮을수록 좋음)</a:t>
            </a:r>
            <a:endParaRPr lang="ko-KR" altLang="en-US" sz="125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7443216" y="1965960"/>
          <a:ext cx="4062679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29</a:t>
            </a:fld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68680"/>
            <a:ext cx="726694" cy="310896"/>
          </a:xfrm>
          <a:prstGeom prst="roundRect">
            <a:avLst>
              <a:gd name="adj" fmla="val 50000"/>
            </a:avLst>
          </a:prstGeom>
          <a:solidFill>
            <a:srgbClr val="102B2C"/>
          </a:solidFill>
          <a:ln w="9525">
            <a:solidFill>
              <a:srgbClr val="1A65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68680"/>
            <a:ext cx="7266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ko-KR" alt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4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96012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 3건입니다. 서버 렌더링, 프론트/백엔드 분리, 프레임워크 기반 인증 순으로 구성이 바뀌었습니다.</a:t>
            </a:r>
            <a:endParaRPr lang="ko-KR" alt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0640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52577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2025.12 ~ 2026.06 · 프로젝트 3건</a:t>
            </a:r>
            <a:endParaRPr lang="ko-KR" alt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429000"/>
            <a:ext cx="3551834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38728"/>
            <a:ext cx="3332378" cy="1188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68096" y="4873752"/>
            <a:ext cx="809879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" y="4873752"/>
            <a:ext cx="8098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 · Final</a:t>
            </a:r>
            <a:endParaRPr lang="ko-KR" alt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1632839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632839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68096" y="516636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" y="5532120"/>
            <a:ext cx="311292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+ React 기반 가구 이커머스 반응형 웹</a:t>
            </a:r>
            <a:endParaRPr lang="ko-KR" alt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319930" y="3429000"/>
            <a:ext cx="3551834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658" y="3538728"/>
            <a:ext cx="3332378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539386" y="4873752"/>
            <a:ext cx="978281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539386" y="4873752"/>
            <a:ext cx="9782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· Advanced</a:t>
            </a:r>
            <a:endParaRPr lang="ko-KR" alt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572531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572531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539386" y="516636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39386" y="5532120"/>
            <a:ext cx="311292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지도와 공공 실거래 데이터를 결합한 부동산 매물 탐색 플랫폼</a:t>
            </a:r>
            <a:endParaRPr lang="ko-KR" alt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8091221" y="3429000"/>
            <a:ext cx="3551834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0949" y="3538728"/>
            <a:ext cx="3332378" cy="1188720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8310677" y="4873752"/>
            <a:ext cx="410464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8310677" y="4873752"/>
            <a:ext cx="410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8776005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776005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8310677" y="516636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</a:t>
            </a:r>
            <a:endParaRPr lang="ko-KR" alt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8310677" y="5532120"/>
            <a:ext cx="311292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반려견 보호자를 위한 정보 공유 커뮤니티 (JSP · Servlet MVC)</a:t>
            </a:r>
            <a:endParaRPr lang="ko-KR" alt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3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30</a:t>
            </a:fld>
            <a:endParaRPr lang="ko-KR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877189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87718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 · Final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498981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98981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+ React 기반 가구 이커머스 반응형 웹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2577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46176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2026.05 ~ 2026.06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496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279095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CMYK팀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8414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12013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 · 회원/인증 도메인 · 상품 검색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595624"/>
            <a:ext cx="50317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595624"/>
            <a:ext cx="5031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124966" y="3595624"/>
            <a:ext cx="93027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124966" y="3595624"/>
            <a:ext cx="93027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2128393" y="3595624"/>
            <a:ext cx="118122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128393" y="3595624"/>
            <a:ext cx="11812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382772" y="3595624"/>
            <a:ext cx="119811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82772" y="3595624"/>
            <a:ext cx="11981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654042" y="3595624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654042" y="3595624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5196586" y="3595624"/>
            <a:ext cx="65760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196586" y="3595624"/>
            <a:ext cx="65760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548640" y="3915664"/>
            <a:ext cx="56591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48640" y="3915664"/>
            <a:ext cx="565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1187704" y="3915664"/>
            <a:ext cx="1055751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187704" y="3915664"/>
            <a:ext cx="105575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Context</a:t>
            </a:r>
            <a:endParaRPr lang="ko-KR" alt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2316607" y="3915664"/>
            <a:ext cx="124396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2316607" y="3915664"/>
            <a:ext cx="124396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CSS3 · Bootstrap</a:t>
            </a:r>
            <a:endParaRPr lang="ko-KR" altLang="en-US" sz="950" dirty="0"/>
          </a:p>
        </p:txBody>
      </p:sp>
      <p:sp>
        <p:nvSpPr>
          <p:cNvPr id="33" name="Shape 28"/>
          <p:cNvSpPr/>
          <p:nvPr/>
        </p:nvSpPr>
        <p:spPr>
          <a:xfrm>
            <a:off x="3633724" y="3915664"/>
            <a:ext cx="126085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633724" y="3915664"/>
            <a:ext cx="1260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Cloud ADB</a:t>
            </a:r>
            <a:endParaRPr lang="ko-KR" alt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6" name="Shape 31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7" name="Shape 32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8" name="Shape 33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9" name="Shape 34"/>
          <p:cNvSpPr/>
          <p:nvPr/>
        </p:nvSpPr>
        <p:spPr>
          <a:xfrm>
            <a:off x="7040880" y="608076"/>
            <a:ext cx="1137920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040880" y="608076"/>
            <a:ext cx="1137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cmyk-furniture · /</a:t>
            </a:r>
            <a:endParaRPr lang="ko-KR" altLang="en-US" sz="800" dirty="0"/>
          </a:p>
        </p:txBody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ko-KR" altLang="en-US" sz="2600" dirty="0"/>
          </a:p>
        </p:txBody>
      </p:sp>
      <p:sp>
        <p:nvSpPr>
          <p:cNvPr id="44" name="Text 38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로그인</a:t>
            </a:r>
            <a:endParaRPr lang="ko-KR" altLang="en-US" sz="1050" dirty="0"/>
          </a:p>
        </p:txBody>
      </p:sp>
      <p:sp>
        <p:nvSpPr>
          <p:cNvPr id="45" name="Shape 39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ko-KR" altLang="en-US" sz="2600" dirty="0"/>
          </a:p>
        </p:txBody>
      </p:sp>
      <p:sp>
        <p:nvSpPr>
          <p:cNvPr id="47" name="Text 41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복합 검색 조건</a:t>
            </a:r>
            <a:endParaRPr lang="ko-KR" alt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ko-KR" altLang="en-US" sz="2600" dirty="0"/>
          </a:p>
        </p:txBody>
      </p:sp>
      <p:sp>
        <p:nvSpPr>
          <p:cNvPr id="50" name="Text 44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</a:t>
            </a:r>
            <a:endParaRPr lang="ko-KR" altLang="en-US" sz="1050" dirty="0"/>
          </a:p>
        </p:txBody>
      </p:sp>
      <p:sp>
        <p:nvSpPr>
          <p:cNvPr id="51" name="Shape 45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3" name="Text 46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54" name="Text 47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페이지, 회원 가입·로그인, 상품 검색 기능을 맡았습니다. 서비스에 처음 들어와 상품을 찾기까지 거치는 화면입니다.</a:t>
            </a:r>
            <a:endParaRPr lang="ko-KR" altLang="en-US" sz="1150" dirty="0"/>
          </a:p>
        </p:txBody>
      </p:sp>
      <p:sp>
        <p:nvSpPr>
          <p:cNvPr id="55" name="Text 4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6" name="Text 4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31</a:t>
            </a:fld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회원/인증 · 상품 검색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배너, 카테고리 네비게이션, 베스트셀러·신상품 섹션, 상품 리스트를 컴포넌트로 분리해 구현. 헤더·푸터 공통 레이아웃과 MainController · MainService로 상품 조회 API를 함께 담당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3834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3329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844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00218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검색 필터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33290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· 색상 · 가격대를 조합한 복합 조건 검색. 가격은 슬라이더로 최솟값/최댓값 범위를 지정. SearchContext로 헤더 검색창과 결과 화면의 조건을 공유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79029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98485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641" y="178765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5413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 소셜 로그인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98485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· 네이버 · 카카오 계정으로 가입. LoginSuccessHandler와 OAuth2DTO · SessionMember로 소셜 계정을 일반 회원과 동일한 권한 체계에 통합해, 구매·장바구니·북마크를 그대로 사용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35024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 인증·인가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SecurityConfig · MemberSecurityService · LoginFailHandler를 구성하고 MemberRole enum으로 권한을 분리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13834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3329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446" y="4288536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00218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 · 계정 찾기</a:t>
            </a:r>
            <a:endParaRPr lang="ko-KR" alt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33290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 · 아이디 찾기 · 비밀번호 재설정 화면과 각 결과 화면 구현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79029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98485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641" y="4288536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5413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북마크(찜)</a:t>
            </a:r>
            <a:endParaRPr lang="ko-KR" alt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98485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BookmarksService · Repository · DTO로 관심 상품 저장/조회 기능 구현</a:t>
            </a:r>
            <a:endParaRPr lang="ko-KR" alt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32</a:t>
            </a:fld>
            <a:endParaRPr lang="ko-KR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화면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담당한 검색 · 로그인 · 회원가입 · 아이디 찾기 화면입니다.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044" y="822960"/>
            <a:ext cx="2408834" cy="20894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3008376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필터 — 카테고리·색상·가격 슬라이더</a:t>
            </a:r>
            <a:endParaRPr lang="ko-KR" alt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459626" y="548640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05930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6752234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6898538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630" y="822960"/>
            <a:ext cx="2408834" cy="20894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59626" y="3008376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결과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9170213" y="548640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316517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9462821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9609125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2217" y="822960"/>
            <a:ext cx="2408834" cy="20894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170213" y="3008376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— OAuth2 소셜 로그인</a:t>
            </a:r>
            <a:endParaRPr lang="ko-KR" alt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3749040" y="3493008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89534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5" name="Shape 20"/>
          <p:cNvSpPr/>
          <p:nvPr/>
        </p:nvSpPr>
        <p:spPr>
          <a:xfrm>
            <a:off x="404164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6" name="Shape 21"/>
          <p:cNvSpPr/>
          <p:nvPr/>
        </p:nvSpPr>
        <p:spPr>
          <a:xfrm>
            <a:off x="418795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1044" y="3767328"/>
            <a:ext cx="2408834" cy="20894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49040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</a:t>
            </a:r>
            <a:endParaRPr lang="ko-KR" alt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6459626" y="3493008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6605930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1" name="Shape 25"/>
          <p:cNvSpPr/>
          <p:nvPr/>
        </p:nvSpPr>
        <p:spPr>
          <a:xfrm>
            <a:off x="6752234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2" name="Shape 26"/>
          <p:cNvSpPr/>
          <p:nvPr/>
        </p:nvSpPr>
        <p:spPr>
          <a:xfrm>
            <a:off x="6898538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1630" y="3767328"/>
            <a:ext cx="2408834" cy="208940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459626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 찾기</a:t>
            </a:r>
            <a:endParaRPr lang="ko-KR" alt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9170213" y="3493008"/>
            <a:ext cx="2472842" cy="2395728"/>
          </a:xfrm>
          <a:prstGeom prst="roundRect">
            <a:avLst>
              <a:gd name="adj" fmla="val 458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7957" y="3730752"/>
            <a:ext cx="219456" cy="21945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718853" y="3694176"/>
            <a:ext cx="17413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플로우</a:t>
            </a:r>
            <a:endParaRPr lang="ko-KR" alt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9426245" y="422452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9682277" y="4151376"/>
            <a:ext cx="17413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</a:t>
            </a:r>
            <a:endParaRPr lang="ko-KR" alt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9426245" y="4626864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9682277" y="4553712"/>
            <a:ext cx="17413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(일반 · 소셜 3종)</a:t>
            </a:r>
            <a:endParaRPr lang="ko-KR" altLang="en-US" sz="1100" dirty="0"/>
          </a:p>
        </p:txBody>
      </p:sp>
      <p:sp>
        <p:nvSpPr>
          <p:cNvPr id="42" name="Shape 34"/>
          <p:cNvSpPr/>
          <p:nvPr/>
        </p:nvSpPr>
        <p:spPr>
          <a:xfrm>
            <a:off x="9426245" y="5029200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9682277" y="4956048"/>
            <a:ext cx="17413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 찾기</a:t>
            </a:r>
            <a:endParaRPr lang="ko-KR" altLang="en-US" sz="1100" dirty="0"/>
          </a:p>
        </p:txBody>
      </p:sp>
      <p:sp>
        <p:nvSpPr>
          <p:cNvPr id="44" name="Shape 36"/>
          <p:cNvSpPr/>
          <p:nvPr/>
        </p:nvSpPr>
        <p:spPr>
          <a:xfrm>
            <a:off x="9426245" y="5431536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9682277" y="5358384"/>
            <a:ext cx="17413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재설정</a:t>
            </a:r>
            <a:endParaRPr lang="ko-KR" altLang="en-US" sz="1100" dirty="0"/>
          </a:p>
        </p:txBody>
      </p:sp>
      <p:sp>
        <p:nvSpPr>
          <p:cNvPr id="46" name="Text 3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33</a:t>
            </a:fld>
            <a:endParaRPr lang="ko-KR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65403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106540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· Advanced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687195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87195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지도와 공공 실거래 데이터를 결합한 부동산 매물 탐색 플랫폼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2026.03 ~ 2026.04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PPAP팀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회원 도메인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938784" cy="274320"/>
          </a:xfrm>
          <a:prstGeom prst="roundRect">
            <a:avLst>
              <a:gd name="adj" fmla="val 26667"/>
            </a:avLst>
          </a:prstGeom>
          <a:solidFill>
            <a:srgbClr val="16282E"/>
          </a:solidFill>
          <a:ln w="9525">
            <a:solidFill>
              <a:srgbClr val="1D615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57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github.com/Polalise/Advanced_projec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0" name="Shape 14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1" name="Shape 15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2" name="Shape 16"/>
          <p:cNvSpPr/>
          <p:nvPr/>
        </p:nvSpPr>
        <p:spPr>
          <a:xfrm>
            <a:off x="7040880" y="608076"/>
            <a:ext cx="1005840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040880" y="608076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ppap · 매물 상세</a:t>
            </a:r>
            <a:endParaRPr lang="ko-KR" altLang="en-US" sz="8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8640" y="5065776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</a:t>
            </a:r>
            <a:endParaRPr lang="ko-KR" altLang="en-US" sz="2600" dirty="0"/>
          </a:p>
        </p:txBody>
      </p:sp>
      <p:sp>
        <p:nvSpPr>
          <p:cNvPr id="27" name="Text 20"/>
          <p:cNvSpPr txBox="1"/>
          <p:nvPr/>
        </p:nvSpPr>
        <p:spPr>
          <a:xfrm>
            <a:off x="594360" y="554126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방식</a:t>
            </a:r>
            <a:endParaRPr lang="ko-KR" alt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3337560" y="5065776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30" name="Text 23"/>
          <p:cNvSpPr txBox="1"/>
          <p:nvPr/>
        </p:nvSpPr>
        <p:spPr>
          <a:xfrm>
            <a:off x="3383280" y="554126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유형</a:t>
            </a:r>
            <a:endParaRPr lang="ko-KR" alt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회원과 사업자 회원을 구분하는 인증 · 회원 구조를 맡았습니다. 매물 등록과 상담 관리 권한이 이 구분에 따라 나뉩니다.</a:t>
            </a:r>
            <a:endParaRPr lang="ko-KR" altLang="en-US" sz="115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34</a:t>
            </a:fld>
            <a:endParaRPr lang="ko-KR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회원 도메인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기반 로그인·인증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352544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authMiddleware로 토큰을 검증하고 보호 라우트를 분리. AuthContext로 프론트 인증 상태를 관리</a:t>
            </a:r>
            <a:endParaRPr lang="ko-KR" alt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3130296"/>
            <a:ext cx="5394960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3349752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3454908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71600" y="3331464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도메인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1371600" y="3697224"/>
            <a:ext cx="4352544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 · 정보 수정 · 탈퇴와 개별/전체 회원정보 조회 API 구현</a:t>
            </a:r>
            <a:endParaRPr lang="ko-KR" alt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797552"/>
            <a:ext cx="5394960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501700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5122164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499872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/ 사업자 회원 구분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5364480"/>
            <a:ext cx="4352544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유형에 따라 매물 등록·상담 관리 권한이 나뉘도록 회원 구분 기준을 설계</a:t>
            </a:r>
            <a:endParaRPr lang="ko-KR" alt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1463040"/>
            <a:ext cx="2602840" cy="36576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207396"/>
            <a:ext cx="2419960" cy="216888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17920" y="5175504"/>
            <a:ext cx="2602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로그인·회원가입 화면 설계</a:t>
            </a:r>
            <a:endParaRPr lang="ko-KR" alt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9040216" y="1463040"/>
            <a:ext cx="2602840" cy="36576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1656" y="2061442"/>
            <a:ext cx="2419960" cy="246079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040216" y="5175504"/>
            <a:ext cx="2602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구조도</a:t>
            </a:r>
            <a:endParaRPr lang="ko-KR" alt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217920" y="5522976"/>
            <a:ext cx="565912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217920" y="5522976"/>
            <a:ext cx="565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6856984" y="5522976"/>
            <a:ext cx="993013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856984" y="5522976"/>
            <a:ext cx="9930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Router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7923149" y="5522976"/>
            <a:ext cx="469392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923149" y="5522976"/>
            <a:ext cx="46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MUI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8465693" y="5522976"/>
            <a:ext cx="1135380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8465693" y="5522976"/>
            <a:ext cx="1135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Maps API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674225" y="5522976"/>
            <a:ext cx="737235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9674225" y="5522976"/>
            <a:ext cx="737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Chart.js</a:t>
            </a:r>
            <a:endParaRPr lang="ko-KR" alt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10484612" y="5522976"/>
            <a:ext cx="674497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0484612" y="5522976"/>
            <a:ext cx="6744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</a:t>
            </a:r>
            <a:endParaRPr lang="ko-KR" alt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6217920" y="5852160"/>
            <a:ext cx="691388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217920" y="5852160"/>
            <a:ext cx="6913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Express</a:t>
            </a:r>
            <a:endParaRPr lang="ko-KR" alt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6982460" y="5852160"/>
            <a:ext cx="720344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982460" y="5852160"/>
            <a:ext cx="720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MongoDB</a:t>
            </a:r>
            <a:endParaRPr lang="ko-KR" altLang="en-US" sz="950" dirty="0"/>
          </a:p>
        </p:txBody>
      </p:sp>
      <p:sp>
        <p:nvSpPr>
          <p:cNvPr id="41" name="Shape 34"/>
          <p:cNvSpPr/>
          <p:nvPr/>
        </p:nvSpPr>
        <p:spPr>
          <a:xfrm>
            <a:off x="7775956" y="5852160"/>
            <a:ext cx="469392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7775956" y="5852160"/>
            <a:ext cx="46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</a:t>
            </a:r>
            <a:endParaRPr lang="ko-KR" altLang="en-US" sz="950" dirty="0"/>
          </a:p>
        </p:txBody>
      </p:sp>
      <p:sp>
        <p:nvSpPr>
          <p:cNvPr id="43" name="Text 3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4" name="Text 3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35</a:t>
            </a:fld>
            <a:endParaRPr lang="ko-KR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30784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30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52576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2576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반려견 보호자를 위한 정보 공유 커뮤니티 (JSP · Servlet MVC)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2577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46176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2026.02 ~ 2026.03 (약 2주)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496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279095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무조건동의팀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8414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12013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인증 · 마이페이지 · 반려견 정보 관리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595624"/>
            <a:ext cx="50317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595624"/>
            <a:ext cx="5031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124966" y="3595624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124966" y="3595624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JSP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1667510" y="3595624"/>
            <a:ext cx="69138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667510" y="3595624"/>
            <a:ext cx="6913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Servlet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2432050" y="3595624"/>
            <a:ext cx="54660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432050" y="3595624"/>
            <a:ext cx="546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3051810" y="3595624"/>
            <a:ext cx="81927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051810" y="3595624"/>
            <a:ext cx="81927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DB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3944239" y="3595624"/>
            <a:ext cx="167106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944239" y="3595624"/>
            <a:ext cx="167106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· CSS · JavaScript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9" name="Shape 24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0" name="Shape 25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1" name="Shape 26"/>
          <p:cNvSpPr/>
          <p:nvPr/>
        </p:nvSpPr>
        <p:spPr>
          <a:xfrm>
            <a:off x="7040880" y="608076"/>
            <a:ext cx="1046480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040880" y="608076"/>
            <a:ext cx="1046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nextto · /mypage</a:t>
            </a:r>
            <a:endParaRPr lang="ko-KR" altLang="en-US" sz="80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ko-KR" altLang="en-US" sz="2600" dirty="0"/>
          </a:p>
        </p:txBody>
      </p:sp>
      <p:sp>
        <p:nvSpPr>
          <p:cNvPr id="36" name="Text 30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</a:t>
            </a:r>
            <a:endParaRPr lang="ko-KR" alt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MVC</a:t>
            </a:r>
            <a:endParaRPr lang="ko-KR" altLang="en-US" sz="2600" dirty="0"/>
          </a:p>
        </p:txBody>
      </p:sp>
      <p:sp>
        <p:nvSpPr>
          <p:cNvPr id="39" name="Text 33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</a:t>
            </a:r>
            <a:endParaRPr lang="ko-KR" alt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42" name="Text 36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종류</a:t>
            </a:r>
            <a:endParaRPr lang="ko-KR" alt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법률·의학·뉴스·상식 게시판과 자유게시판은 로그인 후 사용합니다. 회원 인증과 개인·반려견 정보 관리 기능을 맡았습니다.</a:t>
            </a:r>
            <a:endParaRPr lang="ko-KR" altLang="en-US" sz="1150" dirty="0"/>
          </a:p>
        </p:txBody>
      </p:sp>
      <p:sp>
        <p:nvSpPr>
          <p:cNvPr id="47" name="Text 4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8" name="Text 4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36</a:t>
            </a:fld>
            <a:endParaRPr lang="ko-KR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인증 · 마이페이지 · 반려견 정보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회원가입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기반 로그인과 입력값 검증을 포함한 가입 플로우. 일반 사용자 계정과 관리자 계정을 구분해 처리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3834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3329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844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00218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33290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사진·닉네임·아이디를 묶은 사이드바와 연락처 영역, 등록한 반려견 정보 카드를 함께 배치. 홈 &gt; 마이페이지 &gt; 내 정보 관리 순의 브레드크럼으로 현재 위치를 표시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79029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98485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641" y="178765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5413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 관리 · 수정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98485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화면과 수정 화면을 분리해 구현. 수정 화면에는 비밀번호 재확인 입력과 프로필 사진 교체(파일 업로드), 생년월일 선택기를 배치하고 계정 종류는 읽기 전용으로 고정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35024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반려견 정보 등록 · 수정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반려견 1마리의 이름·견종·나이·몸무게·성별·중성화 여부·건강 상태·사진을 등록하고 수정. 마이페이지에서는 태그 형태로 요약 표시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13834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3329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446" y="4288536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00218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탈퇴</a:t>
            </a:r>
            <a:endParaRPr lang="ko-KR" alt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33290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화면에서 탈퇴를 처리해 계정과 관련 정보를 정리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79029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98485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641" y="4288536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5413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DTO · DAO 패턴</a:t>
            </a:r>
            <a:endParaRPr lang="ko-KR" alt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98485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2(MVC) 구조에서 데이터 접근 계층을 분리하는 기본 패턴을 적용</a:t>
            </a:r>
            <a:endParaRPr lang="ko-KR" alt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37</a:t>
            </a:fld>
            <a:endParaRPr lang="ko-KR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화면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로그인부터 내 정보 수정까지, 조회 화면과 수정 화면을 나눠 구현했습니다.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044" y="822960"/>
            <a:ext cx="3764128" cy="20894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ko-KR" alt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1492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96122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810752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825383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6924" y="822960"/>
            <a:ext cx="3764128" cy="20894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81492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4904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89534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404164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418795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1044" y="3767328"/>
            <a:ext cx="3764128" cy="20894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4904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 관리 — 회원정보 조회</a:t>
            </a:r>
            <a:endParaRPr lang="ko-KR" alt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81492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96122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5" name="Shape 20"/>
          <p:cNvSpPr/>
          <p:nvPr/>
        </p:nvSpPr>
        <p:spPr>
          <a:xfrm>
            <a:off x="810752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6" name="Shape 21"/>
          <p:cNvSpPr/>
          <p:nvPr/>
        </p:nvSpPr>
        <p:spPr>
          <a:xfrm>
            <a:off x="825383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924" y="3767328"/>
            <a:ext cx="3764128" cy="20894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81492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 수정 — 비밀번호 재확인 · 사진 교체</a:t>
            </a:r>
            <a:endParaRPr lang="ko-KR" alt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38</a:t>
            </a:fld>
            <a:endParaRPr lang="ko-KR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68680"/>
            <a:ext cx="726694" cy="310896"/>
          </a:xfrm>
          <a:prstGeom prst="roundRect">
            <a:avLst>
              <a:gd name="adj" fmla="val 50000"/>
            </a:avLst>
          </a:prstGeom>
          <a:solidFill>
            <a:srgbClr val="312813"/>
          </a:solidFill>
          <a:ln w="9525">
            <a:solidFill>
              <a:srgbClr val="765C1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68680"/>
            <a:ext cx="7266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ko-KR" alt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4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96012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과정을 수강하기 전에 진행한 브랜드 웹사이트 리뉴얼 2건입니다. SWOT·페르소나 분석으로 문제를 정리하고 정보 구조(IA)를 다시 구성한 뒤, HTML·CSS·jQuery로 퍼블리싱했습니다.</a:t>
            </a:r>
            <a:endParaRPr lang="ko-KR" alt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29560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77469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2025.06 ~ 2025.08 · 개인 프로젝트 2건</a:t>
            </a:r>
            <a:endParaRPr lang="ko-KR" alt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429000"/>
            <a:ext cx="5437480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38728"/>
            <a:ext cx="5218024" cy="1188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68096" y="4873752"/>
            <a:ext cx="719201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" y="4873752"/>
            <a:ext cx="7192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02</a:t>
            </a:r>
            <a:endParaRPr lang="ko-KR" alt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1542161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542161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68096" y="5166360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" y="5532120"/>
            <a:ext cx="4998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아이덴티티를 반영해 정보 구조와 인터랙션을 개편한 리뉴얼</a:t>
            </a:r>
            <a:endParaRPr lang="ko-KR" alt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205576" y="3429000"/>
            <a:ext cx="5437480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304" y="3538728"/>
            <a:ext cx="5218024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425032" y="4873752"/>
            <a:ext cx="719201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25032" y="4873752"/>
            <a:ext cx="7192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01</a:t>
            </a:r>
            <a:endParaRPr lang="ko-KR" alt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7199097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199097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6425032" y="5166360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</a:t>
            </a:r>
            <a:endParaRPr lang="ko-KR" alt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6425032" y="5532120"/>
            <a:ext cx="4998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정보 구조와 사용성 문제를 개선한 인테리어 플랫폼 UI/UX 리뉴얼</a:t>
            </a:r>
            <a:endParaRPr lang="ko-KR" alt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39</a:t>
            </a:fld>
            <a:endParaRPr lang="ko-KR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775843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77584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02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397635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97635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아이덴티티를 반영해 정보 구조와 인터랙션을 개편한 리뉴얼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2025.07.14 ~ 2025.08.04 (약 3주)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디자인 · 퍼블리싱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14417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1075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plainaube.dothome.co.kr/hollys/index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실제 사이트 보기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2081784" y="3789680"/>
            <a:ext cx="14036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1512" y="385368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392680" y="3789680"/>
            <a:ext cx="103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https://soeun-yu.github.io/assets/webdesign/HTML%20%EA%B8%B0%EB%B0%98_%ED%95%A0%EB%A6%AC%EC%8A%A4%EC%BB%A4%ED%94%BC%20%ED%99%88%ED%8E%98%EC%9D%B4%EC%A7%80%20%EB%A6%AC%EB%89%B4%EC%96%BC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PDF 포트폴리오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548640" y="4210304"/>
            <a:ext cx="89408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548640" y="4210304"/>
            <a:ext cx="894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PowerPoint</a:t>
            </a:r>
            <a:endParaRPr lang="ko-KR" alt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1515872" y="421030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515872" y="421030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Photoshop</a:t>
            </a:r>
            <a:endParaRPr lang="ko-KR" alt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2405888" y="4210304"/>
            <a:ext cx="94234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405888" y="4210304"/>
            <a:ext cx="9423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Illustrator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3421380" y="4210304"/>
            <a:ext cx="62382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3421380" y="4210304"/>
            <a:ext cx="6238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HTML5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4118356" y="4210304"/>
            <a:ext cx="54660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4118356" y="4210304"/>
            <a:ext cx="546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CSS3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738116" y="421030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738116" y="421030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jQuery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5" name="Shape 28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6" name="Shape 29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7" name="Shape 30"/>
          <p:cNvSpPr/>
          <p:nvPr/>
        </p:nvSpPr>
        <p:spPr>
          <a:xfrm>
            <a:off x="7040880" y="608076"/>
            <a:ext cx="1060704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7040880" y="60807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hollys · renewal</a:t>
            </a:r>
            <a:endParaRPr lang="ko-KR" altLang="en-US" sz="800" dirty="0"/>
          </a:p>
        </p:txBody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ko-KR" altLang="en-US" sz="2600" dirty="0"/>
          </a:p>
        </p:txBody>
      </p:sp>
      <p:sp>
        <p:nvSpPr>
          <p:cNvPr id="42" name="Text 34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화면</a:t>
            </a:r>
            <a:endParaRPr lang="ko-KR" altLang="en-US" sz="1050" dirty="0"/>
          </a:p>
        </p:txBody>
      </p:sp>
      <p:sp>
        <p:nvSpPr>
          <p:cNvPr id="43" name="Shape 35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SWOT</a:t>
            </a:r>
            <a:endParaRPr lang="ko-KR" altLang="en-US" sz="2600" dirty="0"/>
          </a:p>
        </p:txBody>
      </p:sp>
      <p:sp>
        <p:nvSpPr>
          <p:cNvPr id="45" name="Text 37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분석</a:t>
            </a:r>
            <a:endParaRPr lang="ko-KR" altLang="en-US" sz="1050" dirty="0"/>
          </a:p>
        </p:txBody>
      </p:sp>
      <p:sp>
        <p:nvSpPr>
          <p:cNvPr id="46" name="Shape 38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3주</a:t>
            </a:r>
            <a:endParaRPr lang="ko-KR" altLang="en-US" sz="2600" dirty="0"/>
          </a:p>
        </p:txBody>
      </p:sp>
      <p:sp>
        <p:nvSpPr>
          <p:cNvPr id="48" name="Text 40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기간</a:t>
            </a:r>
            <a:endParaRPr lang="ko-KR" altLang="en-US" sz="1050" dirty="0"/>
          </a:p>
        </p:txBody>
      </p:sp>
      <p:sp>
        <p:nvSpPr>
          <p:cNvPr id="49" name="Shape 41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B2927"/>
          </a:solidFill>
          <a:ln w="9525">
            <a:solidFill>
              <a:srgbClr val="5D4D26"/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</a:t>
            </a:r>
            <a:endParaRPr lang="ko-KR" altLang="en-US" sz="1150" dirty="0"/>
          </a:p>
        </p:txBody>
      </p:sp>
      <p:sp>
        <p:nvSpPr>
          <p:cNvPr id="52" name="Text 43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브랜드 ‘할리스’의 홈페이지를 SWOT·페르소나 기법으로 분석했습니다. 메뉴와 매장 정보가 브랜드 색 없이 나열되어 있다는 점을 주요 문제로 정리했고, 브랜드 색과 서체를 화면 전반에 적용하면서 정보 구조와 동적 요소를 함께 수정했습니다.</a:t>
            </a:r>
            <a:endParaRPr lang="ko-KR" altLang="en-US" sz="1150" dirty="0"/>
          </a:p>
        </p:txBody>
      </p:sp>
      <p:sp>
        <p:nvSpPr>
          <p:cNvPr id="53" name="Text 4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40</a:t>
            </a:fld>
            <a:endParaRPr lang="ko-KR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 · 개선 포인트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· 정보 구조 · 인터랙션 개선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 기반 UI/UX 개편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레드와 딥브라운을 축으로 색·타이포·여백 규칙을 다시 정했습니다. 전용 서체(카페24 단정해, 에스코어드림)를 적용해 화면 전체의 인상을 통일했습니다.</a:t>
            </a:r>
            <a:endParaRPr lang="ko-KR" alt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6432" y="1463040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15888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044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19392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구조(IA) 재설계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019392" y="2029968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메뉴·매장·브랜드로 흩어져 있던 항목을 사용자가 찾는 순서대로 다시 묶었습니다. 메뉴는 커피·음료·푸드·굿즈로 나누고, 매장은 지도와 목록을 한 화면에서 오갈 수 있게 했습니다.</a:t>
            </a:r>
            <a:endParaRPr lang="ko-KR" alt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963924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4165092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인터랙션 적용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4530852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슬라이드, 메뉴 카테고리 탭, 매장찾기 지도 마커를 jQuery로 구현했습니다. 클릭 대상과 현재 상태가 항상 눈에 보이도록 활성 표시를 붙였습니다.</a:t>
            </a:r>
            <a:endParaRPr lang="ko-KR" alt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96432" y="3963924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15888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1044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19392" y="4165092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맞춤형 기능 추가</a:t>
            </a:r>
            <a:endParaRPr lang="ko-KR" alt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019392" y="4530852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상세 조건(드라이브스루·주차·24시간 등)으로 걸러 볼 수 있는 필터와, 관심 매장을 상단에 고정하는 흐름을 기획했습니다.</a:t>
            </a:r>
            <a:endParaRPr lang="ko-KR" alt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41</a:t>
            </a:fld>
            <a:endParaRPr lang="ko-KR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0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비주얼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레드와 딥브라운을 축으로 메인 · 메뉴 · 매장찾기 3개 화면을 디자인하고 퍼블리싱했습니다.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2472842" cy="5340096"/>
          </a:xfrm>
          <a:prstGeom prst="roundRect">
            <a:avLst>
              <a:gd name="adj" fmla="val 3698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044" y="822960"/>
            <a:ext cx="2408834" cy="50337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— 시즌 음료 슬라이드</a:t>
            </a:r>
            <a:endParaRPr lang="ko-KR" alt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59626" y="548640"/>
            <a:ext cx="2472842" cy="5340096"/>
          </a:xfrm>
          <a:prstGeom prst="roundRect">
            <a:avLst>
              <a:gd name="adj" fmla="val 3698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05930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6752234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6898538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630" y="822960"/>
            <a:ext cx="2408834" cy="503377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59626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· 커피 — 카테고리 탭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9170213" y="548640"/>
            <a:ext cx="2472842" cy="5340096"/>
          </a:xfrm>
          <a:prstGeom prst="roundRect">
            <a:avLst>
              <a:gd name="adj" fmla="val 3698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316517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9462821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9609125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2217" y="822960"/>
            <a:ext cx="2408834" cy="503377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170213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매장찾기 — 지도 마커와 목록</a:t>
            </a:r>
            <a:endParaRPr lang="ko-KR" alt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42</a:t>
            </a:fld>
            <a:endParaRPr lang="ko-KR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775843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77584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01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397635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97635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정보 구조와 사용성 문제를 개선한 인테리어 플랫폼 UI/UX 리뉴얼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2025.06.02 ~ 2025.06.16 (약 2주)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디자인 · 퍼블리싱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14417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1075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plainaube.dothome.co.kr/ohouse/index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실제 사이트 보기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2081784" y="3789680"/>
            <a:ext cx="14036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1512" y="385368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392680" y="3789680"/>
            <a:ext cx="103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https://soeun-yu.github.io/assets/webdesign/HTML%20%EA%B8%B0%EB%B0%98_%EC%98%A4%EB%8A%98%EC%9D%98%EC%A7%91%20%ED%99%88%ED%8E%98%EC%9D%B4%EC%A7%80%20%EB%A6%AC%EB%89%B4%EC%96%BC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PDF 포트폴리오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548640" y="4210304"/>
            <a:ext cx="56591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548640" y="4210304"/>
            <a:ext cx="565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</a:t>
            </a:r>
            <a:endParaRPr lang="ko-KR" alt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1187704" y="421030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87704" y="421030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Photoshop</a:t>
            </a:r>
            <a:endParaRPr lang="ko-KR" alt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2077720" y="4210304"/>
            <a:ext cx="94234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077720" y="4210304"/>
            <a:ext cx="9423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Illustrator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3093212" y="4210304"/>
            <a:ext cx="62382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3093212" y="4210304"/>
            <a:ext cx="6238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HTML5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3790188" y="4210304"/>
            <a:ext cx="54660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3790188" y="4210304"/>
            <a:ext cx="546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CSS3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409948" y="421030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409948" y="421030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jQuery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5" name="Shape 28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6" name="Shape 29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7" name="Shape 30"/>
          <p:cNvSpPr/>
          <p:nvPr/>
        </p:nvSpPr>
        <p:spPr>
          <a:xfrm>
            <a:off x="7040880" y="608076"/>
            <a:ext cx="1060704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7040880" y="60807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ohouse · renewal</a:t>
            </a:r>
            <a:endParaRPr lang="ko-KR" altLang="en-US" sz="800" dirty="0"/>
          </a:p>
        </p:txBody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42" name="Text 34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화면</a:t>
            </a:r>
            <a:endParaRPr lang="ko-KR" altLang="en-US" sz="1050" dirty="0"/>
          </a:p>
        </p:txBody>
      </p:sp>
      <p:sp>
        <p:nvSpPr>
          <p:cNvPr id="43" name="Shape 35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</a:t>
            </a:r>
            <a:endParaRPr lang="ko-KR" altLang="en-US" sz="2600" dirty="0"/>
          </a:p>
        </p:txBody>
      </p:sp>
      <p:sp>
        <p:nvSpPr>
          <p:cNvPr id="45" name="Text 37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정보구조 재설계</a:t>
            </a:r>
            <a:endParaRPr lang="ko-KR" altLang="en-US" sz="1050" dirty="0"/>
          </a:p>
        </p:txBody>
      </p:sp>
      <p:sp>
        <p:nvSpPr>
          <p:cNvPr id="46" name="Shape 38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2주</a:t>
            </a:r>
            <a:endParaRPr lang="ko-KR" altLang="en-US" sz="2600" dirty="0"/>
          </a:p>
        </p:txBody>
      </p:sp>
      <p:sp>
        <p:nvSpPr>
          <p:cNvPr id="48" name="Text 40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기간</a:t>
            </a:r>
            <a:endParaRPr lang="ko-KR" altLang="en-US" sz="1050" dirty="0"/>
          </a:p>
        </p:txBody>
      </p:sp>
      <p:sp>
        <p:nvSpPr>
          <p:cNvPr id="49" name="Shape 41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B2927"/>
          </a:solidFill>
          <a:ln w="9525">
            <a:solidFill>
              <a:srgbClr val="5D4D26"/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</a:t>
            </a:r>
            <a:endParaRPr lang="ko-KR" altLang="en-US" sz="1150" dirty="0"/>
          </a:p>
        </p:txBody>
      </p:sp>
      <p:sp>
        <p:nvSpPr>
          <p:cNvPr id="52" name="Text 43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인테리어 플랫폼 ‘오늘의집’은 커뮤니티·쇼핑·전문가 서비스가 한 화면에 모여 있어, 처음 방문한 사용자가 무엇부터 봐야 할지 알기 어렵다고 보았습니다. SWOT으로 강점과 약점을 정리하고 페르소나의 사용 흐름을 따라가 본 뒤, 메인 화면의 정보 우선순위를 다시 정했습니다.</a:t>
            </a:r>
            <a:endParaRPr lang="ko-KR" altLang="en-US" sz="1050" dirty="0"/>
          </a:p>
        </p:txBody>
      </p:sp>
      <p:sp>
        <p:nvSpPr>
          <p:cNvPr id="53" name="Text 4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43</a:t>
            </a:fld>
            <a:endParaRPr lang="ko-KR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· 개선 포인트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게시판 · 상세페이지 개선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989320" cy="1490472"/>
          </a:xfrm>
          <a:prstGeom prst="roundRect">
            <a:avLst>
              <a:gd name="adj" fmla="val 858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레이아웃 최적화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화면에서 무엇을 먼저 보여줄지 기준을 정하고 블록 순서를 재배치했습니다. 통합검색에는 실시간 검색어를 접었다 펼치는 인터랙션을 붙여, 평소에는 공간을 차지하지 않도록 했습니다.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3118104"/>
            <a:ext cx="5989320" cy="1490472"/>
          </a:xfrm>
          <a:prstGeom prst="roundRect">
            <a:avLst>
              <a:gd name="adj" fmla="val 858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333756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3442716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71600" y="3319272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커뮤니티(집들이) 게시판 개선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1371600" y="3685032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사진이 주인공인 게시판이라 카드 비율과 여백을 먼저 맞추고, 정렬·필터 조건을 상단에 모았습니다. 페이지 이동은 번호 · 이전/다음 · 직접 입력 세 가지를 함께 제공합니다.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4773168"/>
            <a:ext cx="5989320" cy="1490472"/>
          </a:xfrm>
          <a:prstGeom prst="roundRect">
            <a:avLst>
              <a:gd name="adj" fmla="val 858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499262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5097780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4974336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브랜드관 상품 상세페이지 기획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5340096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상품을 소개하는 상세 페이지의 구성을 새로 짰습니다. 상품 정보와 후기, 연관 상품이 이어지는 순서를 정하고 각 구간의 역할을 나눴습니다.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812280" y="1463040"/>
            <a:ext cx="2305660" cy="4288536"/>
          </a:xfrm>
          <a:prstGeom prst="roundRect">
            <a:avLst>
              <a:gd name="adj" fmla="val 396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58584" y="15590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1" name="Shape 16"/>
          <p:cNvSpPr/>
          <p:nvPr/>
        </p:nvSpPr>
        <p:spPr>
          <a:xfrm>
            <a:off x="7104888" y="15590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2" name="Shape 17"/>
          <p:cNvSpPr/>
          <p:nvPr/>
        </p:nvSpPr>
        <p:spPr>
          <a:xfrm>
            <a:off x="7251192" y="15590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4284" y="1737360"/>
            <a:ext cx="2241652" cy="398221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812280" y="5824728"/>
            <a:ext cx="2305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— 통합검색·실시간 검색어부터 커뮤니티·쇼핑 블록까지</a:t>
            </a:r>
            <a:endParaRPr lang="ko-KR" alt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9337396" y="1463040"/>
            <a:ext cx="2305660" cy="4288536"/>
          </a:xfrm>
          <a:prstGeom prst="roundRect">
            <a:avLst>
              <a:gd name="adj" fmla="val 396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483700" y="15590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7" name="Shape 21"/>
          <p:cNvSpPr/>
          <p:nvPr/>
        </p:nvSpPr>
        <p:spPr>
          <a:xfrm>
            <a:off x="9630004" y="15590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8" name="Shape 22"/>
          <p:cNvSpPr/>
          <p:nvPr/>
        </p:nvSpPr>
        <p:spPr>
          <a:xfrm>
            <a:off x="9776308" y="15590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9400" y="1737360"/>
            <a:ext cx="2241652" cy="398221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337396" y="5824728"/>
            <a:ext cx="2305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집들이 게시판 — 카드형 목록과 정렬·필터, 페이지 네비게이션</a:t>
            </a:r>
            <a:endParaRPr lang="ko-KR" alt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44</a:t>
            </a:fld>
            <a:endParaRPr lang="ko-KR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 WORK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방식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프로젝트를 진행하면서 반복해서 적용한 방식입니다.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539642" cy="3566160"/>
          </a:xfrm>
          <a:prstGeom prst="roundRect">
            <a:avLst>
              <a:gd name="adj" fmla="val 465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91002" y="244144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2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59536" y="2569464"/>
            <a:ext cx="585216" cy="585216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7157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59536" y="3392424"/>
            <a:ext cx="29178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확인 후 수정</a:t>
            </a:r>
            <a:endParaRPr lang="ko-KR" alt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941064"/>
            <a:ext cx="291785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문제는 쿼리 왕복 횟수로, 모델 문제는 지표별 수치로 원인을 먼저 확인한 뒤 코드를 수정했습니다.</a:t>
            </a:r>
            <a:endParaRPr lang="ko-KR" alt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26026" y="2240280"/>
            <a:ext cx="3539642" cy="3566160"/>
          </a:xfrm>
          <a:prstGeom prst="roundRect">
            <a:avLst>
              <a:gd name="adj" fmla="val 465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8389" y="244144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2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3200" dirty="0"/>
          </a:p>
        </p:txBody>
      </p:sp>
      <p:sp>
        <p:nvSpPr>
          <p:cNvPr id="13" name="Shape 10"/>
          <p:cNvSpPr/>
          <p:nvPr/>
        </p:nvSpPr>
        <p:spPr>
          <a:xfrm>
            <a:off x="4636922" y="2569464"/>
            <a:ext cx="585216" cy="585216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715768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36922" y="3392424"/>
            <a:ext cx="29178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상황 처리</a:t>
            </a:r>
            <a:endParaRPr lang="ko-KR" alt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636922" y="3941064"/>
            <a:ext cx="291785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장애, 응답 지연, 화면 전환 중 도착한 이전 응답을 각각 다르게 처리했고, 실패했을 때 화면에 표시할 내용도 정했습니다.</a:t>
            </a:r>
            <a:endParaRPr lang="ko-KR" alt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103413" y="2240280"/>
            <a:ext cx="3539642" cy="3566160"/>
          </a:xfrm>
          <a:prstGeom prst="roundRect">
            <a:avLst>
              <a:gd name="adj" fmla="val 465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545775" y="244144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2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3200" dirty="0"/>
          </a:p>
        </p:txBody>
      </p:sp>
      <p:sp>
        <p:nvSpPr>
          <p:cNvPr id="19" name="Shape 15"/>
          <p:cNvSpPr/>
          <p:nvPr/>
        </p:nvSpPr>
        <p:spPr>
          <a:xfrm>
            <a:off x="8414309" y="2569464"/>
            <a:ext cx="585216" cy="585216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0613" y="2715768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414309" y="3392424"/>
            <a:ext cx="29178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이유 기록</a:t>
            </a:r>
            <a:endParaRPr lang="ko-KR" alt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414309" y="3941064"/>
            <a:ext cx="291785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이유를 코드 주석과 개발 보고서에 기록해 팀에 공유했습니다. 같은 내용을 다시 조사하지 않기 위해서였습니다.</a:t>
            </a:r>
            <a:endParaRPr lang="ko-KR" alt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 Work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45</a:t>
            </a:fld>
            <a:endParaRPr lang="ko-KR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4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ko-KR" alt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</a:t>
            </a:r>
            <a:pPr algn="ctr"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AI 서비스 풀스택 개발자</a:t>
            </a:r>
            <a:endParaRPr lang="ko-KR" alt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80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모델 학습, API 서빙, 화면 구현을 한 프로젝트 안에서 함께 다뤄 왔습니다</a:t>
            </a:r>
            <a:endParaRPr lang="ko-KR" alt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903445" y="3977640"/>
            <a:ext cx="2384806" cy="457200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4613" y="409651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15509" y="3977640"/>
            <a:ext cx="1817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u="sng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github.com/soeun-yu</a:t>
            </a:r>
            <a:endParaRPr lang="ko-KR" alt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967928" y="5138928"/>
            <a:ext cx="118872" cy="118872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187384" y="5029200"/>
            <a:ext cx="14852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818903" y="5138928"/>
            <a:ext cx="118872" cy="118872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038359" y="5029200"/>
            <a:ext cx="250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87871" y="5138928"/>
            <a:ext cx="118872" cy="11887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907327" y="5029200"/>
            <a:ext cx="23682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421889" y="50292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9건</a:t>
            </a:r>
            <a:endParaRPr lang="ko-KR" alt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유소은 · AI 서비스 풀스택 개발자 포트폴리오</dc:title>
  <dc:subject>PptxGenJS Presentation</dc:subject>
  <dc:creator>유소은</dc:creator>
  <cp:lastModifiedBy>유소은</cp:lastModifiedBy>
  <cp:revision>1</cp:revision>
  <dcterms:created xsi:type="dcterms:W3CDTF">2026-10-06T08:40:07Z</dcterms:created>
  <dcterms:modified xsi:type="dcterms:W3CDTF">2026-10-06T08:40:07Z</dcterms:modified>
</cp:coreProperties>
</file>